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02920"/>
            <a:ext cx="4663440" cy="5212080"/>
          </a:xfrm>
          <a:prstGeom prst="roundRect">
            <a:avLst>
              <a:gd name="adj" fmla="val 6863"/>
            </a:avLst>
          </a:prstGeom>
          <a:solidFill>
            <a:srgbClr val="0E3F8C"/>
          </a:solidFill>
          <a:ln w="12700">
            <a:solidFill>
              <a:srgbClr val="0E3F8C"/>
            </a:solidFill>
            <a:prstDash val="solid"/>
          </a:ln>
        </p:spPr>
      </p:sp>
      <p:pic>
        <p:nvPicPr>
          <p:cNvPr id="3" name="Image 0" descr="/tmp/claude-0/-home-user-norte-sul-portfolio/b828416d-028b-56b8-943d-a9bc67fc20c3/scratchpad/pptx_out/m_tune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640080"/>
            <a:ext cx="438912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Modelagem hidráulica aplicada no diagnóstico e soluções para alagamentos urbanos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Preparando cidades mais resilientes e sustentáveis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Arnaldo Boa Sorte de Oliveira · Luan Pacheco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10" name="Image 2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20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8D4FF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contexto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Do cálculo estático à dinâmica urbana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6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Do cálculo estático à dinâmica urbana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O CONTEXTO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4173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8"/>
                </a:solidFill>
              </a:rPr>
              <a:t>O crescimento urbano desordenado e a impermeabilização do solo sobrecarregam os sistemas de drenagem, intensificando inundações recorrentes nas cidades brasileiras.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766560" y="1371600"/>
            <a:ext cx="48006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1" name="Image 2" descr="/tmp/claude-0/-home-user-norte-sul-portfolio/b828416d-028b-56b8-943d-a9bc67fc20c3/scratchpad/pptx_out/m_tune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39712" y="1444752"/>
            <a:ext cx="4654296" cy="2670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76288" y="4151376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Túnel do Vale do Anhangabaú alagado após chuva em São Paulo, 14/10/2026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40080" y="45720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49808" y="45720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6868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Impacto social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68680" y="5166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Famílias desalojadas, doenças de veiculação hídrica e interrupção de serviços públicos essenciais.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89120" y="45720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498848" y="45720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61772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Impacto econômico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617720" y="5166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Paralisação de atividades comerciais e industriais, danos à infraestrutura da cidade e perda de valor imobiliário em áreas críticas.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138160" y="45720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47888" y="457200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366760" y="4800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Impacto político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366760" y="5166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8"/>
                </a:solidFill>
              </a:rPr>
              <a:t>Obras emergenciais caras com pouco efeito na raiz do problema comprometem a credibilidade da gestão municipal a cada inundação.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Do método empírico à simulação hidráulica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A EVOLUÇÃO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Métodos empíricos tradicionais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Cálculos estáticos não representam as variações temporais da chuva.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Visão pontual dificulta avaliar remanso e refluxo na rede.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Risco de superdimensionamento ou de falha em gargalos dinâmicos.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27648" y="1417320"/>
            <a:ext cx="51297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46520" y="1645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3377"/>
                </a:solidFill>
              </a:rPr>
              <a:t>Simulação hidráulica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14884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Dinâmica temporal por hidrogramas reais de escoamento contínuo.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Acoplamento entre rede subterrânea e superfície urbana.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B88"/>
                </a:solidFill>
              </a:rPr>
              <a:t>Teste virtual das intervenções antes da execução da obra.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788152" y="2514600"/>
            <a:ext cx="640080" cy="640080"/>
          </a:xfrm>
          <a:prstGeom prst="ellipse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788152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377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40080" y="448056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20" name="Image 2" descr="/tmp/claude-0/-home-user-norte-sul-portfolio/b828416d-028b-56b8-943d-a9bc67fc20c3/scratchpad/pptx_out/m_equip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4553712"/>
            <a:ext cx="1316736" cy="13167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286000" y="4480560"/>
            <a:ext cx="9281160" cy="1463040"/>
          </a:xfrm>
          <a:prstGeom prst="roundRect">
            <a:avLst>
              <a:gd name="adj" fmla="val 6250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606040" y="44805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O modelo responde a pergunta certa: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não é só quanto chove, é como a água se move pela rede e pela rua ao longo do tempo, minuto a minuto.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Quatro etapas, do dado à decisão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O MÉTODO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red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1490472"/>
            <a:ext cx="3694176" cy="40873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56144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Rede modelada na micro bacia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754880" y="141732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864608" y="1417320"/>
            <a:ext cx="30723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98348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01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98348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Coleta de dados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983480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Topografia, dados meteorológicos e infraestrutura existente.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229600" y="141732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39328" y="1417320"/>
            <a:ext cx="30723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5820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02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Construção do modelo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Montagem das bacias de contribuição, nós, condutos e calhas viárias.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74904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64608" y="3749040"/>
            <a:ext cx="30723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98348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03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498348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Calibração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983480" y="4846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Ajuste com base em eventos históricos e marcas de cheia monitoradas.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229600" y="3749040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339328" y="3749040"/>
            <a:ext cx="30723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45820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04</a:t>
            </a:r>
            <a:endParaRPr lang="en-US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845820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Simulações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8458200" y="4846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Diagnóstico de extravasamento e dimensionamento das intervenções.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Cenários testáveis no modelo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AS ALTERNATIVAS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0" y="1417320"/>
            <a:ext cx="51663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baci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73952" y="1490472"/>
            <a:ext cx="5020056" cy="32186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10528" y="4745736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Extravasamento por trecho e bacias funcionais no cenário simulado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40080" y="14173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296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Novas galerias pluviais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429000" y="141732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61188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Remanejamento e aumento de diâmetro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24231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296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Novas bocas de lobo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429000" y="242316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61188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Aumento de calha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4290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Piscinões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429000" y="34290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611880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Parques lineares para infiltração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40080" y="443484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0A3377"/>
          </a:solidFill>
          <a:ln w="9525">
            <a:solidFill>
              <a:srgbClr val="0A337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4434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Galerias tanque de retardo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0080" y="544068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Cada alternativa é simulada antes da obra: o resultado é conhecido antes de investir.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20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8D4FF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case: micro bacia ACD-05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6FF"/>
                </a:solidFill>
              </a:rPr>
              <a:t>Carandiru · Ten. Rocha, zona norte de São Paulo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6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8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micro bacia em números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O CASE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589520" y="1280160"/>
            <a:ext cx="397764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aerea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62672" y="1353312"/>
            <a:ext cx="3831336" cy="43159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99248" y="5705856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Perímetro da micro bacia ACD-05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40080" y="155448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41248" y="15544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91,4%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841248" y="22860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de impermeabilização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023360" y="155448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224528" y="15544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250.420 m²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4224528" y="22860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de área (0,25 km²)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10896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41248" y="310896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1.100 m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" y="38404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de talvegue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023360" y="310896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224528" y="310896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5%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4224528" y="38404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de declividade média (0,05 m/m)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66344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41248" y="46634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55,3 m</a:t>
            </a:r>
            <a:endParaRPr lang="en-US" sz="3600" dirty="0"/>
          </a:p>
        </p:txBody>
      </p:sp>
      <p:sp>
        <p:nvSpPr>
          <p:cNvPr id="26" name="Text 21"/>
          <p:cNvSpPr txBox="1"/>
          <p:nvPr/>
        </p:nvSpPr>
        <p:spPr>
          <a:xfrm>
            <a:off x="841248" y="539496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de amplitude (779,9 m a 724,6 m)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023360" y="4663440"/>
            <a:ext cx="45720" cy="100584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224528" y="466344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D4FF"/>
                </a:solidFill>
              </a:rPr>
              <a:t>13 min</a:t>
            </a:r>
            <a:endParaRPr lang="en-US" sz="3600" dirty="0"/>
          </a:p>
        </p:txBody>
      </p:sp>
      <p:sp>
        <p:nvSpPr>
          <p:cNvPr id="29" name="Text 24"/>
          <p:cNvSpPr txBox="1"/>
          <p:nvPr/>
        </p:nvSpPr>
        <p:spPr>
          <a:xfrm>
            <a:off x="4224528" y="539496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6FF"/>
                </a:solidFill>
              </a:rPr>
              <a:t>da cota mais alta ao fundo de vale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Diagnóstico preliminar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DIAGNÓSTICO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dia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1490472"/>
            <a:ext cx="4974336" cy="40416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556869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Pontos intransitáveis (CET/CGE) e trechos alagáveis (FCTH)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035040" y="1417320"/>
            <a:ext cx="5532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144768" y="1417320"/>
            <a:ext cx="531266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263640" y="16459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O que o modelo mostrou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214884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A topografia acidentada impõe escoamento superficial nos trechos mais altos: em tubulação, as velocidades passariam de 5 m/s.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As vazões dos pontos mais altos chegam ao fundo de vale em apenas 13 minutos.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A infraestrutura existente é insuficiente para as vazões geradas.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Pontos em vermelho: intransitáveis segundo CET e CGE, na Av. Braz Leme e Rua Dr. Cesar, em Santana.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Trechos em laranja: ruas alagáveis segundo a Fundação Centro Tecnológico de Hidráulica.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Conferência do cadastro técnico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ENGENHARIA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cadastr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1490472"/>
            <a:ext cx="3785616" cy="31272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465429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Rede de drenagem e seções cadastradas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754880" y="1417320"/>
            <a:ext cx="6812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m_planta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28032" y="1490472"/>
            <a:ext cx="6665976" cy="18928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64608" y="3419856"/>
            <a:ext cx="6592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Planta da Av. Braz Leme: galeria conferida em campo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754880" y="3931920"/>
            <a:ext cx="6812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864608" y="3931920"/>
            <a:ext cx="65928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4983480" y="416052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Cadastro bom, modelo confiável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983480" y="466344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A confiabilidade do resultado da modelagem é consequência direta de um cadastro técnico bem feito. Na Braz Leme, o cadastro indicava rede circular de 1.200 mm onde, na realidade, existe galeria quadrada de 1.500 × 1.400 mm. A conferência foi decisiva para a solução.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521208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822960" y="5212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Sem cadastro conferido, a simulação erra junto com o desenho.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Parâmetros hidrológicos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ENGENHARIA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7607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hiet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1490472"/>
            <a:ext cx="5614416" cy="40416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5568696"/>
            <a:ext cx="5541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Hietograma da micro bacia para chuva de 60 minutos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675120" y="1417320"/>
            <a:ext cx="4892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784848" y="1417320"/>
            <a:ext cx="46725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03720" y="16459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O perfil da tempestade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903720" y="2148840"/>
            <a:ext cx="4434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Com o tempo de concentração e a intensidade de chuva da micro bacia, define-se o hietograma: o comportamento da chuva ao longo de um período.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Ele funciona como o perfil de uma tempestade: mostra quando a chuva foi fraca, quando atingiu o pico e quando começou a cessar.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É esse perfil que alimenta a simulação e dimensiona as intervenções.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Captar, reter e liberar no ritmo da rede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A ESTRATÉGIA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01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Captação na fonte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56032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Bocas de lobo interceptam a chuva nas cotas intermediárias e desviam o fluxo para o interior das galerias tanque de retardo antes de atingir o fundo de vale.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89120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98848" y="14173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1772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Retenção temporária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617720" y="256032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As galerias tanque de retardo armazenam o volume excedente que sobrecarregaria as estruturas de fundo de vale durante as chuvas.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38160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47888" y="14173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366760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D4FF"/>
                </a:solidFill>
              </a:rPr>
              <a:t>03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836676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Descarga controlada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366760" y="2560320"/>
            <a:ext cx="3063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A água armazenada é liberada de forma contínua, dentro da capacidade nominal da infraestrutura existente a jusante.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0080" y="557784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296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377"/>
                </a:solidFill>
              </a:rPr>
              <a:t>A rede existente continua a mesma. O que muda é quando a água chega nela.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O que são galerias tanque de retardo?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ENGENHARIA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tanque_iso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1490472"/>
            <a:ext cx="4974336" cy="2578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410565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Vista isométrica do tanque de retenção de picos de cheia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943600" y="1417320"/>
            <a:ext cx="56235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m_tanque_corte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16752" y="1490472"/>
            <a:ext cx="5477256" cy="2578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053328" y="4105656"/>
            <a:ext cx="540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Corte transversal de detalhe do mini tanque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4617720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49808" y="4617720"/>
            <a:ext cx="107076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868680" y="4846320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Tubulação GRP de grande diâmetro enterrada sob a via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68680" y="5212080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8"/>
                </a:solidFill>
              </a:rPr>
              <a:t>PV de entrada com retenção de areia e gradeamento, tanque de 1,50 m de diâmetro, PV de inspeção e limpeza, saída por placa de orifício em aço inox e tubulação de saída para o GAP existente.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MTR em trechos com e sem GAP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ENGENHARIA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mtr_ga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1490472"/>
            <a:ext cx="5202936" cy="40416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556869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Trecho com GAP: ligação ao poço existente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217920" y="14173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m_mtr_semga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91072" y="1490472"/>
            <a:ext cx="5202936" cy="40416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27648" y="556869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Trecho sem GAP: saída por boca de lobo e sarjeta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Distribuição das galerias tanque de retardo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ENGENHARIA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distrib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3232" y="1490472"/>
            <a:ext cx="5340096" cy="40873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5614416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Implantação das galerias ao longo da micro bacia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355080" y="1417320"/>
            <a:ext cx="5212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464808" y="1417320"/>
            <a:ext cx="499262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Espalhadas, não concentradas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583680" y="214884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As galerias são distribuídas nas cotas intermediárias, onde a chuva ainda pode ser interceptada.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Cada unidade retém uma parcela do volume e devolve à rede no ritmo que ela suporta.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B6B88"/>
                </a:solidFill>
              </a:rPr>
              <a:t>O conjunto substitui uma única obra grande de fundo de vale por várias pequenas, de execução mais simples e menor transtorno.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Mancha de inundação: antes e depois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RESULTADO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0" name="Image 2" descr="/tmp/claude-0/-home-user-norte-sul-portfolio/b828416d-028b-56b8-943d-a9bc67fc20c3/scratchpad/pptx_out/m_mancha_atu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3232" y="1490472"/>
            <a:ext cx="5202936" cy="36758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520293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Cenário atual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217920" y="141732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101600" dist="19050" dir="5400000">
              <a:srgbClr val="0A3377">
                <a:alpha val="12000"/>
              </a:srgbClr>
            </a:outerShdw>
          </a:effectLst>
        </p:spPr>
      </p:sp>
      <p:pic>
        <p:nvPicPr>
          <p:cNvPr id="13" name="Image 3" descr="/tmp/claude-0/-home-user-norte-sul-portfolio/b828416d-028b-56b8-943d-a9bc67fc20c3/scratchpad/pptx_out/m_mancha_mtr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91072" y="1490472"/>
            <a:ext cx="5202936" cy="367588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27648" y="520293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8"/>
                </a:solidFill>
              </a:rPr>
              <a:t>Com as galerias tanque de retardo (MTR)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669280"/>
            <a:ext cx="54864" cy="45720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2296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mancha de inundação praticamente desaparece com a retenção distribuída.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3377"/>
                </a:solidFill>
              </a:rPr>
              <a:t>Vantagens da modelagem no diagnóstico de drenagem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D4FF"/>
                </a:solidFill>
              </a:rPr>
              <a:t>INOVAÇÃO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5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40080" y="14173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49808" y="14173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Otimização da capacidade hidráulica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3774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A simulação evita obras superdimensionadas, encontrando o diâmetro e a declividade exatos para cada trecho.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89120" y="14173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98848" y="14173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61772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Máxima eficiência, menor custo global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23774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Você conhece o resultado antes de investir. O dinheiro vai para a obra que resolve.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14173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76200" dist="12700" dir="5400000">
              <a:srgbClr val="0A3377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47888" y="1417320"/>
            <a:ext cx="3300984" cy="45720"/>
          </a:xfrm>
          <a:prstGeom prst="rect">
            <a:avLst/>
          </a:prstGeom>
          <a:solidFill>
            <a:srgbClr val="38D4FF"/>
          </a:solidFill>
          <a:ln w="12700">
            <a:solidFill>
              <a:srgbClr val="38D4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366760" y="1645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3377"/>
                </a:solidFill>
              </a:rPr>
              <a:t>Infraestrutura verde (SUDS)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8366760" y="237744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8"/>
                </a:solidFill>
              </a:rPr>
              <a:t>Permite simular jardins de chuva, com biorretenção e infiltração na fonte, e pavimentos permeáveis, com retenção direta no piso urbano.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438912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0A3377"/>
          </a:solidFill>
          <a:ln w="12700">
            <a:solidFill>
              <a:srgbClr val="0A337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4400" y="4389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D4FF"/>
                </a:solidFill>
              </a:rPr>
              <a:t>Diagnóstico antes da obra.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Ninguém abre rua por palpite: a simulação mostra onde intervir, com que diâmetro e em que ordem.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8D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0A3377"/>
                </a:solidFill>
              </a:rPr>
              <a:t>Obrigado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Arnaldo Boa Sorte de Oliveira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A3377"/>
                </a:solidFill>
              </a:rPr>
              <a:t>Consultor Sênior · Norte Sul Hidrotecnologia · gestao.servicostec@nortesultec.com.br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3377"/>
                </a:solidFill>
              </a:rPr>
              <a:t>Luan Pacheco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A3377"/>
                </a:solidFill>
              </a:rPr>
              <a:t>Técnico em Saneamento · Norte Sul Hidrotecnologia · servicostec.sp1@nortesultec.com.br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Gestão+ Performance · Preparando cidades mais resilientes e sustentáveis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A"/>
            </a:solidFill>
            <a:prstDash val="solid"/>
          </a:ln>
        </p:spPr>
      </p:sp>
      <p:pic>
        <p:nvPicPr>
          <p:cNvPr id="7" name="Image 0" descr="/tmp/claude-0/-home-user-norte-sul-portfolio/b828416d-028b-56b8-943d-a9bc67fc20c3/scratchpad/pptx_out/logo_m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6382512"/>
            <a:ext cx="548640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88720" y="6419088"/>
            <a:ext cx="0" cy="310896"/>
          </a:xfrm>
          <a:prstGeom prst="line">
            <a:avLst/>
          </a:prstGeom>
          <a:noFill/>
          <a:ln w="9525">
            <a:solidFill>
              <a:srgbClr val="C9D6EA"/>
            </a:solidFill>
            <a:prstDash val="solid"/>
          </a:ln>
        </p:spPr>
      </p:sp>
      <p:pic>
        <p:nvPicPr>
          <p:cNvPr id="9" name="Image 1" descr="/tmp/claude-0/-home-user-norte-sul-portfolio/b828416d-028b-56b8-943d-a9bc67fc20c3/scratchpad/pptx_out/logo_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25880" y="6382512"/>
            <a:ext cx="640080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65615" y="636422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3377"/>
                </a:solidFill>
              </a:rPr>
              <a:t>FENASAN</a:t>
            </a:r>
            <a:endParaRPr lang="en-US" sz="10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5B6B88"/>
                </a:solidFill>
              </a:rPr>
              <a:t>www.nortesultec.com.br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ão Performance">
  <a:themeElements>
    <a:clrScheme name="Gestão Performance">
      <a:dk1>
        <a:srgbClr val="05204E"/>
      </a:dk1>
      <a:lt1>
        <a:srgbClr val="FFFFFF"/>
      </a:lt1>
      <a:dk2>
        <a:srgbClr val="0A3377"/>
      </a:dk2>
      <a:lt2>
        <a:srgbClr val="F3F6FB"/>
      </a:lt2>
      <a:accent1>
        <a:srgbClr val="38D4FF"/>
      </a:accent1>
      <a:accent2>
        <a:srgbClr val="0A3377"/>
      </a:accent2>
      <a:accent3>
        <a:srgbClr val="0E3F8C"/>
      </a:accent3>
      <a:accent4>
        <a:srgbClr val="5B6B88"/>
      </a:accent4>
      <a:accent5>
        <a:srgbClr val="CFE6FF"/>
      </a:accent5>
      <a:accent6>
        <a:srgbClr val="C9D6EA"/>
      </a:accent6>
      <a:hlink>
        <a:srgbClr val="0563C1"/>
      </a:hlink>
      <a:folHlink>
        <a:srgbClr val="954F72"/>
      </a:folHlink>
    </a:clrScheme>
    <a:fontScheme name="Gestão Performa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Norte Sul Hidrotecnologia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2026-10-16T15:07:17Z</dcterms:created>
  <dcterms:modified xsi:type="dcterms:W3CDTF">2026-10-16T15:07:17Z</dcterms:modified>
</cp:coreProperties>
</file>