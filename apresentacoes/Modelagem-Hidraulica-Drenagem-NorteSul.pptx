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jpg"/><Relationship Id="rId5" Type="http://schemas.openxmlformats.org/officeDocument/2006/relationships/image" Target="../media/image-16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502920"/>
            <a:ext cx="4663440" cy="5212080"/>
          </a:xfrm>
          <a:prstGeom prst="roundRect">
            <a:avLst>
              <a:gd name="adj" fmla="val 6863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pic>
        <p:nvPicPr>
          <p:cNvPr id="3" name="Image 0" descr="/tmp/claude-0/-home-user-norte-sul-portfolio/b828416d-028b-56b8-943d-a9bc67fc20c3/scratchpad/pptx_out/m_capa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086600" y="640080"/>
            <a:ext cx="4389120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82296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Modelagem hidráulica aplicada no diagnóstico e soluções para alagamentos urbanos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9319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Preparando cidades mais resilientes e sustentáveis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Arnaldo Boa Sorte de Oliveira · Luan Pacheco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38D4FF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contexto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Do cálculo estático à dinâmica urbana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Do cálculo estático à dinâmica urbana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CONTEXTO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141732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O crescimento urbano desordenado e a impermeabilização do solo sobrecarregam os sistemas de drenagem, intensificando inundações recorrentes nas cidades brasileiras.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766560" y="1371600"/>
            <a:ext cx="480060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1" name="Image 2" descr="/tmp/claude-0/-home-user-norte-sul-portfolio/b828416d-028b-56b8-943d-a9bc67fc20c3/scratchpad/pptx_out/m_tunel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839712" y="1444752"/>
            <a:ext cx="4654296" cy="2670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76288" y="4151376"/>
            <a:ext cx="4581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Túnel do Vale do Anhangabaú alagado após chuva em São Paulo, 14/10/2026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64008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74980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6868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social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86868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Famílias desalojadas, doenças de veiculação hídrica e interrupção de serviços públicos essenciais.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912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49884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61772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econômico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61772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Paralisação de atividades comerciais e industriais, danos à infraestrutura da cidade e perda de valor imobiliário em áreas críticas.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813816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824788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36676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político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36676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Obras emergenciais caras com pouco efeito na raiz do problema comprometem a credibilidade da gestão municipal a cada inundação.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Do método empírico à simulação hidráulica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 EVOLUÇÃO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Métodos empíricos tradicionais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Cálculos estáticos não representam as variações temporais da chuva.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Visão pontual dificulta avaliar remanso e refluxo na rede.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Risco de superdimensionamento ou de falha em gargalos dinâmicos.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217920" y="1417320"/>
            <a:ext cx="53492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32764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4652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Simulação hidráulica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446520" y="214884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Dinâmica temporal por hidrogramas reais de escoamento contínuo.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Acoplamento entre rede subterrânea e superfície urbana.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Teste virtual das intervenções antes da execução da obra.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788152" y="2514600"/>
            <a:ext cx="640080" cy="64008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788152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3377"/>
                </a:solidFill>
              </a:rPr>
              <a:t>→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0080" y="4480560"/>
            <a:ext cx="1463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0" name="Image 2" descr="/tmp/claude-0/-home-user-norte-sul-portfolio/b828416d-028b-56b8-943d-a9bc67fc20c3/scratchpad/pptx_out/m_equipe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13232" y="4553712"/>
            <a:ext cx="1316736" cy="1316736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2286000" y="4480560"/>
            <a:ext cx="9281160" cy="1463040"/>
          </a:xfrm>
          <a:prstGeom prst="roundRect">
            <a:avLst>
              <a:gd name="adj" fmla="val 625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606040" y="448056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O modelo responde a pergunta certa: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não é só quanto chove, é como a água se move pela rede e pela rua ao longo do tempo, minuto a minuto.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Quatro etapas, do dado à decisão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MÉTODO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840480" cy="4526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m_rede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13232" y="1490472"/>
            <a:ext cx="3694176" cy="40873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614416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Rede modelada na micro bacia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4754880" y="141732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486460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98348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2148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Coleta de dados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98348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Topografia, dados meteorológicos e infraestrutura existente.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8229600" y="141732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3932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45820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20" name="Text 15"/>
          <p:cNvSpPr txBox="1"/>
          <p:nvPr/>
        </p:nvSpPr>
        <p:spPr>
          <a:xfrm>
            <a:off x="8458200" y="2148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Construção do modelo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845820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Montagem das bacias de contribuição, nós, condutos e calhas viárias.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754880" y="374904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864608" y="374904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983480" y="3977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5" name="Text 20"/>
          <p:cNvSpPr txBox="1"/>
          <p:nvPr/>
        </p:nvSpPr>
        <p:spPr>
          <a:xfrm>
            <a:off x="4983480" y="4480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Calibração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4983480" y="48463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Ajuste com base em eventos históricos e marcas de cheia monitoradas.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8229600" y="374904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8339328" y="374904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458200" y="3977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04</a:t>
            </a:r>
            <a:endParaRPr lang="en-US" sz="2600" dirty="0"/>
          </a:p>
        </p:txBody>
      </p:sp>
      <p:sp>
        <p:nvSpPr>
          <p:cNvPr id="30" name="Text 25"/>
          <p:cNvSpPr txBox="1"/>
          <p:nvPr/>
        </p:nvSpPr>
        <p:spPr>
          <a:xfrm>
            <a:off x="8458200" y="4480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Simulações</a:t>
            </a:r>
            <a:endParaRPr lang="en-US" sz="1400" dirty="0"/>
          </a:p>
        </p:txBody>
      </p:sp>
      <p:sp>
        <p:nvSpPr>
          <p:cNvPr id="31" name="Text 26"/>
          <p:cNvSpPr txBox="1"/>
          <p:nvPr/>
        </p:nvSpPr>
        <p:spPr>
          <a:xfrm>
            <a:off x="8458200" y="48463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Diagnóstico de extravasamento e dimensionamento das intervenções.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Cenários testáveis no modelo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AS ALTERNATIVAS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0" y="1417320"/>
            <a:ext cx="516636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m_bacia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73952" y="1490472"/>
            <a:ext cx="5020056" cy="321868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510528" y="4745736"/>
            <a:ext cx="4946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Extravasamento por trecho e bacias funcionais no cenário simulado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40080" y="141732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2296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Novas galerias pluviais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3429000" y="141732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61188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Remanejamento e aumento de diâmetro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40080" y="242316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2296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Novas bocas de lobo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3429000" y="242316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361188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Aumento de calha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40080" y="342900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22960" y="3429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Piscinões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3429000" y="342900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3611880" y="3429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Parques lineares para infiltração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640080" y="443484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0A3377"/>
          </a:solidFill>
          <a:ln w="9525">
            <a:solidFill>
              <a:srgbClr val="0A3377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22960" y="44348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Galerias tanque de retardo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640080" y="54406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4406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Cada alternativa é simulada antes da obra: o resultado é conhecido antes de investir.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38D4FF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case: micro bacia ACD-05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Carandiru · Ten. Rocha, zona norte de São Paulo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 micro bacia em números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CASE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7589520" y="1280160"/>
            <a:ext cx="3977640" cy="4754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m_aerea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662672" y="1353312"/>
            <a:ext cx="3831336" cy="43159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699248" y="5705856"/>
            <a:ext cx="3758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Perímetro da micro bacia ACD-05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40080" y="15544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41248" y="15544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91,4%</a:t>
            </a:r>
            <a:endParaRPr lang="en-US" sz="3600" dirty="0"/>
          </a:p>
        </p:txBody>
      </p:sp>
      <p:sp>
        <p:nvSpPr>
          <p:cNvPr id="14" name="Text 9"/>
          <p:cNvSpPr txBox="1"/>
          <p:nvPr/>
        </p:nvSpPr>
        <p:spPr>
          <a:xfrm>
            <a:off x="841248" y="22860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impermeabilização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023360" y="15544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224528" y="15544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250.420 m²</a:t>
            </a:r>
            <a:endParaRPr lang="en-US" sz="3600" dirty="0"/>
          </a:p>
        </p:txBody>
      </p:sp>
      <p:sp>
        <p:nvSpPr>
          <p:cNvPr id="17" name="Text 12"/>
          <p:cNvSpPr txBox="1"/>
          <p:nvPr/>
        </p:nvSpPr>
        <p:spPr>
          <a:xfrm>
            <a:off x="4224528" y="22860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área (0,25 km²)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40080" y="310896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41248" y="310896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1.100 m</a:t>
            </a:r>
            <a:endParaRPr lang="en-US" sz="3600" dirty="0"/>
          </a:p>
        </p:txBody>
      </p:sp>
      <p:sp>
        <p:nvSpPr>
          <p:cNvPr id="20" name="Text 15"/>
          <p:cNvSpPr txBox="1"/>
          <p:nvPr/>
        </p:nvSpPr>
        <p:spPr>
          <a:xfrm>
            <a:off x="841248" y="3840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talvegue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023360" y="310896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224528" y="310896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5%</a:t>
            </a:r>
            <a:endParaRPr lang="en-US" sz="3600" dirty="0"/>
          </a:p>
        </p:txBody>
      </p:sp>
      <p:sp>
        <p:nvSpPr>
          <p:cNvPr id="23" name="Text 18"/>
          <p:cNvSpPr txBox="1"/>
          <p:nvPr/>
        </p:nvSpPr>
        <p:spPr>
          <a:xfrm>
            <a:off x="4224528" y="3840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declividade média (0,05 m/m)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40080" y="46634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41248" y="466344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55,3 m</a:t>
            </a:r>
            <a:endParaRPr lang="en-US" sz="3600" dirty="0"/>
          </a:p>
        </p:txBody>
      </p:sp>
      <p:sp>
        <p:nvSpPr>
          <p:cNvPr id="26" name="Text 21"/>
          <p:cNvSpPr txBox="1"/>
          <p:nvPr/>
        </p:nvSpPr>
        <p:spPr>
          <a:xfrm>
            <a:off x="841248" y="539496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amplitude (779,9 m a 724,6 m)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4023360" y="46634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224528" y="466344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13 min</a:t>
            </a:r>
            <a:endParaRPr lang="en-US" sz="3600" dirty="0"/>
          </a:p>
        </p:txBody>
      </p:sp>
      <p:sp>
        <p:nvSpPr>
          <p:cNvPr id="29" name="Text 24"/>
          <p:cNvSpPr txBox="1"/>
          <p:nvPr/>
        </p:nvSpPr>
        <p:spPr>
          <a:xfrm>
            <a:off x="4224528" y="539496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da cota mais alta ao fundo de vale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Diagnóstico preliminar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DIAGNÓSTICO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m_diag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13232" y="1490472"/>
            <a:ext cx="497433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Pontos intransitáveis (CET/CGE) e trechos alagáveis (FCTH)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035040" y="1417320"/>
            <a:ext cx="553212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144768" y="1417320"/>
            <a:ext cx="531266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263640" y="164592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 que o modelo mostrou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263640" y="2148840"/>
            <a:ext cx="5074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 topografia acidentada impõe escoamento superficial nos trechos mais altos: em tubulação, as velocidades passariam de 5 m/s.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As vazões dos pontos mais altos chegam ao fundo de vale em apenas 13 minutos.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 infraestrutura existente é insuficiente para as vazões geradas.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Pontos em vermelho: intransitáveis segundo CET e CGE, na Av. Braz Leme e Rua Dr. Cesar, em Santana.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Trechos em laranja: ruas alagáveis segundo a Fundação Centro Tecnológico de Hidráulica.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Conferência do cadastro técnico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9319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m_cadastro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13232" y="1490472"/>
            <a:ext cx="3785616" cy="31272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4654296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Rede de drenagem e seções cadastradas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4754880" y="1417320"/>
            <a:ext cx="68122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m_planta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828032" y="1490472"/>
            <a:ext cx="6665976" cy="18928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864608" y="3419856"/>
            <a:ext cx="6592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Planta da Av. Braz Leme: galeria conferida em campo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4754880" y="3931920"/>
            <a:ext cx="68122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4864608" y="3931920"/>
            <a:ext cx="65928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4983480" y="4160520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Cadastro bom, modelo confiável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4983480" y="4663440"/>
            <a:ext cx="6355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A confiabilidade do resultado da modelagem é consequência direta de um cadastro técnico bem feito. Na Braz Leme, o cadastro indicava rede circular de 1.200 mm onde, na realidade, existe galeria quadrada de 1.500 × 1.400 mm. A conferência foi decisiva para a solução.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640080" y="52120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22960" y="52120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Sem cadastro conferido, a simulação erra junto com o desenho.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Parâmetros hidrológicos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76072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m_hieto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13232" y="1490472"/>
            <a:ext cx="561441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5541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Hietograma da micro bacia para chuva de 60 minutos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675120" y="1417320"/>
            <a:ext cx="48920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784848" y="1417320"/>
            <a:ext cx="4672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903720" y="164592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 perfil da tempestade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903720" y="2148840"/>
            <a:ext cx="4434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Com o tempo de concentração e a intensidade de chuva da micro bacia, define-se o hietograma: o comportamento da chuva ao longo de um período.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Ele funciona como o perfil de uma tempestade: mostra quando a chuva foi fraca, quando atingiu o pico e quando começou a cessar.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É esse perfil que alimenta a simulação e dimensiona as intervenções.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Captar, reter e liberar no ritmo da rede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 ESTRATÉGIA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Captação na fonte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Bocas de lobo interceptam a chuva nas cotas intermediárias e desviam o fluxo para o interior das galerias tanque de retardo antes de atingir o fundo de vale.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38912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49884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61772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461772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Retenção temporária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As galerias tanque de retardo armazenam o volume excedente que sobrecarregaria as estruturas de fundo de vale durante as chuvas.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813816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24788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36676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836676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Descarga controlada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36676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 água armazenada é liberada de forma contínua, dentro da capacidade nominal da infraestrutura existente a jusante.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40080" y="557784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22960" y="55778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A rede existente continua a mesma. O que muda é quando a água chega nela.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O que são galerias tanque de retardo?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m_tanque_iso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13232" y="1490472"/>
            <a:ext cx="4974336" cy="2578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410565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Vista isométrica do tanque de retenção de picos de cheia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5943600" y="1417320"/>
            <a:ext cx="56235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m_tanque_corte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016752" y="1490472"/>
            <a:ext cx="5477256" cy="25786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053328" y="4105656"/>
            <a:ext cx="5404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Corte transversal de detalhe do mini tanque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4617720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749808" y="4617720"/>
            <a:ext cx="10707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868680" y="4846320"/>
            <a:ext cx="10469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Tubulação GRP de grande diâmetro enterrada sob a via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868680" y="5212080"/>
            <a:ext cx="10469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PV de entrada com retenção de areia e gradeamento, tanque de 1,50 m de diâmetro, PV de inspeção e limpeza, saída por placa de orifício em aço inox e tubulação de saída para o GAP existente.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MTR em trechos com e sem GAP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m_mtr_gap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13232" y="1490472"/>
            <a:ext cx="520293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Trecho com GAP: ligação ao poço existente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17320"/>
            <a:ext cx="53492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m_mtr_semgap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91072" y="1490472"/>
            <a:ext cx="5202936" cy="404164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27648" y="556869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Trecho sem GAP: saída por boca de lobo e sarjeta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Distribuição das galerias tanque de retardo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48640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m_distrib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13232" y="1490472"/>
            <a:ext cx="5340096" cy="40873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614416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Implantação das galerias ao longo da micro bacia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355080" y="1417320"/>
            <a:ext cx="521208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464808" y="1417320"/>
            <a:ext cx="4992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583680" y="1645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Espalhadas, não concentradas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583680" y="2148840"/>
            <a:ext cx="47548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As galerias são distribuídas nas cotas intermediárias, onde a chuva ainda pode ser interceptada.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Cada unidade retém uma parcela do volume e devolve à rede no ritmo que ela suporta.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O conjunto substitui uma única obra grande de fundo de vale por várias pequenas, de execução mais simples e menor transtorno.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Mancha de inundação: antes e depois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RESULTADO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m_mancha_atual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13232" y="1490472"/>
            <a:ext cx="5202936" cy="367588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20293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Cenário atual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1732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m_mancha_mtr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291072" y="1490472"/>
            <a:ext cx="5202936" cy="367588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27648" y="520293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Com as galerias tanque de retardo (MTR)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6692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2296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mancha de inundação praticamente desaparece com a retenção distribuída.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Vantagens da modelagem no diagnóstico de drenagem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INOVAÇÃO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Otimização da capacidade hidráulica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 simulação evita obras superdimensionadas, encontrando o diâmetro e a declividade exatos para cada trecho.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38912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49884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61772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Máxima eficiência, menor custo global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Você conhece o resultado antes de investir. O dinheiro vai para a obra que resolve.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13816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4788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36676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Infraestrutura verde (SUDS)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836676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Permite simular jardins de chuva, com biorretenção e infiltração na fonte, e pavimentos permeáveis, com retenção direta no piso urbano.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0080" y="4389120"/>
            <a:ext cx="10927080" cy="1188720"/>
          </a:xfrm>
          <a:prstGeom prst="roundRect">
            <a:avLst>
              <a:gd name="adj" fmla="val 7692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14400" y="438912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Diagnóstico antes da obra.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Ninguém abre rua por palpite: a simulação mostra onde intervir, com que diâmetro e em que ordem.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8D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0A3377"/>
                </a:solidFill>
              </a:rPr>
              <a:t>Obrigado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Arnaldo Boa Sorte de Oliveira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0A3377"/>
                </a:solidFill>
              </a:rPr>
              <a:t>Consultor Sênior · Norte Sul Hidrotecnologia · gestao.servicostec@nortesultec.com.br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Luan Pacheco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0A3377"/>
                </a:solidFill>
              </a:rPr>
              <a:t>Técnico em Saneamento · Norte Sul Hidrotecnologia · servicostec.sp1@nortesultec.com.br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Gestão+ Performance · Preparando cidades mais resilientes e sustentáveis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9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25880" y="6382512"/>
            <a:ext cx="640080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stão Performance">
  <a:themeElements>
    <a:clrScheme name="Gestão Performance">
      <a:dk1>
        <a:srgbClr val="05204E"/>
      </a:dk1>
      <a:lt1>
        <a:srgbClr val="FFFFFF"/>
      </a:lt1>
      <a:dk2>
        <a:srgbClr val="0A3377"/>
      </a:dk2>
      <a:lt2>
        <a:srgbClr val="F3F6FB"/>
      </a:lt2>
      <a:accent1>
        <a:srgbClr val="38D4FF"/>
      </a:accent1>
      <a:accent2>
        <a:srgbClr val="0A3377"/>
      </a:accent2>
      <a:accent3>
        <a:srgbClr val="0E3F8C"/>
      </a:accent3>
      <a:accent4>
        <a:srgbClr val="5B6B88"/>
      </a:accent4>
      <a:accent5>
        <a:srgbClr val="CFE6FF"/>
      </a:accent5>
      <a:accent6>
        <a:srgbClr val="C9D6EA"/>
      </a:accent6>
      <a:hlink>
        <a:srgbClr val="0563C1"/>
      </a:hlink>
      <a:folHlink>
        <a:srgbClr val="954F72"/>
      </a:folHlink>
    </a:clrScheme>
    <a:fontScheme name="Gestão Performan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Norte Sul Hidrotecnologia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2026-10-16T15:16:44Z</dcterms:created>
  <dcterms:modified xsi:type="dcterms:W3CDTF">2026-10-16T15:16:44Z</dcterms:modified>
</cp:coreProperties>
</file>