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m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Modelagem hidráulica aplicada no diagnóstico e soluções para alagamentos urbanos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Preparando cidades mais resilientes e sustentáveis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Arnaldo Boa Sorte de Oliveira · Luan Pacheco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contexto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Do cálculo estático à dinâmica urbana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cálculo estático à dinâmica urbana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CONTEXTO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41732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O crescimento urbano desordenado e a impermeabilização do solo sobrecarregam os sistemas de drenagem, intensificando inundações recorrentes nas cidades brasileiras.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766560" y="1371600"/>
            <a:ext cx="48006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1" name="Image 2" descr="/tmp/claude-0/-home-user-norte-sul-portfolio/b828416d-028b-56b8-943d-a9bc67fc20c3/scratchpad/pptx_out/cropped/m_tunel_5.09x2.9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444752"/>
            <a:ext cx="4654296" cy="2670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76288" y="4151376"/>
            <a:ext cx="4581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Túnel do Vale do Anhangabaú alagado após chuva em São Paulo, 14/10/2026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4008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4980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6868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social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86868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Famílias desalojadas, doenças de veiculação hídrica e interrupção de serviços públicos essenciais.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912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49884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61772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econômico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1772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Paralisação de atividades comerciais e industriais, danos à infraestrutura da cidade e perda de valor imobiliário em áreas críticas.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13816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24788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36676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político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Obras emergenciais caras com pouco efeito na raiz do problema comprometem a credibilidade da gestão municipal a cada inundação.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método empírico à simulação hidráulica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EVOLUÇÃO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Métodos empíricos tradicionais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Cálculos estáticos não representam as variações temporais da chuva.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Visão pontual dificulta avaliar remanso e refluxo na rede.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Risco de superdimensionamento ou de falha em gargalos dinâmicos.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Simulação hidráulica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Dinâmica temporal por hidrogramas reais de escoamento contínuo.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Acoplamento entre rede subterrânea e superfície urbana.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Teste virtual das intervenções antes da execução da obra.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788152" y="25146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78815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377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0080" y="448056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0" name="Image 2" descr="/tmp/claude-0/-home-user-norte-sul-portfolio/b828416d-028b-56b8-943d-a9bc67fc20c3/scratchpad/pptx_out/cropped/m_equipe_1.44x1.4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553712"/>
            <a:ext cx="1316736" cy="131673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286000" y="4480560"/>
            <a:ext cx="9281160" cy="1463040"/>
          </a:xfrm>
          <a:prstGeom prst="roundRect">
            <a:avLst>
              <a:gd name="adj" fmla="val 625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06040" y="44805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O modelo responde a pergunta certa: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não é só quanto chove, é como a água se move pela rede e pela rua ao longo do tempo, minuto a minuto.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etapas, do dado à decisão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MÉTODO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840480" cy="4526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rede_4.0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69417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modelada na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48646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834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Coleta de dados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98348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Topografia, dados meteorológicos e infraestrutura existente.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22960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3932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5820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Construção do modelo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Montagem das bacias de contribuição, nós, condutos e calhas viárias.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5488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6460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98348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498348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Calibração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498348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Ajuste com base em eventos históricos e marcas de cheia monitoradas.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22960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33932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45820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845820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Simulações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845820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Diagnóstico de extravasamento e dimensionamento das intervenções.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Cenários testáveis no modelo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AS ALTERNATIVAS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0" y="1417320"/>
            <a:ext cx="51663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bacia_5.49x3.5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490472"/>
            <a:ext cx="5020056" cy="32186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510528" y="4745736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Extravasamento por trecho e bacias funcionais no cenário simulado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296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galerias pluviais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42900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6118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Remanejamento e aumento de diâmetro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296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bocas de lobo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42900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61188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Aumento de calha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Piscinões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342900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361188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Parques lineares para infiltração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40080" y="443484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0A3377"/>
          </a:solidFill>
          <a:ln w="9525">
            <a:solidFill>
              <a:srgbClr val="0A3377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44348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Galerias tanque de retardo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0080" y="54406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440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Cada alternativa é simulada antes da obra: o resultado é conhecido antes de investir.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case: micro bacia ACD-05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Carandiru · Ten. Rocha, zona norte de São Paulo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micro bacia em números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CASE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589520" y="1280160"/>
            <a:ext cx="3977640" cy="4754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aerea_4.19x4.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353312"/>
            <a:ext cx="3831336" cy="43159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99248" y="5705856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Perímetro da micro bacia ACD-05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4124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91,4%</a:t>
            </a:r>
            <a:endParaRPr lang="en-US" sz="3600" dirty="0"/>
          </a:p>
        </p:txBody>
      </p:sp>
      <p:sp>
        <p:nvSpPr>
          <p:cNvPr id="14" name="Text 9"/>
          <p:cNvSpPr txBox="1"/>
          <p:nvPr/>
        </p:nvSpPr>
        <p:spPr>
          <a:xfrm>
            <a:off x="84124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impermeabilização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02336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22452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250.420 m²</a:t>
            </a:r>
            <a:endParaRPr lang="en-US" sz="3600" dirty="0"/>
          </a:p>
        </p:txBody>
      </p:sp>
      <p:sp>
        <p:nvSpPr>
          <p:cNvPr id="17" name="Text 12"/>
          <p:cNvSpPr txBox="1"/>
          <p:nvPr/>
        </p:nvSpPr>
        <p:spPr>
          <a:xfrm>
            <a:off x="422452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área (0,25 km²)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4008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124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1.100 m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84124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talvegue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02336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22452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5%</a:t>
            </a:r>
            <a:endParaRPr lang="en-US" sz="3600" dirty="0"/>
          </a:p>
        </p:txBody>
      </p:sp>
      <p:sp>
        <p:nvSpPr>
          <p:cNvPr id="23" name="Text 18"/>
          <p:cNvSpPr txBox="1"/>
          <p:nvPr/>
        </p:nvSpPr>
        <p:spPr>
          <a:xfrm>
            <a:off x="422452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declividade média (0,05 m/m)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4008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124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55,3 m</a:t>
            </a:r>
            <a:endParaRPr lang="en-US" sz="36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amplitude (779,9 m a 724,6 m)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02336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22452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13 min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422452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da cota mais alta ao fundo de vale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Diagnóstico preliminar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ag_5.4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Pontos intransitáveis (CET/CGE) e trechos alagáveis (FCTH)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035040" y="1417320"/>
            <a:ext cx="55321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144768" y="1417320"/>
            <a:ext cx="531266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63640" y="164592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que o modelo mostrou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263640" y="2148840"/>
            <a:ext cx="5074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topografia acidentada impõe escoamento superficial nos trechos mais altos: em tubulação, as velocidades passariam de 5 m/s.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vazões dos pontos mais altos chegam ao fundo de vale em apenas 13 minutos.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infraestrutura existente é insuficiente para as vazões geradas.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Pontos em vermelho: intransitáveis segundo CET e CGE, na Av. Braz Leme e Rua Dr. Cesar, em Santana.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Trechos em laranja: ruas alagáveis segundo a Fundação Centro Tecnológico de Hidráulica.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Conferência do cadastro técnico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cadastro_4.14x3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785616" cy="31272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65429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de drenagem e seções cadastradas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6812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planta_7.29x2.07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490472"/>
            <a:ext cx="6665976" cy="18928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64608" y="3419856"/>
            <a:ext cx="659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Planta da Av. Braz Leme: galeria conferida em campo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54880" y="3931920"/>
            <a:ext cx="6812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864608" y="3931920"/>
            <a:ext cx="65928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983480" y="4160520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Cadastro bom, modelo confiável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4983480" y="4663440"/>
            <a:ext cx="6355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 confiabilidade do resultado da modelagem é consequência direta de um cadastro técnico bem feito. Na Braz Leme, o cadastro indicava rede circular de 1.200 mm onde, na realidade, existe galeria quadrada de 1.500 × 1.400 mm. A conferência foi decisiva para a solução.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40080" y="52120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22960" y="5212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Sem cadastro conferido, a simulação erra junto com o desenho.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Parâmetros hidrológicos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7607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hieto_6.1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61441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541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Hietograma da micro bacia para chuva de 60 minutos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675120" y="1417320"/>
            <a:ext cx="4892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784848" y="1417320"/>
            <a:ext cx="4672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903720" y="16459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perfil da tempestade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903720" y="214884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Com o tempo de concentração e a intensidade de chuva da micro bacia, define-se o hietograma: o comportamento da chuva ao longo de um período.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Ele funciona como o perfil de uma tempestade: mostra quando a chuva foi fraca, quando atingiu o pico e quando começou a cessar.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É esse perfil que alimenta a simulação e dimensiona as intervenções.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Captar, reter e liberar no ritmo da rede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ESTRATÉGIA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Captação na fonte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Bocas de lobo interceptam a chuva nas cotas intermediárias e desviam o fluxo para o interior das galerias tanque de retardo antes de atingir o fundo de vale.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Retenção temporária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As galerias tanque de retardo armazenam o volume excedente que sobrecarregaria as estruturas de fundo de vale durante as chuvas.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3816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36676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36676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Descarga controlada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36676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água armazenada é liberada de forma contínua, dentro da capacidade nominal da infraestrutura existente a jusante.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40080" y="557784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 rede existente continua a mesma. O que muda é quando a água chega nela.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 que são galerias tanque de retardo?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tanque_iso_5.44x2.8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2578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105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Vista isométrica do tanque de retenção de picos de cheia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5943600" y="1417320"/>
            <a:ext cx="56235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tanque_corte_5.99x2.8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1490472"/>
            <a:ext cx="5477256" cy="2578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53328" y="4105656"/>
            <a:ext cx="5404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Corte transversal de detalhe do mini tanque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461772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749808" y="4617720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68680" y="4846320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Tubulação GRP de grande diâmetro enterrada sob a via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868680" y="521208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PV de entrada com retenção de areia e gradeamento, tanque de 1,50 m de diâmetro, PV de inspeção e limpeza, saída por placa de orifício em aço inox e tubulação de saída para o GAP existente.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MTR em trechos com e sem GAP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tr_gap_5.69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2029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com GAP: ligação ao poço existente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tr_semgap_5.69x4.4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1490472"/>
            <a:ext cx="5202936" cy="40416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sem GAP: saída por boca de lobo e sarjeta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Distribuição das galerias tanque de retardo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48640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strib_5.8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34009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Implantação das galerias ao longo da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355080" y="1417320"/>
            <a:ext cx="521208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464808" y="1417320"/>
            <a:ext cx="4992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Espalhadas, não concentradas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583680" y="2148840"/>
            <a:ext cx="47548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galerias são distribuídas nas cotas intermediárias, onde a chuva ainda pode ser interceptada.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Cada unidade retém uma parcela do volume e devolve à rede no ritmo que ela suporta.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O conjunto substitui uma única obra grande de fundo de vale por várias pequenas, de execução mais simples e menor transtorno.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Mancha de inundação: antes e depois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ancha_atual_5.69x4.0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90472"/>
            <a:ext cx="5202936" cy="36758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Cenário atual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ancha_mtr_5.69x4.0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490472"/>
            <a:ext cx="5202936" cy="367588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Com as galerias tanque de retardo (MTR)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mancha de inundação praticamente desaparece com a retenção distribuída.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Vantagens da modelagem no diagnóstico de drenagem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INOVAÇÃO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Otimização da capacidade hidráulica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simulação evita obras superdimensionadas, encontrando o diâmetro e a declividade exatos para cada trecho.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38912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1772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Máxima eficiência, menor custo global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Você conhece o resultado antes de investir. O dinheiro vai para a obra que resolve.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36676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Infraestrutura verde (SUDS)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Permite simular jardins de chuva, com biorretenção e infiltração na fonte, e pavimentos permeáveis, com retenção direta no piso urbano.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438912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38912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Diagnóstico antes da obra.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Ninguém abre rua por palpite: a simulação mostra onde intervir, com que diâmetro e em que ordem.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Arnaldo Boa Sorte de Oliveira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A3377"/>
                </a:solidFill>
              </a:rPr>
              <a:t>Consultor Sênior · Norte Sul Hidrotecnologia · gestao.servicostec@nortesultec.com.br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Luan Pacheco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Técnico em Saneamento · Norte Sul Hidrotecnologia · servicostec.sp1@nortesultec.com.br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equip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2584" y="1051560"/>
            <a:ext cx="4689032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Gestão+ Performance · Preparando cidades mais resilientes e sustentáveis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2026-10-16T16:17:02Z</dcterms:created>
  <dcterms:modified xsi:type="dcterms:W3CDTF">2026-10-16T16:17:02Z</dcterms:modified>
</cp:coreProperties>
</file>