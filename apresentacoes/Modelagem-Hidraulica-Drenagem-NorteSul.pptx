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image" Target="../media/image-1-2.jp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image" Target="../media/image-9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image" Target="../media/image-13-3.jpg"/><Relationship Id="rId4" Type="http://schemas.openxmlformats.org/officeDocument/2006/relationships/image" Target="../media/image-13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image" Target="../media/image-15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949440" y="502920"/>
            <a:ext cx="4663440" cy="5212080"/>
          </a:xfrm>
          <a:prstGeom prst="roundRect">
            <a:avLst>
              <a:gd name="adj" fmla="val 6863"/>
            </a:avLst>
          </a:prstGeom>
          <a:solidFill>
            <a:srgbClr val="0E3F8C"/>
          </a:solidFill>
          <a:ln w="12700">
            <a:solidFill>
              <a:srgbClr val="0E3F8C"/>
            </a:solidFill>
            <a:prstDash val="solid"/>
          </a:ln>
        </p:spPr>
      </p:sp>
      <p:pic>
        <p:nvPicPr>
          <p:cNvPr id="3" name="Image 0" descr="/tmp/claude-0/-home-user-norte-sul-portfolio/b828416d-028b-56b8-943d-a9bc67fc20c3/scratchpad/pptx_out/cropped/m_capa_4.8x5.4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86600" y="640080"/>
            <a:ext cx="4389120" cy="493776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640080" y="822960"/>
            <a:ext cx="6035040" cy="2926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Modelagem hidráulica aplicada no diagnóstico e soluções para alagamentos urbanos</a:t>
            </a:r>
            <a:endParaRPr lang="en-US" sz="3400" dirty="0"/>
          </a:p>
        </p:txBody>
      </p:sp>
      <p:sp>
        <p:nvSpPr>
          <p:cNvPr id="5" name="Text 2"/>
          <p:cNvSpPr txBox="1"/>
          <p:nvPr/>
        </p:nvSpPr>
        <p:spPr>
          <a:xfrm>
            <a:off x="640080" y="3931920"/>
            <a:ext cx="6035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Preparando cidades mais resilientes e sustentáveis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40080" y="5486400"/>
            <a:ext cx="6035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Arnaldo Boa Sorte de Oliveira · Luan Pacheco</a:t>
            </a:r>
            <a:endParaRPr lang="en-US" sz="11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01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contexto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Do cálculo estático à dinâmica urbana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cálculo estático à dinâmica urbana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CONTEXTO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Text 5"/>
          <p:cNvSpPr txBox="1"/>
          <p:nvPr/>
        </p:nvSpPr>
        <p:spPr>
          <a:xfrm>
            <a:off x="640080" y="1417320"/>
            <a:ext cx="57607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B6B88"/>
                </a:solidFill>
              </a:rPr>
              <a:t>O crescimento urbano desordenado e a impermeabilização do solo sobrecarregam os sistemas de drenagem, intensificando inundações recorrentes nas cidades brasileiras.</a:t>
            </a:r>
            <a:endParaRPr lang="en-US" sz="1300" dirty="0"/>
          </a:p>
        </p:txBody>
      </p:sp>
      <p:sp>
        <p:nvSpPr>
          <p:cNvPr id="10" name="Shape 6"/>
          <p:cNvSpPr/>
          <p:nvPr/>
        </p:nvSpPr>
        <p:spPr>
          <a:xfrm>
            <a:off x="6766560" y="1371600"/>
            <a:ext cx="480060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1" name="Image 2" descr="/tmp/claude-0/-home-user-norte-sul-portfolio/b828416d-028b-56b8-943d-a9bc67fc20c3/scratchpad/pptx_out/cropped/m_tunel_5.09x2.9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39712" y="1444752"/>
            <a:ext cx="4654296" cy="2670048"/>
          </a:xfrm>
          <a:prstGeom prst="rect">
            <a:avLst/>
          </a:prstGeom>
        </p:spPr>
      </p:pic>
      <p:sp>
        <p:nvSpPr>
          <p:cNvPr id="12" name="Text 7"/>
          <p:cNvSpPr txBox="1"/>
          <p:nvPr/>
        </p:nvSpPr>
        <p:spPr>
          <a:xfrm>
            <a:off x="6876288" y="4151376"/>
            <a:ext cx="45811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Túnel do Vale do Anhangabaú alagado após chuva em São Paulo, 14/10/2026</a:t>
            </a:r>
            <a:endParaRPr lang="en-US" sz="900" dirty="0"/>
          </a:p>
        </p:txBody>
      </p:sp>
      <p:sp>
        <p:nvSpPr>
          <p:cNvPr id="13" name="Shape 8"/>
          <p:cNvSpPr/>
          <p:nvPr/>
        </p:nvSpPr>
        <p:spPr>
          <a:xfrm>
            <a:off x="64008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9"/>
          <p:cNvSpPr/>
          <p:nvPr/>
        </p:nvSpPr>
        <p:spPr>
          <a:xfrm>
            <a:off x="74980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86868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social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86868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Famílias desalojadas, doenças de veiculação hídrica e interrupção de serviços públicos essenciais.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438912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449884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461772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econômico</a:t>
            </a:r>
            <a:endParaRPr lang="en-US" sz="1400" dirty="0"/>
          </a:p>
        </p:txBody>
      </p:sp>
      <p:sp>
        <p:nvSpPr>
          <p:cNvPr id="20" name="Text 15"/>
          <p:cNvSpPr txBox="1"/>
          <p:nvPr/>
        </p:nvSpPr>
        <p:spPr>
          <a:xfrm>
            <a:off x="461772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Paralisação de atividades comerciais e industriais, danos à infraestrutura da cidade e perda de valor imobiliário em áreas críticas.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8138160" y="4572000"/>
            <a:ext cx="3520440" cy="1554480"/>
          </a:xfrm>
          <a:prstGeom prst="roundRect">
            <a:avLst>
              <a:gd name="adj" fmla="val 70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2" name="Shape 17"/>
          <p:cNvSpPr/>
          <p:nvPr/>
        </p:nvSpPr>
        <p:spPr>
          <a:xfrm>
            <a:off x="8247888" y="457200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8366760" y="4800600"/>
            <a:ext cx="3063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Impacto político</a:t>
            </a:r>
            <a:endParaRPr lang="en-US" sz="1400" dirty="0"/>
          </a:p>
        </p:txBody>
      </p:sp>
      <p:sp>
        <p:nvSpPr>
          <p:cNvPr id="24" name="Text 19"/>
          <p:cNvSpPr txBox="1"/>
          <p:nvPr/>
        </p:nvSpPr>
        <p:spPr>
          <a:xfrm>
            <a:off x="8366760" y="5166360"/>
            <a:ext cx="3063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B6B88"/>
                </a:solidFill>
              </a:rPr>
              <a:t>Obras emergenciais caras com pouco efeito na raiz do problema comprometem a credibilidade da gestão municipal a cada inundação.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Do método empírico à simulação hidráulica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EVOLUÇÃO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Métodos empíricos tradicionais</a:t>
            </a:r>
            <a:endParaRPr lang="en-US" sz="1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Cálculos estáticos não representam as variações temporais da chuva.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Visão pontual dificulta avaliar remanso e refluxo na rede.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Risco de superdimensionamento ou de falha em gargalos dinâmicos.</a:t>
            </a:r>
            <a:endParaRPr lang="en-US" sz="1300" dirty="0"/>
          </a:p>
        </p:txBody>
      </p:sp>
      <p:sp>
        <p:nvSpPr>
          <p:cNvPr id="13" name="Shape 9"/>
          <p:cNvSpPr/>
          <p:nvPr/>
        </p:nvSpPr>
        <p:spPr>
          <a:xfrm>
            <a:off x="6217920" y="1417320"/>
            <a:ext cx="5349240" cy="2834640"/>
          </a:xfrm>
          <a:prstGeom prst="roundRect">
            <a:avLst>
              <a:gd name="adj" fmla="val 387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6327648" y="1417320"/>
            <a:ext cx="51297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6446520" y="1645920"/>
            <a:ext cx="4892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0A3377"/>
                </a:solidFill>
              </a:rPr>
              <a:t>Simulação hidráulica</a:t>
            </a:r>
            <a:endParaRPr lang="en-US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446520" y="2148840"/>
            <a:ext cx="489204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Dinâmica temporal por hidrogramas reais de escoamento contínuo.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Acoplamento entre rede subterrânea e superfície urbana.</a:t>
            </a:r>
            <a:endParaRPr lang="en-US" sz="13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300" dirty="0">
                <a:solidFill>
                  <a:srgbClr val="5B6B88"/>
                </a:solidFill>
              </a:rPr>
              <a:t>Teste virtual das intervenções antes da execução da obra.</a:t>
            </a:r>
            <a:endParaRPr lang="en-US" sz="1300" dirty="0"/>
          </a:p>
        </p:txBody>
      </p:sp>
      <p:sp>
        <p:nvSpPr>
          <p:cNvPr id="17" name="Shape 13"/>
          <p:cNvSpPr/>
          <p:nvPr/>
        </p:nvSpPr>
        <p:spPr>
          <a:xfrm>
            <a:off x="5788152" y="2514600"/>
            <a:ext cx="640080" cy="640080"/>
          </a:xfrm>
          <a:prstGeom prst="ellipse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8" name="Text 14"/>
          <p:cNvSpPr txBox="1"/>
          <p:nvPr/>
        </p:nvSpPr>
        <p:spPr>
          <a:xfrm>
            <a:off x="5788152" y="25146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0A3377"/>
                </a:solidFill>
              </a:rPr>
              <a:t>→</a:t>
            </a:r>
            <a:endParaRPr lang="en-US" sz="2200" dirty="0"/>
          </a:p>
        </p:txBody>
      </p:sp>
      <p:sp>
        <p:nvSpPr>
          <p:cNvPr id="19" name="Shape 15"/>
          <p:cNvSpPr/>
          <p:nvPr/>
        </p:nvSpPr>
        <p:spPr>
          <a:xfrm>
            <a:off x="640080" y="4480560"/>
            <a:ext cx="1463040" cy="1463040"/>
          </a:xfrm>
          <a:prstGeom prst="roundRect">
            <a:avLst>
              <a:gd name="adj" fmla="val 75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20" name="Image 2" descr="/tmp/claude-0/-home-user-norte-sul-portfolio/b828416d-028b-56b8-943d-a9bc67fc20c3/scratchpad/pptx_out/cropped/m_equipe_1.44x1.44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4553712"/>
            <a:ext cx="1316736" cy="1316736"/>
          </a:xfrm>
          <a:prstGeom prst="rect">
            <a:avLst/>
          </a:prstGeom>
        </p:spPr>
      </p:pic>
      <p:sp>
        <p:nvSpPr>
          <p:cNvPr id="21" name="Shape 16"/>
          <p:cNvSpPr/>
          <p:nvPr/>
        </p:nvSpPr>
        <p:spPr>
          <a:xfrm>
            <a:off x="2286000" y="4480560"/>
            <a:ext cx="9281160" cy="1463040"/>
          </a:xfrm>
          <a:prstGeom prst="roundRect">
            <a:avLst>
              <a:gd name="adj" fmla="val 6250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2606040" y="4480560"/>
            <a:ext cx="86868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O modelo responde a pergunta certa: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não é só quanto chove, é como a água se move pela rede e pela rua ao longo do tempo, minuto a minuto.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Quatro etapas, do dado à decisão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MÉTODO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840480" cy="45262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rede_4.0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69417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36210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modelada na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486460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498348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5" name="Text 10"/>
          <p:cNvSpPr txBox="1"/>
          <p:nvPr/>
        </p:nvSpPr>
        <p:spPr>
          <a:xfrm>
            <a:off x="498348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Coleta de dados</a:t>
            </a:r>
            <a:endParaRPr lang="en-US" sz="1400" dirty="0"/>
          </a:p>
        </p:txBody>
      </p:sp>
      <p:sp>
        <p:nvSpPr>
          <p:cNvPr id="16" name="Text 11"/>
          <p:cNvSpPr txBox="1"/>
          <p:nvPr/>
        </p:nvSpPr>
        <p:spPr>
          <a:xfrm>
            <a:off x="498348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Topografia, dados meteorológicos e infraestrutura existente.</a:t>
            </a:r>
            <a:endParaRPr lang="en-US" sz="1100" dirty="0"/>
          </a:p>
        </p:txBody>
      </p:sp>
      <p:sp>
        <p:nvSpPr>
          <p:cNvPr id="17" name="Shape 12"/>
          <p:cNvSpPr/>
          <p:nvPr/>
        </p:nvSpPr>
        <p:spPr>
          <a:xfrm>
            <a:off x="8229600" y="141732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3"/>
          <p:cNvSpPr/>
          <p:nvPr/>
        </p:nvSpPr>
        <p:spPr>
          <a:xfrm>
            <a:off x="8339328" y="141732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58200" y="164592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20" name="Text 15"/>
          <p:cNvSpPr txBox="1"/>
          <p:nvPr/>
        </p:nvSpPr>
        <p:spPr>
          <a:xfrm>
            <a:off x="8458200" y="214884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Construção do modelo</a:t>
            </a:r>
            <a:endParaRPr lang="en-US" sz="1400" dirty="0"/>
          </a:p>
        </p:txBody>
      </p:sp>
      <p:sp>
        <p:nvSpPr>
          <p:cNvPr id="21" name="Text 16"/>
          <p:cNvSpPr txBox="1"/>
          <p:nvPr/>
        </p:nvSpPr>
        <p:spPr>
          <a:xfrm>
            <a:off x="8458200" y="251460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Montagem das bacias de contribuição, nós, condutos e calhas viárias.</a:t>
            </a:r>
            <a:endParaRPr lang="en-US" sz="1100" dirty="0"/>
          </a:p>
        </p:txBody>
      </p:sp>
      <p:sp>
        <p:nvSpPr>
          <p:cNvPr id="22" name="Shape 17"/>
          <p:cNvSpPr/>
          <p:nvPr/>
        </p:nvSpPr>
        <p:spPr>
          <a:xfrm>
            <a:off x="475488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86460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4" name="Text 19"/>
          <p:cNvSpPr txBox="1"/>
          <p:nvPr/>
        </p:nvSpPr>
        <p:spPr>
          <a:xfrm>
            <a:off x="498348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5" name="Text 20"/>
          <p:cNvSpPr txBox="1"/>
          <p:nvPr/>
        </p:nvSpPr>
        <p:spPr>
          <a:xfrm>
            <a:off x="498348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Calibração</a:t>
            </a:r>
            <a:endParaRPr lang="en-US" sz="1400" dirty="0"/>
          </a:p>
        </p:txBody>
      </p:sp>
      <p:sp>
        <p:nvSpPr>
          <p:cNvPr id="26" name="Text 21"/>
          <p:cNvSpPr txBox="1"/>
          <p:nvPr/>
        </p:nvSpPr>
        <p:spPr>
          <a:xfrm>
            <a:off x="498348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Ajuste com base em eventos históricos e marcas de cheia monitoradas.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8229600" y="3749040"/>
            <a:ext cx="3291840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8" name="Shape 23"/>
          <p:cNvSpPr/>
          <p:nvPr/>
        </p:nvSpPr>
        <p:spPr>
          <a:xfrm>
            <a:off x="8339328" y="3749040"/>
            <a:ext cx="30723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9" name="Text 24"/>
          <p:cNvSpPr txBox="1"/>
          <p:nvPr/>
        </p:nvSpPr>
        <p:spPr>
          <a:xfrm>
            <a:off x="8458200" y="3977640"/>
            <a:ext cx="28346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04</a:t>
            </a:r>
            <a:endParaRPr lang="en-US" sz="2600" dirty="0"/>
          </a:p>
        </p:txBody>
      </p:sp>
      <p:sp>
        <p:nvSpPr>
          <p:cNvPr id="30" name="Text 25"/>
          <p:cNvSpPr txBox="1"/>
          <p:nvPr/>
        </p:nvSpPr>
        <p:spPr>
          <a:xfrm>
            <a:off x="8458200" y="4480560"/>
            <a:ext cx="28346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Simulações</a:t>
            </a:r>
            <a:endParaRPr lang="en-US" sz="1400" dirty="0"/>
          </a:p>
        </p:txBody>
      </p:sp>
      <p:sp>
        <p:nvSpPr>
          <p:cNvPr id="31" name="Text 26"/>
          <p:cNvSpPr txBox="1"/>
          <p:nvPr/>
        </p:nvSpPr>
        <p:spPr>
          <a:xfrm>
            <a:off x="8458200" y="4846320"/>
            <a:ext cx="2834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Diagnóstico de extravasamento e dimensionamento das intervenções.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Cenários testáveis no modelo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AS ALTERNATIVAS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0" y="1417320"/>
            <a:ext cx="5166360" cy="3657600"/>
          </a:xfrm>
          <a:prstGeom prst="roundRect">
            <a:avLst>
              <a:gd name="adj" fmla="val 3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bacia_5.49x3.5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1490472"/>
            <a:ext cx="5020056" cy="32186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6510528" y="4745736"/>
            <a:ext cx="49469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Extravasamento por trecho e bacias funcionais no cenário simulado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2296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galerias pluviais</a:t>
            </a:r>
            <a:endParaRPr lang="en-US" sz="1200" dirty="0"/>
          </a:p>
        </p:txBody>
      </p:sp>
      <p:sp>
        <p:nvSpPr>
          <p:cNvPr id="14" name="Shape 9"/>
          <p:cNvSpPr/>
          <p:nvPr/>
        </p:nvSpPr>
        <p:spPr>
          <a:xfrm>
            <a:off x="3429000" y="141732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5" name="Text 10"/>
          <p:cNvSpPr txBox="1"/>
          <p:nvPr/>
        </p:nvSpPr>
        <p:spPr>
          <a:xfrm>
            <a:off x="3611880" y="141732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Remanejamento e aumento de diâmetro</a:t>
            </a:r>
            <a:endParaRPr lang="en-US" sz="1200" dirty="0"/>
          </a:p>
        </p:txBody>
      </p:sp>
      <p:sp>
        <p:nvSpPr>
          <p:cNvPr id="16" name="Shape 11"/>
          <p:cNvSpPr/>
          <p:nvPr/>
        </p:nvSpPr>
        <p:spPr>
          <a:xfrm>
            <a:off x="64008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7" name="Text 12"/>
          <p:cNvSpPr txBox="1"/>
          <p:nvPr/>
        </p:nvSpPr>
        <p:spPr>
          <a:xfrm>
            <a:off x="82296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Novas bocas de lobo</a:t>
            </a:r>
            <a:endParaRPr lang="en-US" sz="1200" dirty="0"/>
          </a:p>
        </p:txBody>
      </p:sp>
      <p:sp>
        <p:nvSpPr>
          <p:cNvPr id="18" name="Shape 13"/>
          <p:cNvSpPr/>
          <p:nvPr/>
        </p:nvSpPr>
        <p:spPr>
          <a:xfrm>
            <a:off x="3429000" y="242316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3611880" y="242316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Aumento de calha</a:t>
            </a:r>
            <a:endParaRPr lang="en-US" sz="1200" dirty="0"/>
          </a:p>
        </p:txBody>
      </p:sp>
      <p:sp>
        <p:nvSpPr>
          <p:cNvPr id="20" name="Shape 15"/>
          <p:cNvSpPr/>
          <p:nvPr/>
        </p:nvSpPr>
        <p:spPr>
          <a:xfrm>
            <a:off x="64008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1" name="Text 16"/>
          <p:cNvSpPr txBox="1"/>
          <p:nvPr/>
        </p:nvSpPr>
        <p:spPr>
          <a:xfrm>
            <a:off x="82296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Piscinões</a:t>
            </a:r>
            <a:endParaRPr lang="en-US" sz="1200" dirty="0"/>
          </a:p>
        </p:txBody>
      </p:sp>
      <p:sp>
        <p:nvSpPr>
          <p:cNvPr id="22" name="Shape 17"/>
          <p:cNvSpPr/>
          <p:nvPr/>
        </p:nvSpPr>
        <p:spPr>
          <a:xfrm>
            <a:off x="3429000" y="342900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sp>
        <p:nvSpPr>
          <p:cNvPr id="23" name="Text 18"/>
          <p:cNvSpPr txBox="1"/>
          <p:nvPr/>
        </p:nvSpPr>
        <p:spPr>
          <a:xfrm>
            <a:off x="3611880" y="342900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Parques lineares para infiltração</a:t>
            </a:r>
            <a:endParaRPr lang="en-US" sz="1200" dirty="0"/>
          </a:p>
        </p:txBody>
      </p:sp>
      <p:sp>
        <p:nvSpPr>
          <p:cNvPr id="24" name="Shape 19"/>
          <p:cNvSpPr/>
          <p:nvPr/>
        </p:nvSpPr>
        <p:spPr>
          <a:xfrm>
            <a:off x="640080" y="4434840"/>
            <a:ext cx="2651760" cy="822960"/>
          </a:xfrm>
          <a:prstGeom prst="roundRect">
            <a:avLst>
              <a:gd name="adj" fmla="val 11111"/>
            </a:avLst>
          </a:prstGeom>
          <a:solidFill>
            <a:srgbClr val="0A3377"/>
          </a:solidFill>
          <a:ln w="9525">
            <a:solidFill>
              <a:srgbClr val="0A3377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22960" y="4434840"/>
            <a:ext cx="2286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Galerias tanque de retardo</a:t>
            </a:r>
            <a:endParaRPr lang="en-US" sz="1200" dirty="0"/>
          </a:p>
        </p:txBody>
      </p:sp>
      <p:sp>
        <p:nvSpPr>
          <p:cNvPr id="26" name="Shape 21"/>
          <p:cNvSpPr/>
          <p:nvPr/>
        </p:nvSpPr>
        <p:spPr>
          <a:xfrm>
            <a:off x="640080" y="54406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7" name="Text 22"/>
          <p:cNvSpPr txBox="1"/>
          <p:nvPr/>
        </p:nvSpPr>
        <p:spPr>
          <a:xfrm>
            <a:off x="822960" y="54406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Cada alternativa é simulada antes da obra: o resultado é conhecido antes de investir.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5204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502920"/>
            <a:ext cx="3657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38D4FF"/>
                </a:solidFill>
              </a:rPr>
              <a:t>02</a:t>
            </a:r>
            <a:endParaRPr lang="en-US" sz="6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393192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</a:rPr>
              <a:t>O case: micro bacia ACD-05</a:t>
            </a:r>
            <a:endParaRPr lang="en-US" sz="3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48006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6FF"/>
                </a:solidFill>
              </a:rPr>
              <a:t>Carandiru · Ten. Rocha, zona norte de São Paulo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6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A micro bacia em números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O CASE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7589520" y="1280160"/>
            <a:ext cx="3977640" cy="4754880"/>
          </a:xfrm>
          <a:prstGeom prst="roundRect">
            <a:avLst>
              <a:gd name="adj" fmla="val 275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aerea_4.19x4.7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2672" y="1353312"/>
            <a:ext cx="3831336" cy="43159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699248" y="5705856"/>
            <a:ext cx="3758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Perímetro da micro bacia ACD-05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4008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3" name="Text 8"/>
          <p:cNvSpPr txBox="1"/>
          <p:nvPr/>
        </p:nvSpPr>
        <p:spPr>
          <a:xfrm>
            <a:off x="84124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91,4%</a:t>
            </a:r>
            <a:endParaRPr lang="en-US" sz="3600" dirty="0"/>
          </a:p>
        </p:txBody>
      </p:sp>
      <p:sp>
        <p:nvSpPr>
          <p:cNvPr id="14" name="Text 9"/>
          <p:cNvSpPr txBox="1"/>
          <p:nvPr/>
        </p:nvSpPr>
        <p:spPr>
          <a:xfrm>
            <a:off x="84124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impermeabilização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4023360" y="155448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1"/>
          <p:cNvSpPr txBox="1"/>
          <p:nvPr/>
        </p:nvSpPr>
        <p:spPr>
          <a:xfrm>
            <a:off x="4224528" y="155448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250.420 m²</a:t>
            </a:r>
            <a:endParaRPr lang="en-US" sz="3600" dirty="0"/>
          </a:p>
        </p:txBody>
      </p:sp>
      <p:sp>
        <p:nvSpPr>
          <p:cNvPr id="17" name="Text 12"/>
          <p:cNvSpPr txBox="1"/>
          <p:nvPr/>
        </p:nvSpPr>
        <p:spPr>
          <a:xfrm>
            <a:off x="4224528" y="228600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área (0,25 km²)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64008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4"/>
          <p:cNvSpPr txBox="1"/>
          <p:nvPr/>
        </p:nvSpPr>
        <p:spPr>
          <a:xfrm>
            <a:off x="84124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1.100 m</a:t>
            </a:r>
            <a:endParaRPr lang="en-US" sz="3600" dirty="0"/>
          </a:p>
        </p:txBody>
      </p:sp>
      <p:sp>
        <p:nvSpPr>
          <p:cNvPr id="20" name="Text 15"/>
          <p:cNvSpPr txBox="1"/>
          <p:nvPr/>
        </p:nvSpPr>
        <p:spPr>
          <a:xfrm>
            <a:off x="84124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talvegue</a:t>
            </a:r>
            <a:endParaRPr lang="en-US" sz="1100" dirty="0"/>
          </a:p>
        </p:txBody>
      </p:sp>
      <p:sp>
        <p:nvSpPr>
          <p:cNvPr id="21" name="Shape 16"/>
          <p:cNvSpPr/>
          <p:nvPr/>
        </p:nvSpPr>
        <p:spPr>
          <a:xfrm>
            <a:off x="4023360" y="310896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2" name="Text 17"/>
          <p:cNvSpPr txBox="1"/>
          <p:nvPr/>
        </p:nvSpPr>
        <p:spPr>
          <a:xfrm>
            <a:off x="4224528" y="310896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5%</a:t>
            </a:r>
            <a:endParaRPr lang="en-US" sz="3600" dirty="0"/>
          </a:p>
        </p:txBody>
      </p:sp>
      <p:sp>
        <p:nvSpPr>
          <p:cNvPr id="23" name="Text 18"/>
          <p:cNvSpPr txBox="1"/>
          <p:nvPr/>
        </p:nvSpPr>
        <p:spPr>
          <a:xfrm>
            <a:off x="4224528" y="384048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declividade média (0,05 m/m)</a:t>
            </a:r>
            <a:endParaRPr lang="en-US" sz="1100" dirty="0"/>
          </a:p>
        </p:txBody>
      </p:sp>
      <p:sp>
        <p:nvSpPr>
          <p:cNvPr id="24" name="Shape 19"/>
          <p:cNvSpPr/>
          <p:nvPr/>
        </p:nvSpPr>
        <p:spPr>
          <a:xfrm>
            <a:off x="64008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0"/>
          <p:cNvSpPr txBox="1"/>
          <p:nvPr/>
        </p:nvSpPr>
        <p:spPr>
          <a:xfrm>
            <a:off x="84124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55,3 m</a:t>
            </a:r>
            <a:endParaRPr lang="en-US" sz="3600" dirty="0"/>
          </a:p>
        </p:txBody>
      </p:sp>
      <p:sp>
        <p:nvSpPr>
          <p:cNvPr id="26" name="Text 21"/>
          <p:cNvSpPr txBox="1"/>
          <p:nvPr/>
        </p:nvSpPr>
        <p:spPr>
          <a:xfrm>
            <a:off x="84124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de amplitude (779,9 m a 724,6 m)</a:t>
            </a:r>
            <a:endParaRPr lang="en-US" sz="1100" dirty="0"/>
          </a:p>
        </p:txBody>
      </p:sp>
      <p:sp>
        <p:nvSpPr>
          <p:cNvPr id="27" name="Shape 22"/>
          <p:cNvSpPr/>
          <p:nvPr/>
        </p:nvSpPr>
        <p:spPr>
          <a:xfrm>
            <a:off x="4023360" y="4663440"/>
            <a:ext cx="45720" cy="100584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8" name="Text 23"/>
          <p:cNvSpPr txBox="1"/>
          <p:nvPr/>
        </p:nvSpPr>
        <p:spPr>
          <a:xfrm>
            <a:off x="4224528" y="4663440"/>
            <a:ext cx="2999232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38D4FF"/>
                </a:solidFill>
              </a:rPr>
              <a:t>13 min</a:t>
            </a:r>
            <a:endParaRPr lang="en-US" sz="3600" dirty="0"/>
          </a:p>
        </p:txBody>
      </p:sp>
      <p:sp>
        <p:nvSpPr>
          <p:cNvPr id="29" name="Text 24"/>
          <p:cNvSpPr txBox="1"/>
          <p:nvPr/>
        </p:nvSpPr>
        <p:spPr>
          <a:xfrm>
            <a:off x="4224528" y="5394960"/>
            <a:ext cx="299923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CFE6FF"/>
                </a:solidFill>
              </a:rPr>
              <a:t>da cota mais alta ao fundo de vale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Diagnóstico preliminar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DIAGNÓSTICO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ag_5.4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Pontos intransitáveis (CET/CGE) e trechos alagáveis (FCTH)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035040" y="1417320"/>
            <a:ext cx="55321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144768" y="1417320"/>
            <a:ext cx="531266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263640" y="1645920"/>
            <a:ext cx="5074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que o modelo mostrou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263640" y="2148840"/>
            <a:ext cx="507492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topografia acidentada impõe escoamento superficial nos trechos mais altos: em tubulação, as velocidades passariam de 5 m/s.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vazões dos pontos mais altos chegam ao fundo de vale em apenas 13 minutos.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 infraestrutura existente é insuficiente para as vazões geradas.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Pontos em vermelho: intransitáveis segundo CET e CGE, na Av. Braz Leme e Rua Dr. Cesar, em Santana.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Trechos em laranja: ruas alagáveis segundo a Fundação Centro Tecnológico de Hidráulica.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Conferência do cadastro técnico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931920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cadastro_4.14x3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3785616" cy="31272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654296"/>
            <a:ext cx="37124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Rede de drenagem e seções cadastradas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4754880" y="1417320"/>
            <a:ext cx="6812280" cy="233172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planta_7.29x2.07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490472"/>
            <a:ext cx="6665976" cy="18928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4864608" y="3419856"/>
            <a:ext cx="6592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Planta da Av. Braz Leme: galeria conferida em campo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4754880" y="3931920"/>
            <a:ext cx="6812280" cy="1965960"/>
          </a:xfrm>
          <a:prstGeom prst="roundRect">
            <a:avLst>
              <a:gd name="adj" fmla="val 5581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4864608" y="3931920"/>
            <a:ext cx="65928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4983480" y="4160520"/>
            <a:ext cx="6355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Cadastro bom, modelo confiável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4983480" y="4663440"/>
            <a:ext cx="635508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A confiabilidade do resultado da modelagem é consequência direta de um cadastro técnico bem feito. Na Braz Leme, o cadastro indicava rede circular de 1.200 mm onde, na realidade, existe galeria quadrada de 1.500 × 1.400 mm. A conferência foi decisiva para a solução.</a:t>
            </a:r>
            <a:endParaRPr lang="en-US" sz="1100" dirty="0"/>
          </a:p>
        </p:txBody>
      </p:sp>
      <p:sp>
        <p:nvSpPr>
          <p:cNvPr id="19" name="Shape 13"/>
          <p:cNvSpPr/>
          <p:nvPr/>
        </p:nvSpPr>
        <p:spPr>
          <a:xfrm>
            <a:off x="640080" y="52120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0" name="Text 14"/>
          <p:cNvSpPr txBox="1"/>
          <p:nvPr/>
        </p:nvSpPr>
        <p:spPr>
          <a:xfrm>
            <a:off x="822960" y="5212080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Sem cadastro conferido, a simulação erra junto com o desenho.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Parâmetros hidrológicos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76072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hieto_6.14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61441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5412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Hietograma da micro bacia para chuva de 60 minutos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675120" y="1417320"/>
            <a:ext cx="48920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784848" y="1417320"/>
            <a:ext cx="46725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903720" y="1645920"/>
            <a:ext cx="4434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 perfil da tempestade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903720" y="2148840"/>
            <a:ext cx="4434840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Com o tempo de concentração e a intensidade de chuva da micro bacia, define-se o hietograma: o comportamento da chuva ao longo de um período.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Ele funciona como o perfil de uma tempestade: mostra quando a chuva foi fraca, quando atingiu o pico e quando começou a cessar.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É esse perfil que alimenta a simulação e dimensiona as intervenções.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Captar, reter e liberar no ritmo da rede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A ESTRATÉGIA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01</a:t>
            </a:r>
            <a:endParaRPr lang="en-US" sz="26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Captação na fonte</a:t>
            </a:r>
            <a:endParaRPr lang="en-US" sz="1500" dirty="0"/>
          </a:p>
        </p:txBody>
      </p:sp>
      <p:sp>
        <p:nvSpPr>
          <p:cNvPr id="13" name="Text 9"/>
          <p:cNvSpPr txBox="1"/>
          <p:nvPr/>
        </p:nvSpPr>
        <p:spPr>
          <a:xfrm>
            <a:off x="86868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Bocas de lobo interceptam a chuva nas cotas intermediárias e desviam o fluxo para o interior das galerias tanque de retardo antes de atingir o fundo de vale.</a:t>
            </a:r>
            <a:endParaRPr lang="en-US" sz="1200" dirty="0"/>
          </a:p>
        </p:txBody>
      </p:sp>
      <p:sp>
        <p:nvSpPr>
          <p:cNvPr id="14" name="Shape 10"/>
          <p:cNvSpPr/>
          <p:nvPr/>
        </p:nvSpPr>
        <p:spPr>
          <a:xfrm>
            <a:off x="438912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5" name="Shape 11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2"/>
          <p:cNvSpPr txBox="1"/>
          <p:nvPr/>
        </p:nvSpPr>
        <p:spPr>
          <a:xfrm>
            <a:off x="461772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02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461772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Retenção temporária</a:t>
            </a:r>
            <a:endParaRPr lang="en-US" sz="1500" dirty="0"/>
          </a:p>
        </p:txBody>
      </p:sp>
      <p:sp>
        <p:nvSpPr>
          <p:cNvPr id="18" name="Text 14"/>
          <p:cNvSpPr txBox="1"/>
          <p:nvPr/>
        </p:nvSpPr>
        <p:spPr>
          <a:xfrm>
            <a:off x="461772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As galerias tanque de retardo armazenam o volume excedente que sobrecarregaria as estruturas de fundo de vale durante as chuvas.</a:t>
            </a:r>
            <a:endParaRPr lang="en-US" sz="1200" dirty="0"/>
          </a:p>
        </p:txBody>
      </p:sp>
      <p:sp>
        <p:nvSpPr>
          <p:cNvPr id="19" name="Shape 15"/>
          <p:cNvSpPr/>
          <p:nvPr/>
        </p:nvSpPr>
        <p:spPr>
          <a:xfrm>
            <a:off x="8138160" y="141732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1" name="Text 17"/>
          <p:cNvSpPr txBox="1"/>
          <p:nvPr/>
        </p:nvSpPr>
        <p:spPr>
          <a:xfrm>
            <a:off x="8366760" y="1645920"/>
            <a:ext cx="3063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38D4FF"/>
                </a:solidFill>
              </a:rPr>
              <a:t>03</a:t>
            </a:r>
            <a:endParaRPr lang="en-US" sz="2600" dirty="0"/>
          </a:p>
        </p:txBody>
      </p:sp>
      <p:sp>
        <p:nvSpPr>
          <p:cNvPr id="22" name="Text 18"/>
          <p:cNvSpPr txBox="1"/>
          <p:nvPr/>
        </p:nvSpPr>
        <p:spPr>
          <a:xfrm>
            <a:off x="8366760" y="214884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Descarga controlada</a:t>
            </a:r>
            <a:endParaRPr lang="en-US" sz="1500" dirty="0"/>
          </a:p>
        </p:txBody>
      </p:sp>
      <p:sp>
        <p:nvSpPr>
          <p:cNvPr id="23" name="Text 19"/>
          <p:cNvSpPr txBox="1"/>
          <p:nvPr/>
        </p:nvSpPr>
        <p:spPr>
          <a:xfrm>
            <a:off x="8366760" y="2560320"/>
            <a:ext cx="306324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água armazenada é liberada de forma contínua, dentro da capacidade nominal da infraestrutura existente a jusante.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640080" y="557784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25" name="Text 21"/>
          <p:cNvSpPr txBox="1"/>
          <p:nvPr/>
        </p:nvSpPr>
        <p:spPr>
          <a:xfrm>
            <a:off x="822960" y="557784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A3377"/>
                </a:solidFill>
              </a:rPr>
              <a:t>A rede existente continua a mesma. O que muda é quando a água chega nela.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O que são galerias tanque de retardo?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12064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tanque_iso_5.44x2.8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4974336" cy="257860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4105656"/>
            <a:ext cx="49011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Vista isométrica do tanque de retenção de picos de cheia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5943600" y="1417320"/>
            <a:ext cx="5623560" cy="301752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tanque_corte_5.99x2.8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16752" y="1490472"/>
            <a:ext cx="5477256" cy="257860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053328" y="4105656"/>
            <a:ext cx="54041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Corte transversal de detalhe do mini tanque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4617720"/>
            <a:ext cx="10927080" cy="13716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6" name="Shape 10"/>
          <p:cNvSpPr/>
          <p:nvPr/>
        </p:nvSpPr>
        <p:spPr>
          <a:xfrm>
            <a:off x="749808" y="4617720"/>
            <a:ext cx="10707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7" name="Text 11"/>
          <p:cNvSpPr txBox="1"/>
          <p:nvPr/>
        </p:nvSpPr>
        <p:spPr>
          <a:xfrm>
            <a:off x="868680" y="4846320"/>
            <a:ext cx="10469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Tubulação GRP de grande diâmetro enterrada sob a via</a:t>
            </a:r>
            <a:endParaRPr lang="en-US" sz="1400" dirty="0"/>
          </a:p>
        </p:txBody>
      </p:sp>
      <p:sp>
        <p:nvSpPr>
          <p:cNvPr id="18" name="Text 12"/>
          <p:cNvSpPr txBox="1"/>
          <p:nvPr/>
        </p:nvSpPr>
        <p:spPr>
          <a:xfrm>
            <a:off x="868680" y="5212080"/>
            <a:ext cx="104698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B6B88"/>
                </a:solidFill>
              </a:rPr>
              <a:t>PV de entrada com retenção de areia e gradeamento, tanque de 1,50 m de diâmetro, PV de inspeção e limpeza, saída por placa de orifício em aço inox e tubulação de saída para o GAP existente.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MTR em trechos com e sem GAP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tr_gap_5.69x4.42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202936" cy="40416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com GAP: ligação ao poço existente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480560"/>
          </a:xfrm>
          <a:prstGeom prst="roundRect">
            <a:avLst>
              <a:gd name="adj" fmla="val 2449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tr_semgap_5.69x4.4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91072" y="1490472"/>
            <a:ext cx="5202936" cy="404164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56869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Trecho sem GAP: saída por boca de lobo e sarjeta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Distribuição das galerias tanque de retardo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ENGENHARIA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48640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distrib_5.84x4.47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3232" y="1490472"/>
            <a:ext cx="5340096" cy="408736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614416"/>
            <a:ext cx="526694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Implantação das galerias ao longo da micro bacia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355080" y="1417320"/>
            <a:ext cx="5212080" cy="4526280"/>
          </a:xfrm>
          <a:prstGeom prst="roundRect">
            <a:avLst>
              <a:gd name="adj" fmla="val 2424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3" name="Shape 8"/>
          <p:cNvSpPr/>
          <p:nvPr/>
        </p:nvSpPr>
        <p:spPr>
          <a:xfrm>
            <a:off x="6464808" y="1417320"/>
            <a:ext cx="499262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4" name="Text 9"/>
          <p:cNvSpPr txBox="1"/>
          <p:nvPr/>
        </p:nvSpPr>
        <p:spPr>
          <a:xfrm>
            <a:off x="6583680" y="1645920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Espalhadas, não concentradas</a:t>
            </a:r>
            <a:endParaRPr lang="en-US" sz="1500" dirty="0"/>
          </a:p>
        </p:txBody>
      </p:sp>
      <p:sp>
        <p:nvSpPr>
          <p:cNvPr id="15" name="Text 10"/>
          <p:cNvSpPr txBox="1"/>
          <p:nvPr/>
        </p:nvSpPr>
        <p:spPr>
          <a:xfrm>
            <a:off x="6583680" y="2148840"/>
            <a:ext cx="4754880" cy="3611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As galerias são distribuídas nas cotas intermediárias, onde a chuva ainda pode ser interceptada.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Cada unidade retém uma parcela do volume e devolve à rede no ritmo que ela suporta.</a:t>
            </a:r>
            <a:endParaRPr lang="en-US" sz="1200" dirty="0"/>
          </a:p>
          <a:p>
            <a:pPr marL="152400" indent="-152400">
              <a:spcAft>
                <a:spcPts val="400"/>
              </a:spcAft>
              <a:buSzPct val="100000"/>
              <a:buChar char="•"/>
            </a:pPr>
            <a:r>
              <a:rPr lang="en-US" sz="1200" dirty="0">
                <a:solidFill>
                  <a:srgbClr val="5B6B88"/>
                </a:solidFill>
              </a:rPr>
              <a:t>O conjunto substitui uma única obra grande de fundo de vale por várias pequenas, de execução mais simples e menor transtorno.</a:t>
            </a:r>
            <a:endParaRPr lang="en-US" sz="12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</a:rPr>
              <a:t>Mancha de inundação: antes e depois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RESULTADO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0" name="Image 2" descr="/tmp/claude-0/-home-user-norte-sul-portfolio/b828416d-028b-56b8-943d-a9bc67fc20c3/scratchpad/pptx_out/cropped/m_mancha_atual_5.69x4.02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3232" y="1490472"/>
            <a:ext cx="5202936" cy="367588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74980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Cenário atual</a:t>
            </a:r>
            <a:endParaRPr lang="en-US" sz="900" dirty="0"/>
          </a:p>
        </p:txBody>
      </p:sp>
      <p:sp>
        <p:nvSpPr>
          <p:cNvPr id="12" name="Shape 7"/>
          <p:cNvSpPr/>
          <p:nvPr/>
        </p:nvSpPr>
        <p:spPr>
          <a:xfrm>
            <a:off x="6217920" y="1417320"/>
            <a:ext cx="5349240" cy="41148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101600" dist="19050" dir="5400000">
              <a:srgbClr val="0A3377">
                <a:alpha val="12000"/>
              </a:srgbClr>
            </a:outerShdw>
          </a:effectLst>
        </p:spPr>
      </p:sp>
      <p:pic>
        <p:nvPicPr>
          <p:cNvPr id="13" name="Image 3" descr="/tmp/claude-0/-home-user-norte-sul-portfolio/b828416d-028b-56b8-943d-a9bc67fc20c3/scratchpad/pptx_out/cropped/m_mancha_mtr_5.69x4.02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1072" y="1490472"/>
            <a:ext cx="5202936" cy="3675888"/>
          </a:xfrm>
          <a:prstGeom prst="rect">
            <a:avLst/>
          </a:prstGeom>
        </p:spPr>
      </p:pic>
      <p:sp>
        <p:nvSpPr>
          <p:cNvPr id="14" name="Text 8"/>
          <p:cNvSpPr txBox="1"/>
          <p:nvPr/>
        </p:nvSpPr>
        <p:spPr>
          <a:xfrm>
            <a:off x="6327648" y="5202936"/>
            <a:ext cx="51297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B6B88"/>
                </a:solidFill>
              </a:rPr>
              <a:t>Com as galerias tanque de retardo (MTR)</a:t>
            </a:r>
            <a:endParaRPr lang="en-US" sz="900" dirty="0"/>
          </a:p>
        </p:txBody>
      </p:sp>
      <p:sp>
        <p:nvSpPr>
          <p:cNvPr id="15" name="Shape 9"/>
          <p:cNvSpPr/>
          <p:nvPr/>
        </p:nvSpPr>
        <p:spPr>
          <a:xfrm>
            <a:off x="640080" y="5669280"/>
            <a:ext cx="54864" cy="45720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6" name="Text 10"/>
          <p:cNvSpPr txBox="1"/>
          <p:nvPr/>
        </p:nvSpPr>
        <p:spPr>
          <a:xfrm>
            <a:off x="822960" y="566928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 mancha de inundação praticamente desaparece com a retenção distribuída.</a:t>
            </a:r>
            <a:endParaRPr lang="en-US" sz="12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3F6F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0A3377"/>
                </a:solidFill>
              </a:rPr>
              <a:t>Vantagens da modelagem no diagnóstico de drenagem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411480"/>
            <a:ext cx="7315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300" kern="0" dirty="0">
                <a:solidFill>
                  <a:srgbClr val="38D4FF"/>
                </a:solidFill>
              </a:rPr>
              <a:t>INOVAÇÃO</a:t>
            </a:r>
            <a:endParaRPr lang="en-US" sz="900" dirty="0"/>
          </a:p>
        </p:txBody>
      </p:sp>
      <p:sp>
        <p:nvSpPr>
          <p:cNvPr id="4" name="Shape 2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5" name="Image 0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7" name="Image 1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  <p:sp>
        <p:nvSpPr>
          <p:cNvPr id="9" name="Shape 5"/>
          <p:cNvSpPr/>
          <p:nvPr/>
        </p:nvSpPr>
        <p:spPr>
          <a:xfrm>
            <a:off x="64008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0" name="Shape 6"/>
          <p:cNvSpPr/>
          <p:nvPr/>
        </p:nvSpPr>
        <p:spPr>
          <a:xfrm>
            <a:off x="74980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1" name="Text 7"/>
          <p:cNvSpPr txBox="1"/>
          <p:nvPr/>
        </p:nvSpPr>
        <p:spPr>
          <a:xfrm>
            <a:off x="86868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Otimização da capacidade hidráulica</a:t>
            </a:r>
            <a:endParaRPr lang="en-US" sz="1500" dirty="0"/>
          </a:p>
        </p:txBody>
      </p:sp>
      <p:sp>
        <p:nvSpPr>
          <p:cNvPr id="12" name="Text 8"/>
          <p:cNvSpPr txBox="1"/>
          <p:nvPr/>
        </p:nvSpPr>
        <p:spPr>
          <a:xfrm>
            <a:off x="86868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A simulação evita obras superdimensionadas, encontrando o diâmetro e a declividade exatos para cada trecho.</a:t>
            </a:r>
            <a:endParaRPr lang="en-US" sz="1200" dirty="0"/>
          </a:p>
        </p:txBody>
      </p:sp>
      <p:sp>
        <p:nvSpPr>
          <p:cNvPr id="13" name="Shape 9"/>
          <p:cNvSpPr/>
          <p:nvPr/>
        </p:nvSpPr>
        <p:spPr>
          <a:xfrm>
            <a:off x="438912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4" name="Shape 10"/>
          <p:cNvSpPr/>
          <p:nvPr/>
        </p:nvSpPr>
        <p:spPr>
          <a:xfrm>
            <a:off x="449884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5" name="Text 11"/>
          <p:cNvSpPr txBox="1"/>
          <p:nvPr/>
        </p:nvSpPr>
        <p:spPr>
          <a:xfrm>
            <a:off x="461772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Máxima eficiência, menor custo global</a:t>
            </a:r>
            <a:endParaRPr lang="en-US" sz="1500" dirty="0"/>
          </a:p>
        </p:txBody>
      </p:sp>
      <p:sp>
        <p:nvSpPr>
          <p:cNvPr id="16" name="Text 12"/>
          <p:cNvSpPr txBox="1"/>
          <p:nvPr/>
        </p:nvSpPr>
        <p:spPr>
          <a:xfrm>
            <a:off x="461772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Você conhece o resultado antes de investir. O dinheiro vai para a obra que resolve.</a:t>
            </a:r>
            <a:endParaRPr lang="en-US" sz="1200" dirty="0"/>
          </a:p>
        </p:txBody>
      </p:sp>
      <p:sp>
        <p:nvSpPr>
          <p:cNvPr id="17" name="Shape 13"/>
          <p:cNvSpPr/>
          <p:nvPr/>
        </p:nvSpPr>
        <p:spPr>
          <a:xfrm>
            <a:off x="8138160" y="1417320"/>
            <a:ext cx="3520440" cy="27432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  <a:effectLst>
            <a:outerShdw sx="100000" sy="100000" kx="0" ky="0" algn="bl" rotWithShape="0" blurRad="76200" dist="12700" dir="5400000">
              <a:srgbClr val="0A3377">
                <a:alpha val="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8247888" y="1417320"/>
            <a:ext cx="3300984" cy="45720"/>
          </a:xfrm>
          <a:prstGeom prst="rect">
            <a:avLst/>
          </a:prstGeom>
          <a:solidFill>
            <a:srgbClr val="38D4FF"/>
          </a:solidFill>
          <a:ln w="12700">
            <a:solidFill>
              <a:srgbClr val="38D4FF"/>
            </a:solidFill>
            <a:prstDash val="solid"/>
          </a:ln>
        </p:spPr>
      </p:sp>
      <p:sp>
        <p:nvSpPr>
          <p:cNvPr id="19" name="Text 15"/>
          <p:cNvSpPr txBox="1"/>
          <p:nvPr/>
        </p:nvSpPr>
        <p:spPr>
          <a:xfrm>
            <a:off x="8366760" y="1645920"/>
            <a:ext cx="3063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0A3377"/>
                </a:solidFill>
              </a:rPr>
              <a:t>Infraestrutura verde (SUDS)</a:t>
            </a:r>
            <a:endParaRPr lang="en-US" sz="1500" dirty="0"/>
          </a:p>
        </p:txBody>
      </p:sp>
      <p:sp>
        <p:nvSpPr>
          <p:cNvPr id="20" name="Text 16"/>
          <p:cNvSpPr txBox="1"/>
          <p:nvPr/>
        </p:nvSpPr>
        <p:spPr>
          <a:xfrm>
            <a:off x="8366760" y="2377440"/>
            <a:ext cx="30632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B6B88"/>
                </a:solidFill>
              </a:rPr>
              <a:t>Permite simular jardins de chuva, com biorretenção e infiltração na fonte, e pavimentos permeáveis, com retenção direta no piso urbano.</a:t>
            </a:r>
            <a:endParaRPr lang="en-US" sz="1200" dirty="0"/>
          </a:p>
        </p:txBody>
      </p:sp>
      <p:sp>
        <p:nvSpPr>
          <p:cNvPr id="21" name="Shape 17"/>
          <p:cNvSpPr/>
          <p:nvPr/>
        </p:nvSpPr>
        <p:spPr>
          <a:xfrm>
            <a:off x="640080" y="4389120"/>
            <a:ext cx="10927080" cy="1188720"/>
          </a:xfrm>
          <a:prstGeom prst="roundRect">
            <a:avLst>
              <a:gd name="adj" fmla="val 7692"/>
            </a:avLst>
          </a:prstGeom>
          <a:solidFill>
            <a:srgbClr val="0A3377"/>
          </a:solidFill>
          <a:ln w="12700">
            <a:solidFill>
              <a:srgbClr val="0A3377"/>
            </a:solidFill>
            <a:prstDash val="solid"/>
          </a:ln>
        </p:spPr>
      </p:sp>
      <p:sp>
        <p:nvSpPr>
          <p:cNvPr id="22" name="Text 18"/>
          <p:cNvSpPr txBox="1"/>
          <p:nvPr/>
        </p:nvSpPr>
        <p:spPr>
          <a:xfrm>
            <a:off x="914400" y="4389120"/>
            <a:ext cx="104241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8D4FF"/>
                </a:solidFill>
              </a:rPr>
              <a:t>Diagnóstico antes da obra.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</a:rPr>
              <a:t>Ninguém abre rua por palpite: a simulação mostra onde intervir, com que diâmetro e em que ordem.</a:t>
            </a:r>
            <a:endParaRPr lang="en-US" sz="14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38D4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41148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737360"/>
            <a:ext cx="7315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indent="0" marL="0">
              <a:buNone/>
            </a:pPr>
            <a:r>
              <a:rPr lang="en-US" sz="5200" b="1" dirty="0">
                <a:solidFill>
                  <a:srgbClr val="0A3377"/>
                </a:solidFill>
              </a:rPr>
              <a:t>Obrigado</a:t>
            </a:r>
            <a:endParaRPr lang="en-US" sz="52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108960"/>
            <a:ext cx="1005840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Arnaldo Boa Sorte de Oliveira</a:t>
            </a:r>
            <a:endParaRPr lang="en-US" sz="1400" dirty="0"/>
          </a:p>
          <a:p>
            <a:pPr indent="0" marL="0">
              <a:spcAft>
                <a:spcPts val="800"/>
              </a:spcAft>
              <a:buNone/>
            </a:pPr>
            <a:r>
              <a:rPr lang="en-US" sz="1100" dirty="0">
                <a:solidFill>
                  <a:srgbClr val="0A3377"/>
                </a:solidFill>
              </a:rPr>
              <a:t>Consultor Sênior · Norte Sul Hidrotecnologia · gestao.servicostec@nortesultec.com.br</a:t>
            </a:r>
            <a:endParaRPr lang="en-US" sz="1400" dirty="0"/>
          </a:p>
          <a:p>
            <a:pPr indent="0" marL="0">
              <a:buNone/>
            </a:pPr>
            <a:r>
              <a:rPr lang="en-US" sz="1400" b="1" dirty="0">
                <a:solidFill>
                  <a:srgbClr val="0A3377"/>
                </a:solidFill>
              </a:rPr>
              <a:t>Luan Pacheco</a:t>
            </a:r>
            <a:endParaRPr lang="en-US" sz="1400" dirty="0"/>
          </a:p>
          <a:p>
            <a:pPr indent="0" marL="0">
              <a:buNone/>
            </a:pPr>
            <a:r>
              <a:rPr lang="en-US" sz="1100" dirty="0">
                <a:solidFill>
                  <a:srgbClr val="0A3377"/>
                </a:solidFill>
              </a:rPr>
              <a:t>Técnico em Saneamento · Norte Sul Hidrotecnologia · servicostec.sp1@nortesultec.com.br</a:t>
            </a:r>
            <a:endParaRPr lang="en-US" sz="1400" dirty="0"/>
          </a:p>
        </p:txBody>
      </p:sp>
      <p:pic>
        <p:nvPicPr>
          <p:cNvPr id="5" name="Image 0" descr="/tmp/claude-0/-home-user-norte-sul-portfolio/b828416d-028b-56b8-943d-a9bc67fc20c3/scratchpad/pptx_out/equipe_nav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62584" y="1051560"/>
            <a:ext cx="4689032" cy="42062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640080" y="55321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Gestão+ Performance · Preparando cidades mais resilientes e sustentáveis</a:t>
            </a:r>
            <a:endParaRPr lang="en-US" sz="1000" dirty="0"/>
          </a:p>
        </p:txBody>
      </p:sp>
      <p:sp>
        <p:nvSpPr>
          <p:cNvPr id="7" name="Shape 4"/>
          <p:cNvSpPr/>
          <p:nvPr/>
        </p:nvSpPr>
        <p:spPr>
          <a:xfrm>
            <a:off x="0" y="6291072"/>
            <a:ext cx="12191695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C9D6EA"/>
            </a:solidFill>
            <a:prstDash val="solid"/>
          </a:ln>
        </p:spPr>
      </p:sp>
      <p:pic>
        <p:nvPicPr>
          <p:cNvPr id="8" name="Image 1" descr="/tmp/claude-0/-home-user-norte-sul-portfolio/b828416d-028b-56b8-943d-a9bc67fc20c3/scratchpad/pptx_out/logo_me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6382512"/>
            <a:ext cx="548640" cy="384048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1188720" y="6419088"/>
            <a:ext cx="0" cy="310896"/>
          </a:xfrm>
          <a:prstGeom prst="line">
            <a:avLst/>
          </a:prstGeom>
          <a:noFill/>
          <a:ln w="9525">
            <a:solidFill>
              <a:srgbClr val="C9D6EA"/>
            </a:solidFill>
            <a:prstDash val="solid"/>
          </a:ln>
        </p:spPr>
      </p:sp>
      <p:pic>
        <p:nvPicPr>
          <p:cNvPr id="10" name="Image 2" descr="/tmp/claude-0/-home-user-norte-sul-portfolio/b828416d-028b-56b8-943d-a9bc67fc20c3/scratchpad/pptx_out/logo_ns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25880" y="6382512"/>
            <a:ext cx="610819" cy="384048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9265615" y="6364224"/>
            <a:ext cx="2423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b="1" dirty="0">
                <a:solidFill>
                  <a:srgbClr val="0A3377"/>
                </a:solidFill>
              </a:rPr>
              <a:t>FENASAN</a:t>
            </a:r>
            <a:endParaRPr lang="en-US" sz="1000" dirty="0"/>
          </a:p>
          <a:p>
            <a:pPr algn="r" indent="0" marL="0">
              <a:buNone/>
            </a:pPr>
            <a:r>
              <a:rPr lang="en-US" sz="800" dirty="0">
                <a:solidFill>
                  <a:srgbClr val="5B6B88"/>
                </a:solidFill>
              </a:rPr>
              <a:t>www.nortesultec.com.br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estão Performance">
  <a:themeElements>
    <a:clrScheme name="Gestão Performance">
      <a:dk1>
        <a:srgbClr val="05204E"/>
      </a:dk1>
      <a:lt1>
        <a:srgbClr val="FFFFFF"/>
      </a:lt1>
      <a:dk2>
        <a:srgbClr val="0A3377"/>
      </a:dk2>
      <a:lt2>
        <a:srgbClr val="F3F6FB"/>
      </a:lt2>
      <a:accent1>
        <a:srgbClr val="38D4FF"/>
      </a:accent1>
      <a:accent2>
        <a:srgbClr val="0A3377"/>
      </a:accent2>
      <a:accent3>
        <a:srgbClr val="0E3F8C"/>
      </a:accent3>
      <a:accent4>
        <a:srgbClr val="5B6B88"/>
      </a:accent4>
      <a:accent5>
        <a:srgbClr val="CFE6FF"/>
      </a:accent5>
      <a:accent6>
        <a:srgbClr val="C9D6EA"/>
      </a:accent6>
      <a:hlink>
        <a:srgbClr val="0563C1"/>
      </a:hlink>
      <a:folHlink>
        <a:srgbClr val="954F72"/>
      </a:folHlink>
    </a:clrScheme>
    <a:fontScheme name="Gestão Performance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Norte Sul Hidrotecnologia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2026-10-16T16:57:37Z</dcterms:created>
  <dcterms:modified xsi:type="dcterms:W3CDTF">2026-10-16T16:57:37Z</dcterms:modified>
</cp:coreProperties>
</file>