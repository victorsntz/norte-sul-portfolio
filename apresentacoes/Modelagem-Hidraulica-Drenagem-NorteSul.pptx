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jp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jpg"/><Relationship Id="rId4" Type="http://schemas.openxmlformats.org/officeDocument/2006/relationships/image" Target="../media/image-10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jpg"/><Relationship Id="rId4" Type="http://schemas.openxmlformats.org/officeDocument/2006/relationships/image" Target="../media/image-13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jpg"/><Relationship Id="rId4" Type="http://schemas.openxmlformats.org/officeDocument/2006/relationships/image" Target="../media/image-14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jpg"/><Relationship Id="rId5" Type="http://schemas.openxmlformats.org/officeDocument/2006/relationships/image" Target="../media/image-16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49440" y="502920"/>
            <a:ext cx="4663440" cy="5212080"/>
          </a:xfrm>
          <a:prstGeom prst="roundRect">
            <a:avLst>
              <a:gd name="adj" fmla="val 6863"/>
            </a:avLst>
          </a:prstGeom>
          <a:solidFill>
            <a:srgbClr val="0E3F8C"/>
          </a:solidFill>
          <a:ln w="12700">
            <a:solidFill>
              <a:srgbClr val="0E3F8C"/>
            </a:solidFill>
            <a:prstDash val="solid"/>
          </a:ln>
        </p:spPr>
      </p:sp>
      <p:pic>
        <p:nvPicPr>
          <p:cNvPr id="3" name="Image 0" descr="/tmp/claude-0/-home-user-norte-sul-portfolio/b828416d-028b-56b8-943d-a9bc67fc20c3/scratchpad/pptx_out/cropped/m_capa_4.8x5.4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640080"/>
            <a:ext cx="4389120" cy="49377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822960"/>
            <a:ext cx="60350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Modelagem hidráulica aplicada no diagnóstico e soluções para alagamentos urbanos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393192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6FF"/>
                </a:solidFill>
              </a:rPr>
              <a:t>Preparando cidades mais resilientes e sustentáveis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548640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Arnaldo Boa Sorte de Oliveira · Luan Pacheco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8" name="Image 1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10" name="Image 2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520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38D4FF"/>
                </a:solidFill>
              </a:rPr>
              <a:t>01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9319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O contexto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8006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6FF"/>
                </a:solidFill>
              </a:rPr>
              <a:t>Do cálculo estático à dinâmica urbana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6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8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Do cálculo estático à dinâmica urbana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O CONTEXTO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640080" y="1417320"/>
            <a:ext cx="5760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88"/>
                </a:solidFill>
              </a:rPr>
              <a:t>O crescimento urbano desordenado e a impermeabilização do solo sobrecarregam os sistemas de drenagem, intensificando inundações recorrentes nas cidades brasileiras.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6766560" y="1371600"/>
            <a:ext cx="480060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1" name="Image 2" descr="/tmp/claude-0/-home-user-norte-sul-portfolio/b828416d-028b-56b8-943d-a9bc67fc20c3/scratchpad/pptx_out/cropped/m_tunel_5.09x2.9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9712" y="1444752"/>
            <a:ext cx="4654296" cy="2670048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876288" y="4151376"/>
            <a:ext cx="4581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Túnel do Vale do Anhangabaú alagado após chuva em São Paulo, 14/10/2026</a:t>
            </a:r>
            <a:endParaRPr lang="en-US" sz="900" dirty="0"/>
          </a:p>
        </p:txBody>
      </p:sp>
      <p:sp>
        <p:nvSpPr>
          <p:cNvPr id="13" name="Shape 8"/>
          <p:cNvSpPr/>
          <p:nvPr/>
        </p:nvSpPr>
        <p:spPr>
          <a:xfrm>
            <a:off x="640080" y="45720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4" name="Shape 9"/>
          <p:cNvSpPr/>
          <p:nvPr/>
        </p:nvSpPr>
        <p:spPr>
          <a:xfrm>
            <a:off x="749808" y="457200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868680" y="480060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Impacto social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868680" y="516636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8"/>
                </a:solidFill>
              </a:rPr>
              <a:t>Famílias desalojadas, doenças de veiculação hídrica e interrupção de serviços públicos essenciais.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4389120" y="45720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4498848" y="457200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4617720" y="480060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Impacto econômico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4617720" y="516636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8"/>
                </a:solidFill>
              </a:rPr>
              <a:t>Paralisação de atividades comerciais e industriais, danos à infraestrutura da cidade e perda de valor imobiliário em áreas críticas.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8138160" y="45720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8247888" y="457200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8366760" y="480060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Impacto político</a:t>
            </a:r>
            <a:endParaRPr lang="en-US" sz="1400" dirty="0"/>
          </a:p>
        </p:txBody>
      </p:sp>
      <p:sp>
        <p:nvSpPr>
          <p:cNvPr id="24" name="Text 19"/>
          <p:cNvSpPr txBox="1"/>
          <p:nvPr/>
        </p:nvSpPr>
        <p:spPr>
          <a:xfrm>
            <a:off x="8366760" y="516636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8"/>
                </a:solidFill>
              </a:rPr>
              <a:t>Obras emergenciais caras com pouco efeito na raiz do problema comprometem a credibilidade da gestão municipal a cada inundação.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Do método empírico à simulação hidráulica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A EVOLUÇÃO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5349240" cy="283464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49808" y="1417320"/>
            <a:ext cx="51297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164592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3377"/>
                </a:solidFill>
              </a:rPr>
              <a:t>Métodos empíricos tradicionais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148840"/>
            <a:ext cx="48920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Cálculos estáticos não representam as variações temporais da chuva.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Visão pontual dificulta avaliar remanso e refluxo na rede.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Risco de superdimensionamento ou de falha em gargalos dinâmicos.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217920" y="1417320"/>
            <a:ext cx="5349240" cy="283464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327648" y="1417320"/>
            <a:ext cx="51297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446520" y="164592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3377"/>
                </a:solidFill>
              </a:rPr>
              <a:t>Simulação hidráulica</a:t>
            </a:r>
            <a:endParaRPr lang="en-US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6446520" y="2148840"/>
            <a:ext cx="48920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Dinâmica temporal por hidrogramas reais de escoamento contínuo.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Acoplamento entre rede subterrânea e superfície urbana.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Teste virtual das intervenções antes da execução da obra.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5788152" y="2514600"/>
            <a:ext cx="640080" cy="640080"/>
          </a:xfrm>
          <a:prstGeom prst="ellipse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788152" y="2514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3377"/>
                </a:solidFill>
              </a:rPr>
              <a:t>→</a:t>
            </a:r>
            <a:endParaRPr lang="en-US" sz="2200" dirty="0"/>
          </a:p>
        </p:txBody>
      </p:sp>
      <p:sp>
        <p:nvSpPr>
          <p:cNvPr id="19" name="Shape 15"/>
          <p:cNvSpPr/>
          <p:nvPr/>
        </p:nvSpPr>
        <p:spPr>
          <a:xfrm>
            <a:off x="640080" y="4480560"/>
            <a:ext cx="14630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20" name="Image 2" descr="/tmp/claude-0/-home-user-norte-sul-portfolio/b828416d-028b-56b8-943d-a9bc67fc20c3/scratchpad/pptx_out/cropped/m_equipe_1.44x1.44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4553712"/>
            <a:ext cx="1316736" cy="1316736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2286000" y="4480560"/>
            <a:ext cx="9281160" cy="1463040"/>
          </a:xfrm>
          <a:prstGeom prst="roundRect">
            <a:avLst>
              <a:gd name="adj" fmla="val 6250"/>
            </a:avLst>
          </a:prstGeom>
          <a:solidFill>
            <a:srgbClr val="0A3377"/>
          </a:solidFill>
          <a:ln w="12700">
            <a:solidFill>
              <a:srgbClr val="0A3377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2606040" y="4480560"/>
            <a:ext cx="8686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D4FF"/>
                </a:solidFill>
              </a:rPr>
              <a:t>O modelo responde a pergunta certa: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não é só quanto chove, é como a água se move pela rede e pela rua ao longo do tempo, minuto a minuto.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Quatro etapas, do dado à decisão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O MÉTODO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3840480" cy="452628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m_rede_4.04x4.47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490472"/>
            <a:ext cx="3694176" cy="408736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9808" y="5614416"/>
            <a:ext cx="3621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Rede modelada na micro bacia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4754880" y="1417320"/>
            <a:ext cx="329184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4864608" y="1417320"/>
            <a:ext cx="30723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4983480" y="16459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01</a:t>
            </a:r>
            <a:endParaRPr lang="en-US" sz="2600" dirty="0"/>
          </a:p>
        </p:txBody>
      </p:sp>
      <p:sp>
        <p:nvSpPr>
          <p:cNvPr id="15" name="Text 10"/>
          <p:cNvSpPr txBox="1"/>
          <p:nvPr/>
        </p:nvSpPr>
        <p:spPr>
          <a:xfrm>
            <a:off x="4983480" y="21488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Coleta de dados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4983480" y="251460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8"/>
                </a:solidFill>
              </a:rPr>
              <a:t>Topografia, dados meteorológicos e infraestrutura existente.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8229600" y="1417320"/>
            <a:ext cx="329184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8339328" y="1417320"/>
            <a:ext cx="30723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8458200" y="16459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02</a:t>
            </a:r>
            <a:endParaRPr lang="en-US" sz="2600" dirty="0"/>
          </a:p>
        </p:txBody>
      </p:sp>
      <p:sp>
        <p:nvSpPr>
          <p:cNvPr id="20" name="Text 15"/>
          <p:cNvSpPr txBox="1"/>
          <p:nvPr/>
        </p:nvSpPr>
        <p:spPr>
          <a:xfrm>
            <a:off x="8458200" y="21488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Construção do modelo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8458200" y="251460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8"/>
                </a:solidFill>
              </a:rPr>
              <a:t>Montagem das bacias de contribuição, nós, condutos e calhas viárias.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4754880" y="3749040"/>
            <a:ext cx="329184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4864608" y="3749040"/>
            <a:ext cx="30723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4983480" y="39776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03</a:t>
            </a:r>
            <a:endParaRPr lang="en-US" sz="2600" dirty="0"/>
          </a:p>
        </p:txBody>
      </p:sp>
      <p:sp>
        <p:nvSpPr>
          <p:cNvPr id="25" name="Text 20"/>
          <p:cNvSpPr txBox="1"/>
          <p:nvPr/>
        </p:nvSpPr>
        <p:spPr>
          <a:xfrm>
            <a:off x="4983480" y="448056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Calibração</a:t>
            </a:r>
            <a:endParaRPr lang="en-US" sz="1400" dirty="0"/>
          </a:p>
        </p:txBody>
      </p:sp>
      <p:sp>
        <p:nvSpPr>
          <p:cNvPr id="26" name="Text 21"/>
          <p:cNvSpPr txBox="1"/>
          <p:nvPr/>
        </p:nvSpPr>
        <p:spPr>
          <a:xfrm>
            <a:off x="4983480" y="484632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8"/>
                </a:solidFill>
              </a:rPr>
              <a:t>Ajuste com base em eventos históricos e marcas de cheia monitoradas.</a:t>
            </a:r>
            <a:endParaRPr lang="en-US" sz="1100" dirty="0"/>
          </a:p>
        </p:txBody>
      </p:sp>
      <p:sp>
        <p:nvSpPr>
          <p:cNvPr id="27" name="Shape 22"/>
          <p:cNvSpPr/>
          <p:nvPr/>
        </p:nvSpPr>
        <p:spPr>
          <a:xfrm>
            <a:off x="8229600" y="3749040"/>
            <a:ext cx="329184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8" name="Shape 23"/>
          <p:cNvSpPr/>
          <p:nvPr/>
        </p:nvSpPr>
        <p:spPr>
          <a:xfrm>
            <a:off x="8339328" y="3749040"/>
            <a:ext cx="30723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8458200" y="39776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04</a:t>
            </a:r>
            <a:endParaRPr lang="en-US" sz="2600" dirty="0"/>
          </a:p>
        </p:txBody>
      </p:sp>
      <p:sp>
        <p:nvSpPr>
          <p:cNvPr id="30" name="Text 25"/>
          <p:cNvSpPr txBox="1"/>
          <p:nvPr/>
        </p:nvSpPr>
        <p:spPr>
          <a:xfrm>
            <a:off x="8458200" y="448056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Simulações</a:t>
            </a:r>
            <a:endParaRPr lang="en-US" sz="1400" dirty="0"/>
          </a:p>
        </p:txBody>
      </p:sp>
      <p:sp>
        <p:nvSpPr>
          <p:cNvPr id="31" name="Text 26"/>
          <p:cNvSpPr txBox="1"/>
          <p:nvPr/>
        </p:nvSpPr>
        <p:spPr>
          <a:xfrm>
            <a:off x="8458200" y="484632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8"/>
                </a:solidFill>
              </a:rPr>
              <a:t>Diagnóstico de extravasamento e dimensionamento das intervenções.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Cenários testáveis no modelo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AS ALTERNATIVAS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0" y="1417320"/>
            <a:ext cx="516636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m_bacia_5.49x3.5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3952" y="1490472"/>
            <a:ext cx="5020056" cy="321868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6510528" y="4745736"/>
            <a:ext cx="4946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Extravasamento por trecho e bacias funcionais no cenário simulado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640080" y="1417320"/>
            <a:ext cx="26517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822960" y="14173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Novas galerias pluviais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3429000" y="1417320"/>
            <a:ext cx="26517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3611880" y="14173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Remanejamento e aumento de diâmetro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640080" y="2423160"/>
            <a:ext cx="26517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822960" y="242316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Novas bocas de lobo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3429000" y="2423160"/>
            <a:ext cx="26517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3611880" y="242316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Aumento de calha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640080" y="3429000"/>
            <a:ext cx="26517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822960" y="34290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Piscinões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3429000" y="3429000"/>
            <a:ext cx="26517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3611880" y="34290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Parques lineares para infiltração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640080" y="4434840"/>
            <a:ext cx="2651760" cy="822960"/>
          </a:xfrm>
          <a:prstGeom prst="roundRect">
            <a:avLst>
              <a:gd name="adj" fmla="val 11111"/>
            </a:avLst>
          </a:prstGeom>
          <a:solidFill>
            <a:srgbClr val="0A3377"/>
          </a:solidFill>
          <a:ln w="9525">
            <a:solidFill>
              <a:srgbClr val="0A3377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822960" y="44348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Galerias tanque de retardo</a:t>
            </a:r>
            <a:endParaRPr lang="en-US" sz="1200" dirty="0"/>
          </a:p>
        </p:txBody>
      </p:sp>
      <p:sp>
        <p:nvSpPr>
          <p:cNvPr id="26" name="Shape 21"/>
          <p:cNvSpPr/>
          <p:nvPr/>
        </p:nvSpPr>
        <p:spPr>
          <a:xfrm>
            <a:off x="640080" y="5440680"/>
            <a:ext cx="54864" cy="45720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822960" y="54406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Cada alternativa é simulada antes da obra: o resultado é conhecido antes de investir.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520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38D4FF"/>
                </a:solidFill>
              </a:rPr>
              <a:t>02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9319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O case: micro bacia ACD-05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8006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6FF"/>
                </a:solidFill>
              </a:rPr>
              <a:t>Carandiru · Ten. Rocha, zona norte de São Paulo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6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8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A micro bacia em números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O CASE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7589520" y="1280160"/>
            <a:ext cx="3977640" cy="475488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m_aerea_4.19x4.72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2672" y="1353312"/>
            <a:ext cx="3831336" cy="431596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699248" y="5705856"/>
            <a:ext cx="3758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Perímetro da micro bacia ACD-05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640080" y="155448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841248" y="1554480"/>
            <a:ext cx="29992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91,4%</a:t>
            </a:r>
            <a:endParaRPr lang="en-US" sz="3600" dirty="0"/>
          </a:p>
        </p:txBody>
      </p:sp>
      <p:sp>
        <p:nvSpPr>
          <p:cNvPr id="14" name="Text 9"/>
          <p:cNvSpPr txBox="1"/>
          <p:nvPr/>
        </p:nvSpPr>
        <p:spPr>
          <a:xfrm>
            <a:off x="841248" y="2286000"/>
            <a:ext cx="2999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de impermeabilização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4023360" y="155448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4224528" y="1554480"/>
            <a:ext cx="29992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250.420 m²</a:t>
            </a:r>
            <a:endParaRPr lang="en-US" sz="3600" dirty="0"/>
          </a:p>
        </p:txBody>
      </p:sp>
      <p:sp>
        <p:nvSpPr>
          <p:cNvPr id="17" name="Text 12"/>
          <p:cNvSpPr txBox="1"/>
          <p:nvPr/>
        </p:nvSpPr>
        <p:spPr>
          <a:xfrm>
            <a:off x="4224528" y="2286000"/>
            <a:ext cx="2999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de área (0,25 km²)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640080" y="310896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841248" y="3108960"/>
            <a:ext cx="29992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1.100 m</a:t>
            </a:r>
            <a:endParaRPr lang="en-US" sz="3600" dirty="0"/>
          </a:p>
        </p:txBody>
      </p:sp>
      <p:sp>
        <p:nvSpPr>
          <p:cNvPr id="20" name="Text 15"/>
          <p:cNvSpPr txBox="1"/>
          <p:nvPr/>
        </p:nvSpPr>
        <p:spPr>
          <a:xfrm>
            <a:off x="841248" y="3840480"/>
            <a:ext cx="2999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de talvegue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4023360" y="310896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4224528" y="3108960"/>
            <a:ext cx="29992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5%</a:t>
            </a:r>
            <a:endParaRPr lang="en-US" sz="3600" dirty="0"/>
          </a:p>
        </p:txBody>
      </p:sp>
      <p:sp>
        <p:nvSpPr>
          <p:cNvPr id="23" name="Text 18"/>
          <p:cNvSpPr txBox="1"/>
          <p:nvPr/>
        </p:nvSpPr>
        <p:spPr>
          <a:xfrm>
            <a:off x="4224528" y="3840480"/>
            <a:ext cx="2999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de declividade média (0,05 m/m)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640080" y="466344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841248" y="4663440"/>
            <a:ext cx="29992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55,3 m</a:t>
            </a:r>
            <a:endParaRPr lang="en-US" sz="3600" dirty="0"/>
          </a:p>
        </p:txBody>
      </p:sp>
      <p:sp>
        <p:nvSpPr>
          <p:cNvPr id="26" name="Text 21"/>
          <p:cNvSpPr txBox="1"/>
          <p:nvPr/>
        </p:nvSpPr>
        <p:spPr>
          <a:xfrm>
            <a:off x="841248" y="5394960"/>
            <a:ext cx="2999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de amplitude (779,9 m a 724,6 m)</a:t>
            </a:r>
            <a:endParaRPr lang="en-US" sz="1100" dirty="0"/>
          </a:p>
        </p:txBody>
      </p:sp>
      <p:sp>
        <p:nvSpPr>
          <p:cNvPr id="27" name="Shape 22"/>
          <p:cNvSpPr/>
          <p:nvPr/>
        </p:nvSpPr>
        <p:spPr>
          <a:xfrm>
            <a:off x="4023360" y="466344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4224528" y="4663440"/>
            <a:ext cx="29992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13 min</a:t>
            </a:r>
            <a:endParaRPr lang="en-US" sz="3600" dirty="0"/>
          </a:p>
        </p:txBody>
      </p:sp>
      <p:sp>
        <p:nvSpPr>
          <p:cNvPr id="29" name="Text 24"/>
          <p:cNvSpPr txBox="1"/>
          <p:nvPr/>
        </p:nvSpPr>
        <p:spPr>
          <a:xfrm>
            <a:off x="4224528" y="5394960"/>
            <a:ext cx="2999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da cota mais alta ao fundo de vale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Diagnóstico preliminar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DIAGNÓSTICO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512064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m_diag_5.44x4.4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490472"/>
            <a:ext cx="4974336" cy="404164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9808" y="5568696"/>
            <a:ext cx="4901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Pontos intransitáveis (CET/CGE) e trechos alagáveis (FCTH)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6035040" y="1417320"/>
            <a:ext cx="553212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6144768" y="1417320"/>
            <a:ext cx="531266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263640" y="1645920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O que o modelo mostrou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6263640" y="2148840"/>
            <a:ext cx="50749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A topografia acidentada impõe escoamento superficial nos trechos mais altos: em tubulação, as velocidades passariam de 5 m/s.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As vazões dos pontos mais altos chegam ao fundo de vale em apenas 13 minutos.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A infraestrutura existente é insuficiente para as vazões geradas.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Pontos em vermelho: intransitáveis segundo CET e CGE, na Av. Braz Leme e Rua Dr. Cesar, em Santana.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Trechos em laranja: ruas alagáveis segundo a Fundação Centro Tecnológico de Hidráulica.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Conferência do cadastro técnico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ENGENHARIA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393192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m_cadastro_4.14x3.4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490472"/>
            <a:ext cx="3785616" cy="312724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9808" y="4654296"/>
            <a:ext cx="3712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Rede de drenagem e seções cadastradas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4754880" y="1417320"/>
            <a:ext cx="681228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3" name="Image 3" descr="/tmp/claude-0/-home-user-norte-sul-portfolio/b828416d-028b-56b8-943d-a9bc67fc20c3/scratchpad/pptx_out/cropped/m_planta_7.29x2.07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8032" y="1490472"/>
            <a:ext cx="6665976" cy="1892808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4864608" y="3419856"/>
            <a:ext cx="6592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Planta da Av. Braz Leme: galeria conferida em campo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4754880" y="3931920"/>
            <a:ext cx="681228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6" name="Shape 10"/>
          <p:cNvSpPr/>
          <p:nvPr/>
        </p:nvSpPr>
        <p:spPr>
          <a:xfrm>
            <a:off x="4864608" y="3931920"/>
            <a:ext cx="659282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4983480" y="4160520"/>
            <a:ext cx="6355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Cadastro bom, modelo confiável</a:t>
            </a:r>
            <a:endParaRPr lang="en-US" sz="1400" dirty="0"/>
          </a:p>
        </p:txBody>
      </p:sp>
      <p:sp>
        <p:nvSpPr>
          <p:cNvPr id="18" name="Text 12"/>
          <p:cNvSpPr txBox="1"/>
          <p:nvPr/>
        </p:nvSpPr>
        <p:spPr>
          <a:xfrm>
            <a:off x="4983480" y="4663440"/>
            <a:ext cx="6355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8"/>
                </a:solidFill>
              </a:rPr>
              <a:t>A confiabilidade do resultado da modelagem é consequência direta de um cadastro técnico bem feito. Na Braz Leme, o cadastro indicava rede circular de 1.200 mm onde, na realidade, existe galeria quadrada de 1.500 × 1.400 mm. A conferência foi decisiva para a solução.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640080" y="5212080"/>
            <a:ext cx="54864" cy="45720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822960" y="521208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Sem cadastro conferido, a simulação erra junto com o desenho.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Parâmetros hidrológicos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ENGENHARIA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576072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m_hieto_6.14x4.4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490472"/>
            <a:ext cx="5614416" cy="404164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9808" y="5568696"/>
            <a:ext cx="5541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Hietograma da micro bacia para chuva de 60 minutos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6675120" y="1417320"/>
            <a:ext cx="489204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6784848" y="1417320"/>
            <a:ext cx="46725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903720" y="164592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O perfil da tempestade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6903720" y="2148840"/>
            <a:ext cx="44348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Com o tempo de concentração e a intensidade de chuva da micro bacia, define-se o hietograma: o comportamento da chuva ao longo de um período.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Ele funciona como o perfil de uma tempestade: mostra quando a chuva foi fraca, quando atingiu o pico e quando começou a cessar.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É esse perfil que alimenta a simulação e dimensiona as intervenções.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Captar, reter e liberar no ritmo da rede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A ESTRATÉGIA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3520440" cy="393192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49808" y="141732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16459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01</a:t>
            </a:r>
            <a:endParaRPr lang="en-US" sz="26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1488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Captação na fonte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868680" y="2560320"/>
            <a:ext cx="306324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Bocas de lobo interceptam a chuva nas cotas intermediárias e desviam o fluxo para o interior das galerias tanque de retardo antes de atingir o fundo de vale.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4389120" y="1417320"/>
            <a:ext cx="3520440" cy="393192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4498848" y="141732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617720" y="16459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02</a:t>
            </a:r>
            <a:endParaRPr lang="en-US" sz="2600" dirty="0"/>
          </a:p>
        </p:txBody>
      </p:sp>
      <p:sp>
        <p:nvSpPr>
          <p:cNvPr id="17" name="Text 13"/>
          <p:cNvSpPr txBox="1"/>
          <p:nvPr/>
        </p:nvSpPr>
        <p:spPr>
          <a:xfrm>
            <a:off x="4617720" y="21488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Retenção temporária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4617720" y="2560320"/>
            <a:ext cx="306324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As galerias tanque de retardo armazenam o volume excedente que sobrecarregaria as estruturas de fundo de vale durante as chuvas.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8138160" y="1417320"/>
            <a:ext cx="3520440" cy="393192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8247888" y="141732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8366760" y="16459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03</a:t>
            </a:r>
            <a:endParaRPr lang="en-US" sz="2600" dirty="0"/>
          </a:p>
        </p:txBody>
      </p:sp>
      <p:sp>
        <p:nvSpPr>
          <p:cNvPr id="22" name="Text 18"/>
          <p:cNvSpPr txBox="1"/>
          <p:nvPr/>
        </p:nvSpPr>
        <p:spPr>
          <a:xfrm>
            <a:off x="8366760" y="21488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Descarga controlada</a:t>
            </a:r>
            <a:endParaRPr lang="en-US" sz="1500" dirty="0"/>
          </a:p>
        </p:txBody>
      </p:sp>
      <p:sp>
        <p:nvSpPr>
          <p:cNvPr id="23" name="Text 19"/>
          <p:cNvSpPr txBox="1"/>
          <p:nvPr/>
        </p:nvSpPr>
        <p:spPr>
          <a:xfrm>
            <a:off x="8366760" y="2560320"/>
            <a:ext cx="306324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A água armazenada é liberada de forma contínua, dentro da capacidade nominal da infraestrutura existente a jusante.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40080" y="5577840"/>
            <a:ext cx="54864" cy="45720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822960" y="55778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A rede existente continua a mesma. O que muda é quando a água chega nela.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O que são galerias tanque de retardo?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ENGENHARIA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5120640" cy="301752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m_tanque_iso_5.44x2.8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490472"/>
            <a:ext cx="4974336" cy="257860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9808" y="4105656"/>
            <a:ext cx="4901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Vista isométrica do tanque de retenção de picos de cheia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5943600" y="1417320"/>
            <a:ext cx="5623560" cy="301752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3" name="Image 3" descr="/tmp/claude-0/-home-user-norte-sul-portfolio/b828416d-028b-56b8-943d-a9bc67fc20c3/scratchpad/pptx_out/cropped/m_tanque_corte_5.99x2.82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16752" y="1490472"/>
            <a:ext cx="5477256" cy="2578608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053328" y="4105656"/>
            <a:ext cx="5404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Corte transversal de detalhe do mini tanque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4617720"/>
            <a:ext cx="109270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6" name="Shape 10"/>
          <p:cNvSpPr/>
          <p:nvPr/>
        </p:nvSpPr>
        <p:spPr>
          <a:xfrm>
            <a:off x="749808" y="4617720"/>
            <a:ext cx="1070762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868680" y="4846320"/>
            <a:ext cx="10469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Tubulação GRP de grande diâmetro enterrada sob a via</a:t>
            </a:r>
            <a:endParaRPr lang="en-US" sz="1400" dirty="0"/>
          </a:p>
        </p:txBody>
      </p:sp>
      <p:sp>
        <p:nvSpPr>
          <p:cNvPr id="18" name="Text 12"/>
          <p:cNvSpPr txBox="1"/>
          <p:nvPr/>
        </p:nvSpPr>
        <p:spPr>
          <a:xfrm>
            <a:off x="868680" y="5212080"/>
            <a:ext cx="10469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8"/>
                </a:solidFill>
              </a:rPr>
              <a:t>PV de entrada com retenção de areia e gradeamento, tanque de 1,50 m de diâmetro, PV de inspeção e limpeza, saída por placa de orifício em aço inox e tubulação de saída para o GAP existente.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MTR em trechos com e sem GAP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ENGENHARIA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534924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m_mtr_gap_5.69x4.4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490472"/>
            <a:ext cx="5202936" cy="404164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9808" y="5568696"/>
            <a:ext cx="5129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Trecho com GAP: ligação ao poço existente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6217920" y="1417320"/>
            <a:ext cx="534924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3" name="Image 3" descr="/tmp/claude-0/-home-user-norte-sul-portfolio/b828416d-028b-56b8-943d-a9bc67fc20c3/scratchpad/pptx_out/cropped/m_mtr_semgap_5.69x4.42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1072" y="1490472"/>
            <a:ext cx="5202936" cy="4041648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327648" y="5568696"/>
            <a:ext cx="5129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Trecho sem GAP: saída por boca de lobo e sarjeta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Distribuição das galerias tanque de retardo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ENGENHARIA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5486400" cy="452628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m_distrib_5.84x4.47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490472"/>
            <a:ext cx="5340096" cy="408736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9808" y="5614416"/>
            <a:ext cx="5266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Implantação das galerias ao longo da micro bacia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6355080" y="1417320"/>
            <a:ext cx="5212080" cy="452628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6464808" y="1417320"/>
            <a:ext cx="499262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583680" y="16459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Espalhadas, não concentradas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6583680" y="2148840"/>
            <a:ext cx="475488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As galerias são distribuídas nas cotas intermediárias, onde a chuva ainda pode ser interceptada.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Cada unidade retém uma parcela do volume e devolve à rede no ritmo que ela suporta.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O conjunto substitui uma única obra grande de fundo de vale por várias pequenas, de execução mais simples e menor transtorno.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Mancha de inundação: antes e depois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RESULTADO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5349240" cy="41148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m_mancha_atual_5.69x4.02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1490472"/>
            <a:ext cx="5202936" cy="367588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9808" y="5202936"/>
            <a:ext cx="5129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Cenário atual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6217920" y="1417320"/>
            <a:ext cx="5349240" cy="41148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3" name="Image 3" descr="/tmp/claude-0/-home-user-norte-sul-portfolio/b828416d-028b-56b8-943d-a9bc67fc20c3/scratchpad/pptx_out/cropped/m_mancha_mtr_5.69x4.02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1072" y="1490472"/>
            <a:ext cx="5202936" cy="3675888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327648" y="5202936"/>
            <a:ext cx="5129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Com as galerias tanque de retardo (MTR)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669280"/>
            <a:ext cx="54864" cy="45720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822960" y="5669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 mancha de inundação praticamente desaparece com a retenção distribuída.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Vantagens da modelagem no diagnóstico de drenagem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INOVAÇÃO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352044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49808" y="141732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16459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Otimização da capacidade hidráulica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377440"/>
            <a:ext cx="30632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A simulação evita obras superdimensionadas, encontrando o diâmetro e a declividade exatos para cada trecho.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389120" y="1417320"/>
            <a:ext cx="352044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4498848" y="141732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617720" y="16459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Máxima eficiência, menor custo global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4617720" y="2377440"/>
            <a:ext cx="30632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Você conhece o resultado antes de investir. O dinheiro vai para a obra que resolve.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8138160" y="1417320"/>
            <a:ext cx="352044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247888" y="141732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8366760" y="16459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Infraestrutura verde (SUDS)</a:t>
            </a:r>
            <a:endParaRPr lang="en-US" sz="1500" dirty="0"/>
          </a:p>
        </p:txBody>
      </p:sp>
      <p:sp>
        <p:nvSpPr>
          <p:cNvPr id="20" name="Text 16"/>
          <p:cNvSpPr txBox="1"/>
          <p:nvPr/>
        </p:nvSpPr>
        <p:spPr>
          <a:xfrm>
            <a:off x="8366760" y="2377440"/>
            <a:ext cx="30632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Permite simular jardins de chuva, com biorretenção e infiltração na fonte, e pavimentos permeáveis, com retenção direta no piso urbano.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640080" y="4389120"/>
            <a:ext cx="10927080" cy="1188720"/>
          </a:xfrm>
          <a:prstGeom prst="roundRect">
            <a:avLst>
              <a:gd name="adj" fmla="val 7692"/>
            </a:avLst>
          </a:prstGeom>
          <a:solidFill>
            <a:srgbClr val="0A3377"/>
          </a:solidFill>
          <a:ln w="12700">
            <a:solidFill>
              <a:srgbClr val="0A3377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914400" y="4389120"/>
            <a:ext cx="10424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D4FF"/>
                </a:solidFill>
              </a:rPr>
              <a:t>Diagnóstico antes da obra.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Ninguém abre rua por palpite: a simulação mostra onde intervir, com que diâmetro e em que ordem.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38D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73736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200" b="1" dirty="0">
                <a:solidFill>
                  <a:srgbClr val="0A3377"/>
                </a:solidFill>
              </a:rPr>
              <a:t>Obrigado</a:t>
            </a:r>
            <a:endParaRPr lang="en-US" sz="5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108960"/>
            <a:ext cx="10058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Arnaldo Boa Sorte de Oliveira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0A3377"/>
                </a:solidFill>
              </a:rPr>
              <a:t>Consultor Sênior · Norte Sul Hidrotecnologia · gestao.servicostec@nortesultec.com.br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Luan Pacheco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0A3377"/>
                </a:solidFill>
              </a:rPr>
              <a:t>Técnico em Saneamento · Norte Sul Hidrotecnologia · servicostec.sp1@nortesultec.com.br</a:t>
            </a:r>
            <a:endParaRPr lang="en-US" sz="1400" dirty="0"/>
          </a:p>
        </p:txBody>
      </p:sp>
      <p:pic>
        <p:nvPicPr>
          <p:cNvPr id="5" name="Image 0" descr="/tmp/claude-0/-home-user-norte-sul-portfolio/b828416d-028b-56b8-943d-a9bc67fc20c3/scratchpad/pptx_out/equipe_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73178" y="1051560"/>
            <a:ext cx="5178437" cy="42062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5532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Gestão+ Performance · Preparando cidades mais resilientes e sustentáveis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8" name="Image 1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10" name="Image 2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estão Performance">
  <a:themeElements>
    <a:clrScheme name="Gestão Performance">
      <a:dk1>
        <a:srgbClr val="05204E"/>
      </a:dk1>
      <a:lt1>
        <a:srgbClr val="FFFFFF"/>
      </a:lt1>
      <a:dk2>
        <a:srgbClr val="0A3377"/>
      </a:dk2>
      <a:lt2>
        <a:srgbClr val="F3F6FB"/>
      </a:lt2>
      <a:accent1>
        <a:srgbClr val="38D4FF"/>
      </a:accent1>
      <a:accent2>
        <a:srgbClr val="0A3377"/>
      </a:accent2>
      <a:accent3>
        <a:srgbClr val="0E3F8C"/>
      </a:accent3>
      <a:accent4>
        <a:srgbClr val="5B6B88"/>
      </a:accent4>
      <a:accent5>
        <a:srgbClr val="CFE6FF"/>
      </a:accent5>
      <a:accent6>
        <a:srgbClr val="C9D6EA"/>
      </a:accent6>
      <a:hlink>
        <a:srgbClr val="0563C1"/>
      </a:hlink>
      <a:folHlink>
        <a:srgbClr val="954F72"/>
      </a:folHlink>
    </a:clrScheme>
    <a:fontScheme name="Gestão Performan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Norte Sul Hidrotecnologia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2026-10-16T16:15:45Z</dcterms:created>
  <dcterms:modified xsi:type="dcterms:W3CDTF">2026-10-16T16:15:45Z</dcterms:modified>
</cp:coreProperties>
</file>