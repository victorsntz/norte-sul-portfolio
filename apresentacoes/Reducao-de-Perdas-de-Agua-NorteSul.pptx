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CFE6FF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CFE6FF"/>
                </a:solidFill>
                <a:latin typeface="+mn-lt"/>
              </a:rPr>
              <a:t>Pressão ao longo do dia · esquema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Pressão disponível</c:v>
                </c:pt>
              </c:strCache>
            </c:strRef>
          </c:tx>
          <c:spPr>
            <a:solidFill>
              <a:srgbClr val="38D4FF"/>
            </a:solidFill>
            <a:ln w="38100" cap="flat">
              <a:solidFill>
                <a:srgbClr val="38D4F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38D4FF"/>
              </a:solidFill>
              <a:ln w="9525" cap="flat">
                <a:solidFill>
                  <a:srgbClr val="38D4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00h</c:v>
                  </c:pt>
                  <c:pt idx="1">
                    <c:v>03h</c:v>
                  </c:pt>
                  <c:pt idx="2">
                    <c:v>06h</c:v>
                  </c:pt>
                  <c:pt idx="3">
                    <c:v>09h</c:v>
                  </c:pt>
                  <c:pt idx="4">
                    <c:v>12h</c:v>
                  </c:pt>
                  <c:pt idx="5">
                    <c:v>15h</c:v>
                  </c:pt>
                  <c:pt idx="6">
                    <c:v>18h</c:v>
                  </c:pt>
                  <c:pt idx="7">
                    <c:v>21h</c:v>
                  </c:pt>
                  <c:pt idx="8">
                    <c:v>24h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34</c:v>
                </c:pt>
                <c:pt idx="1">
                  <c:v>36</c:v>
                </c:pt>
                <c:pt idx="2">
                  <c:v>30</c:v>
                </c:pt>
                <c:pt idx="3">
                  <c:v>22</c:v>
                </c:pt>
                <c:pt idx="4">
                  <c:v>18</c:v>
                </c:pt>
                <c:pt idx="5">
                  <c:v>20</c:v>
                </c:pt>
                <c:pt idx="6">
                  <c:v>16</c:v>
                </c:pt>
                <c:pt idx="7">
                  <c:v>24</c:v>
                </c:pt>
                <c:pt idx="8">
                  <c:v>32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CFE6F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478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CFE6FF"/>
                    </a:solidFill>
                    <a:latin typeface="+mn-lt"/>
                  </a:defRPr>
                </a:pPr>
                <a:r>
                  <a:rPr sz="900" b="0" i="0" u="none" strike="noStrike">
                    <a:solidFill>
                      <a:srgbClr val="CFE6FF"/>
                    </a:solidFill>
                    <a:latin typeface="+mn-lt"/>
                  </a:rPr>
                  <a:t>mca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CFE6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E3F8C"/>
        </a:solidFill>
        <a:ln>
          <a:noFill/>
        </a:ln>
        <a:effectLst/>
      </c:spPr>
    </c:plotArea>
    <c:plotVisOnly val="1"/>
    <c:dispBlanksAs val="span"/>
  </c:chart>
  <c:spPr>
    <a:solidFill>
      <a:srgbClr val="0E3F8C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CFE6FF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CFE6FF"/>
                </a:solidFill>
                <a:latin typeface="+mn-lt"/>
              </a:rPr>
              <a:t>Vazão de perdas · m³/dia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Vazão de perdas (m³/dia)</c:v>
                </c:pt>
              </c:strCache>
            </c:strRef>
          </c:tx>
          <c:spPr>
            <a:solidFill>
              <a:srgbClr val="38D4FF"/>
            </a:solidFill>
            <a:effectLst/>
          </c:spPr>
          <c:invertIfNegative val="0"/>
          <c:dLbls>
            <c:numFmt formatCode="#,##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8D4F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FE6FF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Antes</c:v>
                  </c:pt>
                  <c:pt idx="1">
                    <c:v>Depois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2137.38</c:v>
                </c:pt>
                <c:pt idx="1">
                  <c:v>1191.98</c:v>
                </c:pt>
              </c:numCache>
            </c:numRef>
          </c:val>
        </c:ser>
        <c:dLbls>
          <c:numFmt formatCode="#,##0.00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600"/>
        </c:scaling>
        <c:delete val="0"/>
        <c:axPos val="b"/>
        <c:majorGridlines>
          <c:spPr>
            <a:ln w="6350" cap="flat">
              <a:solidFill>
                <a:srgbClr val="23478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CFE6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E3F8C"/>
        </a:solidFill>
        <a:ln>
          <a:noFill/>
        </a:ln>
        <a:effectLst/>
      </c:spPr>
    </c:plotArea>
    <c:plotVisOnly val="1"/>
    <c:dispBlanksAs val="span"/>
  </c:chart>
  <c:spPr>
    <a:solidFill>
      <a:srgbClr val="0E3F8C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A3377"/>
                </a:solidFill>
                <a:latin typeface="+mn-lt"/>
              </a:defRPr>
            </a:pPr>
            <a:r>
              <a:rPr sz="1100" b="0" i="0" u="none" strike="noStrike">
                <a:solidFill>
                  <a:srgbClr val="0A3377"/>
                </a:solidFill>
                <a:latin typeface="+mn-lt"/>
              </a:rPr>
              <a:t>Pressão operacional ao longo de 24 horas · esquema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Pressão no ponto crítico</c:v>
                </c:pt>
              </c:strCache>
            </c:strRef>
          </c:tx>
          <c:spPr>
            <a:solidFill>
              <a:srgbClr val="0A3377"/>
            </a:solidFill>
            <a:ln w="38100" cap="flat">
              <a:solidFill>
                <a:srgbClr val="0A337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A3377"/>
              </a:solidFill>
              <a:ln w="9525" cap="flat">
                <a:solidFill>
                  <a:srgbClr val="0A337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00h</c:v>
                  </c:pt>
                  <c:pt idx="1">
                    <c:v>03h</c:v>
                  </c:pt>
                  <c:pt idx="2">
                    <c:v>06h</c:v>
                  </c:pt>
                  <c:pt idx="3">
                    <c:v>09h</c:v>
                  </c:pt>
                  <c:pt idx="4">
                    <c:v>12h</c:v>
                  </c:pt>
                  <c:pt idx="5">
                    <c:v>15h</c:v>
                  </c:pt>
                  <c:pt idx="6">
                    <c:v>18h</c:v>
                  </c:pt>
                  <c:pt idx="7">
                    <c:v>21h</c:v>
                  </c:pt>
                  <c:pt idx="8">
                    <c:v>24h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19</c:v>
                </c:pt>
                <c:pt idx="1">
                  <c:v>21</c:v>
                </c:pt>
                <c:pt idx="2">
                  <c:v>16</c:v>
                </c:pt>
                <c:pt idx="3">
                  <c:v>12</c:v>
                </c:pt>
                <c:pt idx="4">
                  <c:v>11</c:v>
                </c:pt>
                <c:pt idx="5">
                  <c:v>12</c:v>
                </c:pt>
                <c:pt idx="6">
                  <c:v>10.5</c:v>
                </c:pt>
                <c:pt idx="7">
                  <c:v>14</c:v>
                </c:pt>
                <c:pt idx="8">
                  <c:v>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Mínimo de referência</c:v>
                </c:pt>
              </c:strCache>
            </c:strRef>
          </c:tx>
          <c:spPr>
            <a:solidFill>
              <a:srgbClr val="38D4FF"/>
            </a:solidFill>
            <a:ln w="38100" cap="flat">
              <a:solidFill>
                <a:srgbClr val="38D4F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38D4FF"/>
              </a:solidFill>
              <a:ln w="9525" cap="flat">
                <a:solidFill>
                  <a:srgbClr val="38D4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00h</c:v>
                  </c:pt>
                  <c:pt idx="1">
                    <c:v>03h</c:v>
                  </c:pt>
                  <c:pt idx="2">
                    <c:v>06h</c:v>
                  </c:pt>
                  <c:pt idx="3">
                    <c:v>09h</c:v>
                  </c:pt>
                  <c:pt idx="4">
                    <c:v>12h</c:v>
                  </c:pt>
                  <c:pt idx="5">
                    <c:v>15h</c:v>
                  </c:pt>
                  <c:pt idx="6">
                    <c:v>18h</c:v>
                  </c:pt>
                  <c:pt idx="7">
                    <c:v>21h</c:v>
                  </c:pt>
                  <c:pt idx="8">
                    <c:v>24h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10</c:v>
                </c:pt>
                <c:pt idx="1">
                  <c:v>10</c:v>
                </c:pt>
                <c:pt idx="2">
                  <c:v>10</c:v>
                </c:pt>
                <c:pt idx="3">
                  <c:v>10</c:v>
                </c:pt>
                <c:pt idx="4">
                  <c:v>10</c:v>
                </c:pt>
                <c:pt idx="5">
                  <c:v>10</c:v>
                </c:pt>
                <c:pt idx="6">
                  <c:v>10</c:v>
                </c:pt>
                <c:pt idx="7">
                  <c:v>10</c:v>
                </c:pt>
                <c:pt idx="8">
                  <c:v>10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8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"/>
          <c:min val="0"/>
        </c:scaling>
        <c:delete val="0"/>
        <c:axPos val="l"/>
        <c:majorGridlines>
          <c:spPr>
            <a:ln w="6350" cap="flat">
              <a:solidFill>
                <a:srgbClr val="C9D6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B6B88"/>
                    </a:solidFill>
                    <a:latin typeface="+mn-lt"/>
                  </a:defRPr>
                </a:pPr>
                <a:r>
                  <a:rPr sz="900" b="0" i="0" u="none" strike="noStrike">
                    <a:solidFill>
                      <a:srgbClr val="5B6B88"/>
                    </a:solidFill>
                    <a:latin typeface="+mn-lt"/>
                  </a:rPr>
                  <a:t>mca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8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B6B8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 w="9525" cap="flat">
      <a:solidFill>
        <a:srgbClr val="C9D6EA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jp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.xml"/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.xml"/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3.xml"/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502920"/>
            <a:ext cx="4663440" cy="5212080"/>
          </a:xfrm>
          <a:prstGeom prst="roundRect">
            <a:avLst>
              <a:gd name="adj" fmla="val 6863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pic>
        <p:nvPicPr>
          <p:cNvPr id="3" name="Image 0" descr="/tmp/claude-0/-home-user-norte-sul-portfolio/b828416d-028b-56b8-943d-a9bc67fc20c3/scratchpad/pptx_out/cropped/p_capa_4.8x5.4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640080"/>
            <a:ext cx="4389120" cy="49377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822960"/>
            <a:ext cx="6035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Soluções integradas para redução de perdas de água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93192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6FF"/>
                </a:solidFill>
              </a:rPr>
              <a:t>Da rede ao ponto crítico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48640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Norte Sul Hidrotecnologia · Metropolitana Ambiental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10" name="Image 2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Quatro frentes. Uma rede mais eficiente.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ABORDAGEM INTEGRADA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2606040" cy="32004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01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Modelar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2606040"/>
            <a:ext cx="2148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Modelagem da situação atual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Modelagem de cenários futuros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3429000" y="1417320"/>
            <a:ext cx="2606040" cy="32004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3538728" y="141732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3657600" y="1645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02</a:t>
            </a:r>
            <a:endParaRPr lang="en-US" sz="2600" dirty="0"/>
          </a:p>
        </p:txBody>
      </p:sp>
      <p:sp>
        <p:nvSpPr>
          <p:cNvPr id="17" name="Text 13"/>
          <p:cNvSpPr txBox="1"/>
          <p:nvPr/>
        </p:nvSpPr>
        <p:spPr>
          <a:xfrm>
            <a:off x="3657600" y="21488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Renovar ativos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3657600" y="2606040"/>
            <a:ext cx="2148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Substituição de redes (MND)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Eliminação de perdas de carga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Eliminação de intermitência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6217920" y="1417320"/>
            <a:ext cx="2606040" cy="32004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327648" y="141732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446520" y="1645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03</a:t>
            </a:r>
            <a:endParaRPr lang="en-US" sz="2600" dirty="0"/>
          </a:p>
        </p:txBody>
      </p:sp>
      <p:sp>
        <p:nvSpPr>
          <p:cNvPr id="22" name="Text 18"/>
          <p:cNvSpPr txBox="1"/>
          <p:nvPr/>
        </p:nvSpPr>
        <p:spPr>
          <a:xfrm>
            <a:off x="6446520" y="21488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Gestão de pressões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6446520" y="2606040"/>
            <a:ext cx="2148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Otimização de VRPs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Novas VRPs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Eliminação de boosters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9006840" y="1417320"/>
            <a:ext cx="2606040" cy="320040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9116568" y="1417320"/>
            <a:ext cx="2386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9235440" y="164592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04</a:t>
            </a:r>
            <a:endParaRPr lang="en-US" sz="2600" dirty="0"/>
          </a:p>
        </p:txBody>
      </p:sp>
      <p:sp>
        <p:nvSpPr>
          <p:cNvPr id="27" name="Text 23"/>
          <p:cNvSpPr txBox="1"/>
          <p:nvPr/>
        </p:nvSpPr>
        <p:spPr>
          <a:xfrm>
            <a:off x="9235440" y="21488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Otimizar operação</a:t>
            </a:r>
            <a:endParaRPr lang="en-US" sz="1500" dirty="0"/>
          </a:p>
        </p:txBody>
      </p:sp>
      <p:sp>
        <p:nvSpPr>
          <p:cNvPr id="28" name="Text 24"/>
          <p:cNvSpPr txBox="1"/>
          <p:nvPr/>
        </p:nvSpPr>
        <p:spPr>
          <a:xfrm>
            <a:off x="9235440" y="2606040"/>
            <a:ext cx="2148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5B6B88"/>
                </a:solidFill>
              </a:rPr>
              <a:t>Operação de VRPs, boosters e EEAs pelo ponto crítico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640080" y="4846320"/>
            <a:ext cx="10927080" cy="868680"/>
          </a:xfrm>
          <a:prstGeom prst="roundRect">
            <a:avLst>
              <a:gd name="adj" fmla="val 10526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914400" y="484632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D4FF"/>
                </a:solidFill>
              </a:rPr>
              <a:t>Do diagnóstico à operação coordenada.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As quatro frentes se somam: modelar mostra onde agir, renovar e controlar a pressão reduzem a perda, operar pelo ponto crítico mantém o ganho.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Modelagem hidráulica: enxergar para decidir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01 / DIAGNÓSTICO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640080" y="1371600"/>
          <a:ext cx="658368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0" name="Shape 5"/>
          <p:cNvSpPr/>
          <p:nvPr/>
        </p:nvSpPr>
        <p:spPr>
          <a:xfrm>
            <a:off x="7498080" y="1371600"/>
            <a:ext cx="406908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1" name="Shape 6"/>
          <p:cNvSpPr/>
          <p:nvPr/>
        </p:nvSpPr>
        <p:spPr>
          <a:xfrm>
            <a:off x="7607808" y="1371600"/>
            <a:ext cx="38496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7726680" y="160020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Noite · vazamentos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7726680" y="192024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Pressão alta e consumo baixo: o volume perdido sobe.</a:t>
            </a:r>
            <a:endParaRPr lang="en-US" sz="1000" dirty="0"/>
          </a:p>
        </p:txBody>
      </p:sp>
      <p:sp>
        <p:nvSpPr>
          <p:cNvPr id="14" name="Shape 9"/>
          <p:cNvSpPr/>
          <p:nvPr/>
        </p:nvSpPr>
        <p:spPr>
          <a:xfrm>
            <a:off x="7498080" y="2788920"/>
            <a:ext cx="406908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7607808" y="2788920"/>
            <a:ext cx="38496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726680" y="3017520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Pico de consumo · intermitência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7726680" y="333756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Perdas de carga limitam o abastecimento nos pontos críticos.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640080" y="434340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749808" y="434340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868680" y="457200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Perdas de carga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868680" y="489204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Identificar os trechos em que a hidráulica limita as ações de controle de pressão.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6217920" y="434340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327648" y="434340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6446520" y="457200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Efeito no abastecimento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6446520" y="489204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Trechos com elevada perda de carga restringem a operação e o abastecimento.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640080" y="5669280"/>
            <a:ext cx="54864" cy="45720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822960" y="5669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Do diagnóstico à decisão: priorizar a rede que mais restringe a operação.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Renovação de ativos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02 / INTERVENÇÃO NA REDE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34924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01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Eliminar perdas de carga excessivas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2834640"/>
            <a:ext cx="4892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Tubo novo de baixa rugosidade substitui tubos corroídos e incrustados, recupera a capacidade hidráulica, devolve pressão disponível nos pontos críticos e reduz energia de bombeamento.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217920" y="1417320"/>
            <a:ext cx="534924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27648" y="141732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446520" y="16459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02</a:t>
            </a:r>
            <a:endParaRPr lang="en-US" sz="2600" dirty="0"/>
          </a:p>
        </p:txBody>
      </p:sp>
      <p:sp>
        <p:nvSpPr>
          <p:cNvPr id="17" name="Text 13"/>
          <p:cNvSpPr txBox="1"/>
          <p:nvPr/>
        </p:nvSpPr>
        <p:spPr>
          <a:xfrm>
            <a:off x="6446520" y="214884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Eliminar intermitências no abastecimento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6446520" y="2834640"/>
            <a:ext cx="4892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Vedação integral da tubulação elimina rompimentos e infiltrações, garante continuidade do fornecimento e reduz desabastecimentos por falha de rede.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40080" y="4754880"/>
            <a:ext cx="10927080" cy="914400"/>
          </a:xfrm>
          <a:prstGeom prst="roundRect">
            <a:avLst>
              <a:gd name="adj" fmla="val 10000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914400" y="47548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Rede renovada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habilita o controle de pressão (VRPs) no trecho crítico.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Menos pressão. Menos perdas.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GESTÃO DAS PRESSÕES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371600"/>
            <a:ext cx="512064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p_copos_5.44x4.1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1444752"/>
            <a:ext cx="4974336" cy="376732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248656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Mesmo furo, vazões diferentes: a pressão manda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217920" y="1463040"/>
            <a:ext cx="5349240" cy="960120"/>
          </a:xfrm>
          <a:prstGeom prst="roundRect">
            <a:avLst>
              <a:gd name="adj" fmla="val 9524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492240" y="146304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Menor pressão operacional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8595360" y="24231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8D4FF"/>
                </a:solidFill>
              </a:rPr>
              <a:t>↓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217920" y="2880360"/>
            <a:ext cx="5349240" cy="960120"/>
          </a:xfrm>
          <a:prstGeom prst="roundRect">
            <a:avLst>
              <a:gd name="adj" fmla="val 9524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492240" y="288036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Menor vazão dos vazamentos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8595360" y="38404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8D4FF"/>
                </a:solidFill>
              </a:rPr>
              <a:t>↓</a:t>
            </a:r>
            <a:endParaRPr lang="en-US" sz="2000" dirty="0"/>
          </a:p>
        </p:txBody>
      </p:sp>
      <p:sp>
        <p:nvSpPr>
          <p:cNvPr id="18" name="Shape 13"/>
          <p:cNvSpPr/>
          <p:nvPr/>
        </p:nvSpPr>
        <p:spPr>
          <a:xfrm>
            <a:off x="6217920" y="4297680"/>
            <a:ext cx="5349240" cy="960120"/>
          </a:xfrm>
          <a:prstGeom prst="roundRect">
            <a:avLst>
              <a:gd name="adj" fmla="val 9524"/>
            </a:avLst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492240" y="429768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3377"/>
                </a:solidFill>
              </a:rPr>
              <a:t>Redução das perdas de água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A física por trás da redução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FUNDAMENTO TÉCNICO · LAMBERT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603504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5815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Equação de orifício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55778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Quando a pressão na rede diminui, a vazão dos vazamentos também diminui.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Q final: vazão dos vazamentos após a redução da pressão.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Q inicial: vazão dos vazamentos antes da redução da pressão.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n: expoente de vazamento, de 0,5 para furos fixos em metal a 1,5 para rachaduras longitudinais em tubos plásticos, que se expandem com a pressão.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949440" y="1417320"/>
            <a:ext cx="4617720" cy="4480560"/>
          </a:xfrm>
          <a:prstGeom prst="roundRect">
            <a:avLst>
              <a:gd name="adj" fmla="val 2449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223760" y="164592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8D4FF"/>
                </a:solidFill>
              </a:rPr>
              <a:t>A equação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7223760" y="2377440"/>
            <a:ext cx="4069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Q</a:t>
            </a:r>
            <a:pPr algn="ctr" indent="0" marL="0">
              <a:buNone/>
            </a:pPr>
            <a:r>
              <a:rPr lang="en-US" sz="2200" baseline="-40000" dirty="0">
                <a:solidFill>
                  <a:srgbClr val="FFFFFF"/>
                </a:solidFill>
              </a:rPr>
              <a:t>final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 = Q</a:t>
            </a:r>
            <a:pPr algn="ctr" indent="0" marL="0">
              <a:buNone/>
            </a:pPr>
            <a:r>
              <a:rPr lang="en-US" sz="2200" baseline="-40000" dirty="0">
                <a:solidFill>
                  <a:srgbClr val="FFFFFF"/>
                </a:solidFill>
              </a:rPr>
              <a:t>inicial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 · ( P</a:t>
            </a:r>
            <a:pPr algn="ctr" indent="0" marL="0">
              <a:buNone/>
            </a:pPr>
            <a:r>
              <a:rPr lang="en-US" sz="2200" baseline="-40000" dirty="0">
                <a:solidFill>
                  <a:srgbClr val="FFFFFF"/>
                </a:solidFill>
              </a:rPr>
              <a:t>final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 / P</a:t>
            </a:r>
            <a:pPr algn="ctr" indent="0" marL="0">
              <a:buNone/>
            </a:pPr>
            <a:r>
              <a:rPr lang="en-US" sz="2200" baseline="-40000" dirty="0">
                <a:solidFill>
                  <a:srgbClr val="FFFFFF"/>
                </a:solidFill>
              </a:rPr>
              <a:t>inicial</a:t>
            </a:r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 )</a:t>
            </a:r>
            <a:pPr algn="ctr" indent="0" marL="0">
              <a:buNone/>
            </a:pPr>
            <a:r>
              <a:rPr lang="en-US" sz="2200" b="1" baseline="30000" dirty="0">
                <a:solidFill>
                  <a:srgbClr val="FFFFFF"/>
                </a:solidFill>
              </a:rPr>
              <a:t>n</a:t>
            </a:r>
            <a:endParaRPr lang="en-US" sz="2200" dirty="0"/>
          </a:p>
        </p:txBody>
      </p:sp>
      <p:sp>
        <p:nvSpPr>
          <p:cNvPr id="16" name="Text 12"/>
          <p:cNvSpPr txBox="1"/>
          <p:nvPr/>
        </p:nvSpPr>
        <p:spPr>
          <a:xfrm>
            <a:off x="7223760" y="3566160"/>
            <a:ext cx="4069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FE6FF"/>
                </a:solidFill>
              </a:rPr>
              <a:t>Q</a:t>
            </a:r>
            <a:pPr algn="ctr" indent="0" marL="0">
              <a:buNone/>
            </a:pPr>
            <a:r>
              <a:rPr lang="en-US" sz="1600" baseline="-40000" dirty="0">
                <a:solidFill>
                  <a:srgbClr val="CFE6FF"/>
                </a:solidFill>
              </a:rPr>
              <a:t>final</a:t>
            </a:r>
            <a:pPr algn="ctr" indent="0" marL="0">
              <a:buNone/>
            </a:pPr>
            <a:r>
              <a:rPr lang="en-US" sz="1600" b="1" dirty="0">
                <a:solidFill>
                  <a:srgbClr val="CFE6FF"/>
                </a:solidFill>
              </a:rPr>
              <a:t> / Q</a:t>
            </a:r>
            <a:pPr algn="ctr" indent="0" marL="0">
              <a:buNone/>
            </a:pPr>
            <a:r>
              <a:rPr lang="en-US" sz="1600" baseline="-40000" dirty="0">
                <a:solidFill>
                  <a:srgbClr val="CFE6FF"/>
                </a:solidFill>
              </a:rPr>
              <a:t>inicial</a:t>
            </a:r>
            <a:pPr algn="ctr" indent="0" marL="0">
              <a:buNone/>
            </a:pPr>
            <a:r>
              <a:rPr lang="en-US" sz="1600" b="1" dirty="0">
                <a:solidFill>
                  <a:srgbClr val="CFE6FF"/>
                </a:solidFill>
              </a:rPr>
              <a:t> = ( P</a:t>
            </a:r>
            <a:pPr algn="ctr" indent="0" marL="0">
              <a:buNone/>
            </a:pPr>
            <a:r>
              <a:rPr lang="en-US" sz="1600" baseline="-40000" dirty="0">
                <a:solidFill>
                  <a:srgbClr val="CFE6FF"/>
                </a:solidFill>
              </a:rPr>
              <a:t>final</a:t>
            </a:r>
            <a:pPr algn="ctr" indent="0" marL="0">
              <a:buNone/>
            </a:pPr>
            <a:r>
              <a:rPr lang="en-US" sz="1600" b="1" dirty="0">
                <a:solidFill>
                  <a:srgbClr val="CFE6FF"/>
                </a:solidFill>
              </a:rPr>
              <a:t> / P</a:t>
            </a:r>
            <a:pPr algn="ctr" indent="0" marL="0">
              <a:buNone/>
            </a:pPr>
            <a:r>
              <a:rPr lang="en-US" sz="1600" baseline="-40000" dirty="0">
                <a:solidFill>
                  <a:srgbClr val="CFE6FF"/>
                </a:solidFill>
              </a:rPr>
              <a:t>inicial</a:t>
            </a:r>
            <a:pPr algn="ctr" indent="0" marL="0">
              <a:buNone/>
            </a:pPr>
            <a:r>
              <a:rPr lang="en-US" sz="1600" b="1" dirty="0">
                <a:solidFill>
                  <a:srgbClr val="CFE6FF"/>
                </a:solidFill>
              </a:rPr>
              <a:t> )</a:t>
            </a:r>
            <a:pPr algn="ctr" indent="0" marL="0">
              <a:buNone/>
            </a:pPr>
            <a:r>
              <a:rPr lang="en-US" sz="1600" b="1" baseline="30000" dirty="0">
                <a:solidFill>
                  <a:srgbClr val="CFE6FF"/>
                </a:solidFill>
              </a:rPr>
              <a:t>n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7223760" y="4663440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FE6FF"/>
                </a:solidFill>
              </a:rPr>
              <a:t>Com n = 1, reduzir a pressão em 30% reduz a vazão dos vazamentos em 30%.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Caso DMC NASA: menos pressão, menos perdas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RESULTADO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41248" y="1417320"/>
            <a:ext cx="3090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44,23%</a:t>
            </a:r>
            <a:endParaRPr lang="en-US" sz="3600" dirty="0"/>
          </a:p>
        </p:txBody>
      </p:sp>
      <p:sp>
        <p:nvSpPr>
          <p:cNvPr id="11" name="Text 7"/>
          <p:cNvSpPr txBox="1"/>
          <p:nvPr/>
        </p:nvSpPr>
        <p:spPr>
          <a:xfrm>
            <a:off x="841248" y="2148840"/>
            <a:ext cx="3090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menos vazão de perdas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40080" y="292608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41248" y="2926080"/>
            <a:ext cx="3090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31 → 21 mca</a:t>
            </a:r>
            <a:endParaRPr lang="en-US" sz="3600" dirty="0"/>
          </a:p>
        </p:txBody>
      </p:sp>
      <p:sp>
        <p:nvSpPr>
          <p:cNvPr id="14" name="Text 10"/>
          <p:cNvSpPr txBox="1"/>
          <p:nvPr/>
        </p:nvSpPr>
        <p:spPr>
          <a:xfrm>
            <a:off x="841248" y="3657600"/>
            <a:ext cx="3090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pressão média, antes e depois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3484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41248" y="4434840"/>
            <a:ext cx="3090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945,4 m³/dia</a:t>
            </a:r>
            <a:endParaRPr lang="en-US" sz="3600" dirty="0"/>
          </a:p>
        </p:txBody>
      </p:sp>
      <p:sp>
        <p:nvSpPr>
          <p:cNvPr id="17" name="Text 13"/>
          <p:cNvSpPr txBox="1"/>
          <p:nvPr/>
        </p:nvSpPr>
        <p:spPr>
          <a:xfrm>
            <a:off x="841248" y="5166360"/>
            <a:ext cx="3090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recuperados</a:t>
            </a:r>
            <a:endParaRPr lang="en-US" sz="1100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4480560" y="1371600"/>
          <a:ext cx="708660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9" name="Shape 14"/>
          <p:cNvSpPr/>
          <p:nvPr/>
        </p:nvSpPr>
        <p:spPr>
          <a:xfrm>
            <a:off x="4480560" y="5029200"/>
            <a:ext cx="54864" cy="45720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4663440" y="5029200"/>
            <a:ext cx="6903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"O controle de pressão não substitui o reparo: ele reduz o volume perdido até que ele aconteça."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Operar pelo ponto crítico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03 / CONTROLE DE PRESSÃO E AUTOMAÇÃO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640080" y="1371600"/>
          <a:ext cx="722376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Shape 5"/>
          <p:cNvSpPr/>
          <p:nvPr/>
        </p:nvSpPr>
        <p:spPr>
          <a:xfrm>
            <a:off x="8229600" y="146304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8430768" y="1463040"/>
            <a:ext cx="3090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10 mca</a:t>
            </a:r>
            <a:endParaRPr lang="en-US" sz="3600" dirty="0"/>
          </a:p>
        </p:txBody>
      </p:sp>
      <p:sp>
        <p:nvSpPr>
          <p:cNvPr id="12" name="Text 7"/>
          <p:cNvSpPr txBox="1"/>
          <p:nvPr/>
        </p:nvSpPr>
        <p:spPr>
          <a:xfrm>
            <a:off x="8430768" y="2194560"/>
            <a:ext cx="3090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pressão mínima de referência nos pontos críticos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8229600" y="3017520"/>
            <a:ext cx="333756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8339328" y="3017520"/>
            <a:ext cx="311810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8458200" y="324612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A3377"/>
                </a:solidFill>
              </a:rPr>
              <a:t>Quem é operado pelo ponto crítico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8458200" y="3794760"/>
            <a:ext cx="28803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VRPs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Boosters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EEAs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Fechar o ciclo das perdas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FRENTE COMPLEMENTAR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12064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49011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Frentes 01 a 03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Perdas reais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2606040"/>
            <a:ext cx="4663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Diagnóstico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Intervenção na rede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Operação coordenada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46520" y="1417320"/>
            <a:ext cx="512064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556248" y="1417320"/>
            <a:ext cx="49011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675120" y="16459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Frente 04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6675120" y="21488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Perdas aparentes</a:t>
            </a:r>
            <a:endParaRPr lang="en-US" sz="1600" dirty="0"/>
          </a:p>
        </p:txBody>
      </p:sp>
      <p:sp>
        <p:nvSpPr>
          <p:cNvPr id="18" name="Text 14"/>
          <p:cNvSpPr txBox="1"/>
          <p:nvPr/>
        </p:nvSpPr>
        <p:spPr>
          <a:xfrm>
            <a:off x="6675120" y="2606040"/>
            <a:ext cx="4663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Renovação e adequação do parque de hidrômetros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Combate a fraudes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Ressupressão de inativos com consumo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5788152" y="2743200"/>
            <a:ext cx="640080" cy="64008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788152" y="2743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A3377"/>
                </a:solidFill>
              </a:rPr>
              <a:t>+</a:t>
            </a:r>
            <a:endParaRPr lang="en-US" sz="2600" dirty="0"/>
          </a:p>
        </p:txBody>
      </p:sp>
      <p:sp>
        <p:nvSpPr>
          <p:cNvPr id="21" name="Shape 17"/>
          <p:cNvSpPr/>
          <p:nvPr/>
        </p:nvSpPr>
        <p:spPr>
          <a:xfrm>
            <a:off x="640080" y="4937760"/>
            <a:ext cx="10927080" cy="777240"/>
          </a:xfrm>
          <a:prstGeom prst="roundRect">
            <a:avLst>
              <a:gd name="adj" fmla="val 11765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914400" y="493776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Soluções integradas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= perdas reais + perdas aparentes.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Um ciclo contínuo de melhoria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CADEIA DE VALOR INTEGRADA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329184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01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Modelar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2560320"/>
            <a:ext cx="2834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Diagnóstico: enxergar a rede antes de agir.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3931920" y="237744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→</a:t>
            </a:r>
            <a:endParaRPr lang="en-US" sz="2600" dirty="0"/>
          </a:p>
        </p:txBody>
      </p:sp>
      <p:sp>
        <p:nvSpPr>
          <p:cNvPr id="15" name="Shape 11"/>
          <p:cNvSpPr/>
          <p:nvPr/>
        </p:nvSpPr>
        <p:spPr>
          <a:xfrm>
            <a:off x="4389120" y="1417320"/>
            <a:ext cx="329184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498848" y="141732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617720" y="16459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02</a:t>
            </a:r>
            <a:endParaRPr lang="en-US" sz="2600" dirty="0"/>
          </a:p>
        </p:txBody>
      </p:sp>
      <p:sp>
        <p:nvSpPr>
          <p:cNvPr id="18" name="Text 14"/>
          <p:cNvSpPr txBox="1"/>
          <p:nvPr/>
        </p:nvSpPr>
        <p:spPr>
          <a:xfrm>
            <a:off x="4617720" y="21488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Substituir</a:t>
            </a:r>
            <a:endParaRPr lang="en-US" sz="1600" dirty="0"/>
          </a:p>
        </p:txBody>
      </p:sp>
      <p:sp>
        <p:nvSpPr>
          <p:cNvPr id="19" name="Text 15"/>
          <p:cNvSpPr txBox="1"/>
          <p:nvPr/>
        </p:nvSpPr>
        <p:spPr>
          <a:xfrm>
            <a:off x="4617720" y="2560320"/>
            <a:ext cx="2834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Intervenção: renovar o trecho que mais restringe.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7680960" y="237744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→</a:t>
            </a:r>
            <a:endParaRPr lang="en-US" sz="2600" dirty="0"/>
          </a:p>
        </p:txBody>
      </p:sp>
      <p:sp>
        <p:nvSpPr>
          <p:cNvPr id="21" name="Shape 17"/>
          <p:cNvSpPr/>
          <p:nvPr/>
        </p:nvSpPr>
        <p:spPr>
          <a:xfrm>
            <a:off x="8138160" y="1417320"/>
            <a:ext cx="329184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8247888" y="141732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8366760" y="16459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03</a:t>
            </a:r>
            <a:endParaRPr lang="en-US" sz="2600" dirty="0"/>
          </a:p>
        </p:txBody>
      </p:sp>
      <p:sp>
        <p:nvSpPr>
          <p:cNvPr id="24" name="Text 20"/>
          <p:cNvSpPr txBox="1"/>
          <p:nvPr/>
        </p:nvSpPr>
        <p:spPr>
          <a:xfrm>
            <a:off x="8366760" y="21488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Automatizar</a:t>
            </a:r>
            <a:endParaRPr lang="en-US" sz="1600" dirty="0"/>
          </a:p>
        </p:txBody>
      </p:sp>
      <p:sp>
        <p:nvSpPr>
          <p:cNvPr id="25" name="Text 21"/>
          <p:cNvSpPr txBox="1"/>
          <p:nvPr/>
        </p:nvSpPr>
        <p:spPr>
          <a:xfrm>
            <a:off x="8366760" y="2560320"/>
            <a:ext cx="2834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Operação coordenada pelo ponto crítico.</a:t>
            </a:r>
            <a:endParaRPr lang="en-US" sz="1200" dirty="0"/>
          </a:p>
        </p:txBody>
      </p:sp>
      <p:sp>
        <p:nvSpPr>
          <p:cNvPr id="26" name="Shape 22"/>
          <p:cNvSpPr/>
          <p:nvPr/>
        </p:nvSpPr>
        <p:spPr>
          <a:xfrm>
            <a:off x="640080" y="4343400"/>
            <a:ext cx="10927080" cy="1280160"/>
          </a:xfrm>
          <a:prstGeom prst="roundRect">
            <a:avLst>
              <a:gd name="adj" fmla="val 7143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914400" y="4343400"/>
            <a:ext cx="10424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D4FF"/>
                </a:solidFill>
              </a:rPr>
              <a:t>Reduzir perdas.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Diagnóstico, intervenção e operação se retroalimentam.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8D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3736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200" b="1" dirty="0">
                <a:solidFill>
                  <a:srgbClr val="0A3377"/>
                </a:solidFill>
              </a:rPr>
              <a:t>Obrigado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108960"/>
            <a:ext cx="10058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Converse com nossa equipe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0A3377"/>
                </a:solidFill>
              </a:rPr>
              <a:t>Visite o estande da Norte Sul na FENASAN · comercial@nortesultec.com.br</a:t>
            </a:r>
            <a:endParaRPr lang="en-US" sz="1400" dirty="0"/>
          </a:p>
        </p:txBody>
      </p:sp>
      <p:pic>
        <p:nvPicPr>
          <p:cNvPr id="5" name="Image 0" descr="/tmp/claude-0/-home-user-norte-sul-portfolio/b828416d-028b-56b8-943d-a9bc67fc20c3/scratchpad/pptx_out/equipe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73178" y="1051560"/>
            <a:ext cx="5178437" cy="42062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5532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Da rede ao ponto crítico · Gestão+ Performance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10" name="Image 2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estão Performance">
  <a:themeElements>
    <a:clrScheme name="Gestão Performance">
      <a:dk1>
        <a:srgbClr val="05204E"/>
      </a:dk1>
      <a:lt1>
        <a:srgbClr val="FFFFFF"/>
      </a:lt1>
      <a:dk2>
        <a:srgbClr val="0A3377"/>
      </a:dk2>
      <a:lt2>
        <a:srgbClr val="F3F6FB"/>
      </a:lt2>
      <a:accent1>
        <a:srgbClr val="38D4FF"/>
      </a:accent1>
      <a:accent2>
        <a:srgbClr val="0A3377"/>
      </a:accent2>
      <a:accent3>
        <a:srgbClr val="0E3F8C"/>
      </a:accent3>
      <a:accent4>
        <a:srgbClr val="5B6B88"/>
      </a:accent4>
      <a:accent5>
        <a:srgbClr val="CFE6FF"/>
      </a:accent5>
      <a:accent6>
        <a:srgbClr val="C9D6EA"/>
      </a:accent6>
      <a:hlink>
        <a:srgbClr val="0563C1"/>
      </a:hlink>
      <a:folHlink>
        <a:srgbClr val="954F72"/>
      </a:folHlink>
    </a:clrScheme>
    <a:fontScheme name="Gestão Performan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Norte Sul Hidrotecnologia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2026-10-16T16:15:47Z</dcterms:created>
  <dcterms:modified xsi:type="dcterms:W3CDTF">2026-10-16T16:15:47Z</dcterms:modified>
</cp:coreProperties>
</file>