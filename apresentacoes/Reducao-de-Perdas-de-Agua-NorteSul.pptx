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Pressão ao longo do dia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disponível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</c:v>
                </c:pt>
                <c:pt idx="1">
                  <c:v>36</c:v>
                </c:pt>
                <c:pt idx="2">
                  <c:v>30</c:v>
                </c:pt>
                <c:pt idx="3">
                  <c:v>22</c:v>
                </c:pt>
                <c:pt idx="4">
                  <c:v>18</c:v>
                </c:pt>
                <c:pt idx="5">
                  <c:v>20</c:v>
                </c:pt>
                <c:pt idx="6">
                  <c:v>16</c:v>
                </c:pt>
                <c:pt idx="7">
                  <c:v>24</c:v>
                </c:pt>
                <c:pt idx="8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CFE6FF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CFE6FF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Vazão de perdas · m³/dia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Vazão de perdas (m³/dia)</c:v>
                </c:pt>
              </c:strCache>
            </c:strRef>
          </c:tx>
          <c:spPr>
            <a:solidFill>
              <a:srgbClr val="38D4FF"/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D4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FE6F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Antes</c:v>
                  </c:pt>
                  <c:pt idx="1">
                    <c:v>Depois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2137.38</c:v>
                </c:pt>
                <c:pt idx="1">
                  <c:v>1191.98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00"/>
        </c:scaling>
        <c:delete val="0"/>
        <c:axPos val="b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A3377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A3377"/>
                </a:solidFill>
                <a:latin typeface="+mn-lt"/>
              </a:rPr>
              <a:t>Pressão operacional ao longo de 24 horas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no ponto crítico</c:v>
                </c:pt>
              </c:strCache>
            </c:strRef>
          </c:tx>
          <c:spPr>
            <a:solidFill>
              <a:srgbClr val="0A3377"/>
            </a:solidFill>
            <a:ln w="38100" cap="flat">
              <a:solidFill>
                <a:srgbClr val="0A337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3377"/>
              </a:solidFill>
              <a:ln w="9525" cap="flat">
                <a:solidFill>
                  <a:srgbClr val="0A337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19</c:v>
                </c:pt>
                <c:pt idx="1">
                  <c:v>21</c:v>
                </c:pt>
                <c:pt idx="2">
                  <c:v>16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10.5</c:v>
                </c:pt>
                <c:pt idx="7">
                  <c:v>14</c:v>
                </c:pt>
                <c:pt idx="8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Mínimo de referência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10</c:v>
                </c:pt>
                <c:pt idx="7">
                  <c:v>10</c:v>
                </c:pt>
                <c:pt idx="8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6350" cap="flat">
              <a:solidFill>
                <a:srgbClr val="C9D6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88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5B6B88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B8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9525" cap="flat">
      <a:solidFill>
        <a:srgbClr val="C9D6E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p_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Soluções integradas para redução de perdas de água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Da rede ao ponto crítico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Norte Sul Hidrotecnologia · Metropolitana Ambiental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frentes. Uma rede mais eficiente.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ABORDAGEM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Modelar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da situação atual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de cenários futuros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42900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3872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65760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65760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Renovar ativos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365760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Substituição de redes (MND)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perdas de carga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intermitência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21792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32764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4652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Gestão de pressões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644652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Otimização de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Novas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boosters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900684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11656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923544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27" name="Text 23"/>
          <p:cNvSpPr txBox="1"/>
          <p:nvPr/>
        </p:nvSpPr>
        <p:spPr>
          <a:xfrm>
            <a:off x="923544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Otimizar operação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923544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Operação de VRPs, boosters e EEAs pelo ponto crítico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40080" y="4846320"/>
            <a:ext cx="10927080" cy="868680"/>
          </a:xfrm>
          <a:prstGeom prst="roundRect">
            <a:avLst>
              <a:gd name="adj" fmla="val 10526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14400" y="48463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D4FF"/>
                </a:solidFill>
              </a:rPr>
              <a:t>Do diagnóstico à operação coordenada.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As quatro frentes se somam: modelar mostra onde agir, renovar e controlar a pressão reduzem a perda, operar pelo ponto crítico mantém o ganho.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Modelagem hidráulica: enxergar para decidir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01 / 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65836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Shape 5"/>
          <p:cNvSpPr/>
          <p:nvPr/>
        </p:nvSpPr>
        <p:spPr>
          <a:xfrm>
            <a:off x="7498080" y="137160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7607808" y="137160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26680" y="16002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Noite · vazamentos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7726680" y="192024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Pressão alta e consumo baixo: o volume perdido sobe.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7498080" y="278892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607808" y="278892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726680" y="3017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Pico de consumo · intermitência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7726680" y="33375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Perdas de carga limitam o abastecimento nos pontos críticos.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4008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6868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Perdas de carga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6868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Identificar os trechos em que a hidráulica limita as ações de controle de pressão.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21792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2764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4652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Efeito no abastecimento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44652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Trechos com elevada perda de carga restringem a operação e o abastecimento.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Do diagnóstico à decisão: priorizar a rede que mais restringe a operação.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Renovação de ativos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02 / INTERVENÇÃO NA REDE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perdas de carga excessivas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Tubo novo de baixa rugosidade substitui tubos corroídos e incrustados, recupera a capacidade hidráulica, devolve pressão disponível nos pontos críticos e reduz energia de bombeamento.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1792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644652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intermitências no abastecimento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Vedação integral da tubulação elimina rompimentos e infiltrações, garante continuidade do fornecimento e reduz desabastecimentos por falha de rede.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1000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14400" y="47548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Rede renovada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habilita o controle de pressão (VRPs) no trecho crítico.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Menos pressão. Menos perdas.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GESTÃO DAS PRESSÕES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_copos_5.44x4.1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444752"/>
            <a:ext cx="4974336" cy="37673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48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Mesmo furo, vazões diferentes: a pressão manda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6304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492240" y="146304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pressão operacional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859536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217920" y="288036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92240" y="288036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vazão dos vazamentos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595360" y="38404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6217920" y="429768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492240" y="42976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3377"/>
                </a:solidFill>
              </a:rPr>
              <a:t>Redução das perdas de água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A física por trás da redução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FUNDAMENTO TÉCNICO · LAMBERT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6035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815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Equação de orifício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5577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Quando a pressão na rede diminui, a vazão dos vazamentos também diminui.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final: vazão dos vazamentos após 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inicial: vazão dos vazamentos antes da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n: expoente de vazamento, de 0,5 para furos fixos em metal a 1,5 para rachaduras longitudinais em tubos plásticos, que se expandem com a pressão.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949440" y="1417320"/>
            <a:ext cx="4617720" cy="4480560"/>
          </a:xfrm>
          <a:prstGeom prst="roundRect">
            <a:avLst>
              <a:gd name="adj" fmla="val 2449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223760" y="164592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D4FF"/>
                </a:solidFill>
              </a:rPr>
              <a:t>A equação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223760" y="237744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Q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= Q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· ( 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/ 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)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FFFFFF"/>
                </a:solidFill>
              </a:rPr>
              <a:t>n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7223760" y="356616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Q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/ Q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= ( P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/ P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)</a:t>
            </a:r>
            <a:pPr algn="ctr" indent="0" marL="0">
              <a:buNone/>
            </a:pPr>
            <a:r>
              <a:rPr lang="en-US" sz="1600" b="1" baseline="30000" dirty="0">
                <a:solidFill>
                  <a:srgbClr val="CFE6FF"/>
                </a:solidFill>
              </a:rPr>
              <a:t>n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223760" y="46634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6FF"/>
                </a:solidFill>
              </a:rPr>
              <a:t>Com n = 1, reduzir a pressão em 30% reduz a vazão dos vazamentos em 30%.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Caso DMC NASA: menos pressão, menos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141732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44,23%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214884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menos vazão de perdas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0080" y="29260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292608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31 → 21 mca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41248" y="365760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pressão média, antes e depois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348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41248" y="44348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945,4 m³/dia</a:t>
            </a:r>
            <a:endParaRPr lang="en-US" sz="3600" dirty="0"/>
          </a:p>
        </p:txBody>
      </p:sp>
      <p:sp>
        <p:nvSpPr>
          <p:cNvPr id="17" name="Text 13"/>
          <p:cNvSpPr txBox="1"/>
          <p:nvPr/>
        </p:nvSpPr>
        <p:spPr>
          <a:xfrm>
            <a:off x="841248" y="51663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recuperados</a:t>
            </a:r>
            <a:endParaRPr lang="en-US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480560" y="1371600"/>
          <a:ext cx="7086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Shape 14"/>
          <p:cNvSpPr/>
          <p:nvPr/>
        </p:nvSpPr>
        <p:spPr>
          <a:xfrm>
            <a:off x="4480560" y="502920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63440" y="5029200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"O controle de pressão não substitui o reparo: ele reduz o volume perdido até que ele aconteça."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Operar pelo ponto crítico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03 / CONTROLE DE PRESSÃO E AUTOMAÇÃO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72237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Shape 5"/>
          <p:cNvSpPr/>
          <p:nvPr/>
        </p:nvSpPr>
        <p:spPr>
          <a:xfrm>
            <a:off x="8229600" y="14630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430768" y="14630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10 mca</a:t>
            </a:r>
            <a:endParaRPr lang="en-US" sz="3600" dirty="0"/>
          </a:p>
        </p:txBody>
      </p:sp>
      <p:sp>
        <p:nvSpPr>
          <p:cNvPr id="12" name="Text 7"/>
          <p:cNvSpPr txBox="1"/>
          <p:nvPr/>
        </p:nvSpPr>
        <p:spPr>
          <a:xfrm>
            <a:off x="8430768" y="21945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pressão mínima de referência nos pontos críticos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8229600" y="3017520"/>
            <a:ext cx="333756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8339328" y="3017520"/>
            <a:ext cx="311810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458200" y="3246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3377"/>
                </a:solidFill>
              </a:rPr>
              <a:t>Quem é operado pelo ponto crítico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458200" y="3794760"/>
            <a:ext cx="2880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VRPs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Boosters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EEAs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Fechar o ciclo das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FRENTE COMPLEMENTAR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Frentes 01 a 03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reais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Diagnóstico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Intervenção na rede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Operação coordenada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4652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5624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67512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 04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aparentes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667512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Renovação e adequação do parque de hidrômetros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Combate a fraudes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Ressupressão de inativos com consumo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788152" y="27432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788152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3377"/>
                </a:solidFill>
              </a:rPr>
              <a:t>+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640080" y="4937760"/>
            <a:ext cx="10927080" cy="777240"/>
          </a:xfrm>
          <a:prstGeom prst="roundRect">
            <a:avLst>
              <a:gd name="adj" fmla="val 11765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937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Soluções integradas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= perdas reais + perdas aparentes.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Um ciclo contínuo de melhoria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CADEIA DE VALOR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Modelar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Diagnóstico: enxergar a rede antes de agir.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93192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15" name="Shape 11"/>
          <p:cNvSpPr/>
          <p:nvPr/>
        </p:nvSpPr>
        <p:spPr>
          <a:xfrm>
            <a:off x="438912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49884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61772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Substituir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61772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Intervenção: renovar o trecho que mais restringe.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68096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813816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24788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36676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4" name="Text 20"/>
          <p:cNvSpPr txBox="1"/>
          <p:nvPr/>
        </p:nvSpPr>
        <p:spPr>
          <a:xfrm>
            <a:off x="836676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Automatizar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36676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Operação coordenada pelo ponto crítico.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40080" y="434340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914400" y="434340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Reduzir perdas.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Diagnóstico, intervenção e operação se retroalimentam.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Converse com nossa equipe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Visite o estande da Norte Sul na FENASAN · comercial@nortesultec.com.br</a:t>
            </a:r>
            <a:endParaRPr lang="en-US" sz="1400" dirty="0"/>
          </a:p>
        </p:txBody>
      </p:sp>
      <p:pic>
        <p:nvPicPr>
          <p:cNvPr id="5" name="Image 0" descr="/tmp/claude-0/-home-user-norte-sul-portfolio/b828416d-028b-56b8-943d-a9bc67fc20c3/scratchpad/pptx_out/equip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2584" y="1051560"/>
            <a:ext cx="4689032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Da rede ao ponto crítico · Gestão+ Performance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2026-10-16T17:04:44Z</dcterms:created>
  <dcterms:modified xsi:type="dcterms:W3CDTF">2026-10-16T17:04:44Z</dcterms:modified>
</cp:coreProperties>
</file>