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Pressão ao longo do dia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disponível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36</c:v>
                </c:pt>
                <c:pt idx="2">
                  <c:v>30</c:v>
                </c:pt>
                <c:pt idx="3">
                  <c:v>22</c:v>
                </c:pt>
                <c:pt idx="4">
                  <c:v>18</c:v>
                </c:pt>
                <c:pt idx="5">
                  <c:v>20</c:v>
                </c:pt>
                <c:pt idx="6">
                  <c:v>16</c:v>
                </c:pt>
                <c:pt idx="7">
                  <c:v>24</c:v>
                </c:pt>
                <c:pt idx="8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CFE6FF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CFE6FF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Vazão de perdas · m³/dia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Vazão de perdas (m³/dia)</c:v>
                </c:pt>
              </c:strCache>
            </c:strRef>
          </c:tx>
          <c:spPr>
            <a:solidFill>
              <a:srgbClr val="38D4F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D4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E6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Depois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2137.38</c:v>
                </c:pt>
                <c:pt idx="1">
                  <c:v>1191.98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"/>
        </c:scaling>
        <c:delete val="0"/>
        <c:axPos val="b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3377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A3377"/>
                </a:solidFill>
                <a:latin typeface="+mn-lt"/>
              </a:rPr>
              <a:t>Pressão operacional ao longo de 24 horas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no ponto crítico</c:v>
                </c:pt>
              </c:strCache>
            </c:strRef>
          </c:tx>
          <c:spPr>
            <a:solidFill>
              <a:srgbClr val="0A3377"/>
            </a:solidFill>
            <a:ln w="38100" cap="flat">
              <a:solidFill>
                <a:srgbClr val="0A33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3377"/>
              </a:solidFill>
              <a:ln w="9525" cap="flat">
                <a:solidFill>
                  <a:srgbClr val="0A33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</c:v>
                </c:pt>
                <c:pt idx="1">
                  <c:v>21</c:v>
                </c:pt>
                <c:pt idx="2">
                  <c:v>16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10.5</c:v>
                </c:pt>
                <c:pt idx="7">
                  <c:v>14</c:v>
                </c:pt>
                <c:pt idx="8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Mínimo de referência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C9D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88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5B6B88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B8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9525" cap="flat">
      <a:solidFill>
        <a:srgbClr val="C9D6E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Soluções integradas para redução de perdas de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Da rede ao ponto crítico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Norte Sul Hidrotecnologia · Metropolitana Ambiental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frentes. Uma rede mais eficiente.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ABORDAGEM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Modelar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da situação atual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de cenários futuros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2900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Renovar ativos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Substituição de redes (MND)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perdas de carga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intermitência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Gestão de pressões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Otimização de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Novas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boosters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Otimizar operação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Operação de VRPs, boosters e EEAs pelo ponto crítico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" y="484632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4400" y="48463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D4FF"/>
                </a:solidFill>
              </a:rPr>
              <a:t>Do diagnóstico à operação coordenada.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 quatro frentes se somam: modelar mostra onde agir, renovar e controlar a pressão reduzem a perda, operar pelo ponto crítico mantém o ganho.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Modelagem hidráulica: enxergar para decidir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01 / 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Shape 5"/>
          <p:cNvSpPr/>
          <p:nvPr/>
        </p:nvSpPr>
        <p:spPr>
          <a:xfrm>
            <a:off x="7498080" y="137160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07808" y="137160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2668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Noite · vazamentos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726680" y="1920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Pressão alta e consumo baixo: o volume perdido sobe.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278892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607808" y="278892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2668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Pico de consumo · intermitência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7726680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Perdas de carga limitam o abastecimento nos pontos críticos.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Perdas de carga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Identificar os trechos em que a hidráulica limita as ações de controle de pressão.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2764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4652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Efeito no abastecimento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Trechos com elevada perda de carga restringem a operação e o abastecimento.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 diagnóstico à decisão: priorizar a rede que mais restringe a operação.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Renovação de ativos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02 / INTERVENÇÃO NA REDE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perdas de carga excessivas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Tubo novo de baixa rugosidade substitui tubos corroídos e incrustados, recupera a capacidade hidráulica, devolve pressão disponível nos pontos críticos e reduz energia de bombeamento.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intermitências no abastecimento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Vedação integral da tubulação elimina rompimentos e infiltrações, garante continuidade do fornecimento e reduz desabastecimentos por falha de rede.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4400" y="4754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Rede renovada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habilita o controle de pressão (VRPs) no trecho crítico.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Menos pressão. Menos perdas.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GESTÃO DAS PRESSÕES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_copos_5.44x4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44752"/>
            <a:ext cx="4974336" cy="37673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48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Mesmo furo, vazões diferentes: a pressão manda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6304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1463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pressão operacional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59536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92240" y="2880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vazão dos vazamentos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59536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6217920" y="429768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92240" y="42976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Redução das perdas de água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 física por trás da redução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FUNDAMENTO TÉCNICO · LAMBERT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6035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815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Equação de orifício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Quando a pressão na rede diminui, a vazão dos vazamentos também diminui.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final: vazão dos vazamentos após 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inicial: vazão dos vazamentos antes da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n: expoente de vazamento, de 0,5 para furos fixos em metal a 1,5 para rachaduras longitudinais em tubos plásticos, que se expandem com a pressão.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1417320"/>
            <a:ext cx="4617720" cy="4480560"/>
          </a:xfrm>
          <a:prstGeom prst="roundRect">
            <a:avLst>
              <a:gd name="adj" fmla="val 244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16459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D4FF"/>
                </a:solidFill>
              </a:rPr>
              <a:t>A equação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0" y="23774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= 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· (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/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)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FFFFFF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56616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= (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)</a:t>
            </a:r>
            <a:pPr algn="ctr" indent="0" marL="0">
              <a:buNone/>
            </a:pPr>
            <a:r>
              <a:rPr lang="en-US" sz="1600" b="1" baseline="30000" dirty="0">
                <a:solidFill>
                  <a:srgbClr val="CFE6FF"/>
                </a:solidFill>
              </a:rPr>
              <a:t>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22376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6FF"/>
                </a:solidFill>
              </a:rPr>
              <a:t>Com n = 1, reduzir a pressão em 30% reduz a vazão dos vazamentos em 30%.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Caso DMC NASA: menos pressão, menos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1732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44,23%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4884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menos vazão de perdas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29260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292608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31 → 21 mca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41248" y="365760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pressão média, antes e depois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348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" y="44348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945,4 m³/dia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" y="5166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recuperados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480560" y="1371600"/>
          <a:ext cx="7086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Shape 14"/>
          <p:cNvSpPr/>
          <p:nvPr/>
        </p:nvSpPr>
        <p:spPr>
          <a:xfrm>
            <a:off x="4480560" y="502920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63440" y="5029200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"O controle de pressão não substitui o reparo: ele reduz o volume perdido até que ele aconteça."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Operar pelo ponto crítico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03 / CONTROLE DE PRESSÃO E AUTOMAÇÃO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822960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3076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10 mca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843076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pressão mínima de referência nos pontos críticos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229600" y="3017520"/>
            <a:ext cx="33375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39328" y="3017520"/>
            <a:ext cx="31181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458200" y="3246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3377"/>
                </a:solidFill>
              </a:rPr>
              <a:t>Quem é operado pelo ponto crítico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794760"/>
            <a:ext cx="2880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VRPs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Boosters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Fechar o ciclo das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FRENTE COMPLEMENTAR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Frentes 01 a 03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reais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Diagnóstico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Intervenção na rede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Operação coordenada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4652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 04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aparentes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Renovação e adequação do parque de hidrômetros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Combate a fraudes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Ressupressão de inativos com consumo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788152" y="27432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88152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377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640080" y="493776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937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Soluções integradas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= perdas reais + perdas aparentes.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Um ciclo contínuo de melhoria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CADEIA DE VALOR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Modelar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Diagnóstico: enxergar a rede antes de agir.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438912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9884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Substituir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Intervenção: renovar o trecho que mais restringe.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68096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813816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4788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667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836676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Automatizar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36676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Operação coordenada pelo ponto crítico.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Reduzir perdas.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Diagnóstico, intervenção e operação se retroalimentam.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Converse com nossa equipe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Visite o estande da Norte Sul na FENASAN · comercial@nortesultec.com.br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Da rede ao ponto crítico · Gestão+ Performance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9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2026-10-16T15:25:18Z</dcterms:created>
  <dcterms:modified xsi:type="dcterms:W3CDTF">2026-10-16T15:25:18Z</dcterms:modified>
</cp:coreProperties>
</file>