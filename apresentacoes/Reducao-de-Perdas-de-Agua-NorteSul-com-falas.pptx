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Uma abordagem eficiente no combate às perdas requer criar um modelo da operação atual identificando os pontos fracos do sistema, bem como propor cenários futuros com a eliminação de perdas de carga e intermitência, através de renovação dos ativos que possibilitarão a gestão das pressões através da otimização das VRPs existentes e instalação de novas VRPs.
A cereja do bolo será a operação de VRPs, booster e EEA através da pressão mínima do ponto crítico.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 bastante comum em sistemas de abastecimento a convivência de vazamentos no período noturno, onde se tem o consumo mínimo que resultam em pressões elevadas e durante o período de maior consumo diurno, intermitência no abastecimento.
Com a modelagem é possível identificar trechos de rede com elevada perda de carga quer pelo diâmetro insuficiente, quer pelo grau de incrustações, responsáveis pelo paradoxo de se ter falta d’água durante o dia e vazamentos no período noturno. Esta situação limita ações de controle de pressão.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tais casos, a renovação de ativos, preferencialmente por método não destrutível, é a alternativa mais viável, onde os tubos novos de PEAD se apresentam como uma estrutura monolítica, já que os tubos são soldados e portanto sem juntas encaixadas, que representam pontos frágeis para vazamentos. Pela baixa rugosidade, os tubos recuperam a capacidade hidráulica elevando o plano piezométrico e portanto a intermitência.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gestão de pressões, outra ação fundamental no controle de perdas, baseia-se no princípio de que uma menor pressão resulta numa menor vazão dos vazamentos e portanto menor perda física de água.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equação que associa as vazões final e inicial com as pressões final e inicial está representada neste slide, sendo que o expoente n depende do tipo de material, variando de 0,5 para furos em tubulações rígidas até 1,5 para tubos plásticos que se expandem com a pressão.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exemplo claro deste princípio pôde ser demonstrado no case da VRP Nasa, onde após a renovação das redes e ramais da área de influência da VRP, foi possível reduzir a pressão de saída da VRP em 10 mca, passando de 31 mca para 21 mca. Tal redução sem prejuízo ao abastecimento, possibilitou uma redução da vazão diária distribuída, passando de cerca de 2.130 m³/dia para 1.190 m³/dia, uma redução de 44% na vazão de perdas, representando uma vazão recuperada de 945 m³/dia.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cereja do bolo na gestão de pressões, fica por conta da operação de VRPs, booster e EEA pela ponto crítico. Ponto Crítico é o local da rede que sofre mais com a falta de pressão, geralmente o ponto mais alto ou mais distante. Ele possui um sensor que mede a pressão local em tempo real, normalmente 10 mca. O sensor do Ponto Crítico envia essa informação via sinal de celular (GPRS) para a central de controle da VRP, booster ou EEA, que recebe o dado da pressão do Ponto Crítico. Se a pressão no PC estiver baixa (menos que 10 mca), se a unidade a ser controlada for uma VRP, esta abre mais automaticamente; se estiver alta demais (mais que 10 mca ), a VRP fecha um pouco. Para booster e EEA, o controle se dá via inversor de frequência que altera a rotação para mais ou para menos dependendo da pressão registrada no ponto crítico.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Fechando o ciclo das ações de controle de perdas, temos também as ações para controle de perdas aparentes tais como renovação e adequação do parque de hidrômetros, combate a fraudes e ressupressão de ligações inativas fraudadas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Controle de perdas exige ação contínua periódica de modelar, substituir e automatizar.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49440" y="502920"/>
            <a:ext cx="4663440" cy="5212080"/>
          </a:xfrm>
          <a:prstGeom prst="roundRect">
            <a:avLst>
              <a:gd name="adj" fmla="val 6863"/>
            </a:avLst>
          </a:prstGeom>
          <a:solidFill>
            <a:srgbClr val="0E3F8C"/>
          </a:solidFill>
          <a:ln w="12700">
            <a:solidFill>
              <a:srgbClr val="0E3F8C"/>
            </a:solidFill>
            <a:prstDash val="solid"/>
          </a:ln>
        </p:spPr>
      </p:sp>
      <p:pic>
        <p:nvPicPr>
          <p:cNvPr id="3" name="Image 0" descr="/tmp/claude-0/-home-user-norte-sul-portfolio/b828416d-028b-56b8-943d-a9bc67fc20c3/scratchpad/pptx_out/cropped/p_capa_4.8x5.4.jpg">    </p:cNvPr>
          <p:cNvPicPr>
            <a:picLocks noChangeAspect="1"/>
          </p:cNvPicPr>
          <p:nvPr/>
        </p:nvPicPr>
        <p:blipFill>
          <a:blip r:embed="rId2"/>
          <a:stretch>
            <a:fillRect/>
          </a:stretch>
        </p:blipFill>
        <p:spPr>
          <a:xfrm>
            <a:off x="7086600" y="640080"/>
            <a:ext cx="4389120" cy="4937760"/>
          </a:xfrm>
          <a:prstGeom prst="rect">
            <a:avLst/>
          </a:prstGeom>
        </p:spPr>
      </p:pic>
      <p:sp>
        <p:nvSpPr>
          <p:cNvPr id="4" name="Text 1"/>
          <p:cNvSpPr txBox="1"/>
          <p:nvPr/>
        </p:nvSpPr>
        <p:spPr>
          <a:xfrm>
            <a:off x="640080" y="822960"/>
            <a:ext cx="6035040" cy="2926080"/>
          </a:xfrm>
          <a:prstGeom prst="rect">
            <a:avLst/>
          </a:prstGeom>
          <a:noFill/>
          <a:ln/>
        </p:spPr>
        <p:txBody>
          <a:bodyPr wrap="square" lIns="0" tIns="0" rIns="0" bIns="0" rtlCol="0" anchor="t"/>
          <a:lstStyle/>
          <a:p>
            <a:pPr indent="0" marL="0">
              <a:buNone/>
            </a:pPr>
            <a:r>
              <a:rPr lang="en-US" sz="3400" b="1" dirty="0">
                <a:solidFill>
                  <a:srgbClr val="FFFFFF"/>
                </a:solidFill>
              </a:rPr>
              <a:t>Soluções integradas para redução de perdas de água</a:t>
            </a:r>
            <a:endParaRPr lang="en-US" sz="3400" dirty="0"/>
          </a:p>
        </p:txBody>
      </p:sp>
      <p:sp>
        <p:nvSpPr>
          <p:cNvPr id="5" name="Text 2"/>
          <p:cNvSpPr txBox="1"/>
          <p:nvPr/>
        </p:nvSpPr>
        <p:spPr>
          <a:xfrm>
            <a:off x="640080" y="3931920"/>
            <a:ext cx="6035040" cy="731520"/>
          </a:xfrm>
          <a:prstGeom prst="rect">
            <a:avLst/>
          </a:prstGeom>
          <a:noFill/>
          <a:ln/>
        </p:spPr>
        <p:txBody>
          <a:bodyPr wrap="square" lIns="0" tIns="0" rIns="0" bIns="0" rtlCol="0" anchor="t"/>
          <a:lstStyle/>
          <a:p>
            <a:pPr indent="0" marL="0">
              <a:buNone/>
            </a:pPr>
            <a:r>
              <a:rPr lang="en-US" sz="1400" dirty="0">
                <a:solidFill>
                  <a:srgbClr val="CFE6FF"/>
                </a:solidFill>
              </a:rPr>
              <a:t>Da rede ao ponto crítico</a:t>
            </a:r>
            <a:endParaRPr lang="en-US" sz="1400" dirty="0"/>
          </a:p>
        </p:txBody>
      </p:sp>
      <p:sp>
        <p:nvSpPr>
          <p:cNvPr id="6" name="Text 3"/>
          <p:cNvSpPr txBox="1"/>
          <p:nvPr/>
        </p:nvSpPr>
        <p:spPr>
          <a:xfrm>
            <a:off x="640080" y="5486400"/>
            <a:ext cx="6035040" cy="457200"/>
          </a:xfrm>
          <a:prstGeom prst="rect">
            <a:avLst/>
          </a:prstGeom>
          <a:noFill/>
          <a:ln/>
        </p:spPr>
        <p:txBody>
          <a:bodyPr wrap="square" lIns="0" tIns="0" rIns="0" bIns="0" rtlCol="0" anchor="b"/>
          <a:lstStyle/>
          <a:p>
            <a:pPr indent="0" marL="0">
              <a:buNone/>
            </a:pPr>
            <a:r>
              <a:rPr lang="en-US" sz="1100" dirty="0">
                <a:solidFill>
                  <a:srgbClr val="CFE6FF"/>
                </a:solidFill>
              </a:rPr>
              <a:t>FENASAN · Saneamento</a:t>
            </a:r>
            <a:endParaRPr lang="en-US" sz="1100" dirty="0"/>
          </a:p>
        </p:txBody>
      </p:sp>
      <p:sp>
        <p:nvSpPr>
          <p:cNvPr id="7" name="Shape 4"/>
          <p:cNvSpPr/>
          <p:nvPr/>
        </p:nvSpPr>
        <p:spPr>
          <a:xfrm>
            <a:off x="0" y="6291072"/>
            <a:ext cx="12191695" cy="566928"/>
          </a:xfrm>
          <a:prstGeom prst="rect">
            <a:avLst/>
          </a:prstGeom>
          <a:solidFill>
            <a:srgbClr val="FFFFFF"/>
          </a:solidFill>
          <a:ln w="9525">
            <a:solidFill>
              <a:srgbClr val="C9D6EA"/>
            </a:solidFill>
            <a:prstDash val="solid"/>
          </a:ln>
        </p:spPr>
      </p:sp>
      <p:pic>
        <p:nvPicPr>
          <p:cNvPr id="8" name="Image 1" descr="/tmp/claude-0/-home-user-norte-sul-portfolio/b828416d-028b-56b8-943d-a9bc67fc20c3/scratchpad/pptx_out/logo_met.png">    </p:cNvPr>
          <p:cNvPicPr>
            <a:picLocks noChangeAspect="1"/>
          </p:cNvPicPr>
          <p:nvPr/>
        </p:nvPicPr>
        <p:blipFill>
          <a:blip r:embed="rId3"/>
          <a:stretch>
            <a:fillRect/>
          </a:stretch>
        </p:blipFill>
        <p:spPr>
          <a:xfrm>
            <a:off x="502920" y="6382512"/>
            <a:ext cx="548640" cy="384048"/>
          </a:xfrm>
          <a:prstGeom prst="rect">
            <a:avLst/>
          </a:prstGeom>
        </p:spPr>
      </p:pic>
      <p:sp>
        <p:nvSpPr>
          <p:cNvPr id="9" name="Shape 5"/>
          <p:cNvSpPr/>
          <p:nvPr/>
        </p:nvSpPr>
        <p:spPr>
          <a:xfrm>
            <a:off x="1188720" y="6419088"/>
            <a:ext cx="0" cy="310896"/>
          </a:xfrm>
          <a:prstGeom prst="line">
            <a:avLst/>
          </a:prstGeom>
          <a:noFill/>
          <a:ln w="9525">
            <a:solidFill>
              <a:srgbClr val="C9D6EA"/>
            </a:solidFill>
            <a:prstDash val="solid"/>
          </a:ln>
        </p:spPr>
      </p:sp>
      <p:pic>
        <p:nvPicPr>
          <p:cNvPr id="10" name="Image 2" descr="/tmp/claude-0/-home-user-norte-sul-portfolio/b828416d-028b-56b8-943d-a9bc67fc20c3/scratchpad/pptx_out/logo_ns.png">    </p:cNvPr>
          <p:cNvPicPr>
            <a:picLocks noChangeAspect="1"/>
          </p:cNvPicPr>
          <p:nvPr/>
        </p:nvPicPr>
        <p:blipFill>
          <a:blip r:embed="rId4"/>
          <a:stretch>
            <a:fillRect/>
          </a:stretch>
        </p:blipFill>
        <p:spPr>
          <a:xfrm>
            <a:off x="1325880" y="6382512"/>
            <a:ext cx="610819" cy="384048"/>
          </a:xfrm>
          <a:prstGeom prst="rect">
            <a:avLst/>
          </a:prstGeom>
        </p:spPr>
      </p:pic>
      <p:sp>
        <p:nvSpPr>
          <p:cNvPr id="11" name="Text 6"/>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12" name="Text 7"/>
          <p:cNvSpPr txBox="1"/>
          <p:nvPr/>
        </p:nvSpPr>
        <p:spPr>
          <a:xfrm>
            <a:off x="640080" y="457200"/>
            <a:ext cx="6035040" cy="274320"/>
          </a:xfrm>
          <a:prstGeom prst="rect">
            <a:avLst/>
          </a:prstGeom>
          <a:noFill/>
          <a:ln/>
        </p:spPr>
        <p:txBody>
          <a:bodyPr wrap="square" lIns="0" tIns="0" rIns="0" bIns="0" rtlCol="0" anchor="ctr"/>
          <a:lstStyle/>
          <a:p>
            <a:pPr indent="0" marL="0">
              <a:buNone/>
            </a:pPr>
            <a:r>
              <a:rPr lang="en-US" sz="1000" b="1" spc="300" kern="0" dirty="0">
                <a:solidFill>
                  <a:srgbClr val="38D4FF"/>
                </a:solidFill>
              </a:rPr>
              <a:t>NORTESUL HIDROTECNOLOGIA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600" b="1" dirty="0">
                <a:solidFill>
                  <a:srgbClr val="0A3377"/>
                </a:solidFill>
              </a:rPr>
              <a:t>Quatro frentes.</a:t>
            </a:r>
            <a:endParaRPr lang="en-US" sz="2600" dirty="0"/>
          </a:p>
          <a:p>
            <a:pPr indent="0" marL="0">
              <a:buNone/>
            </a:pPr>
            <a:r>
              <a:rPr lang="en-US" sz="2600" b="1" dirty="0">
                <a:solidFill>
                  <a:srgbClr val="0A3377"/>
                </a:solidFill>
              </a:rPr>
              <a:t>Uma rede mais eficiente.</a:t>
            </a:r>
            <a:endParaRPr lang="en-US" sz="26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ABORDAGEM INTEGRADA</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783080"/>
            <a:ext cx="5349240" cy="1783080"/>
          </a:xfrm>
          <a:prstGeom prst="roundRect">
            <a:avLst>
              <a:gd name="adj" fmla="val 6154"/>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0" name="Shape 6"/>
          <p:cNvSpPr/>
          <p:nvPr/>
        </p:nvSpPr>
        <p:spPr>
          <a:xfrm>
            <a:off x="749808" y="1783080"/>
            <a:ext cx="5129784" cy="45720"/>
          </a:xfrm>
          <a:prstGeom prst="rect">
            <a:avLst/>
          </a:prstGeom>
          <a:solidFill>
            <a:srgbClr val="38D4FF"/>
          </a:solidFill>
          <a:ln w="12700">
            <a:solidFill>
              <a:srgbClr val="38D4FF"/>
            </a:solidFill>
            <a:prstDash val="solid"/>
          </a:ln>
        </p:spPr>
      </p:sp>
      <p:sp>
        <p:nvSpPr>
          <p:cNvPr id="11" name="Text 7"/>
          <p:cNvSpPr txBox="1"/>
          <p:nvPr/>
        </p:nvSpPr>
        <p:spPr>
          <a:xfrm>
            <a:off x="868680" y="2011680"/>
            <a:ext cx="4892040" cy="457200"/>
          </a:xfrm>
          <a:prstGeom prst="rect">
            <a:avLst/>
          </a:prstGeom>
          <a:noFill/>
          <a:ln/>
        </p:spPr>
        <p:txBody>
          <a:bodyPr wrap="square" lIns="0" tIns="0" rIns="0" bIns="0" rtlCol="0" anchor="ctr"/>
          <a:lstStyle/>
          <a:p>
            <a:pPr indent="0" marL="0">
              <a:buNone/>
            </a:pPr>
            <a:r>
              <a:rPr lang="en-US" sz="1400" b="1" dirty="0">
                <a:solidFill>
                  <a:srgbClr val="38D4FF"/>
                </a:solidFill>
              </a:rPr>
              <a:t>01</a:t>
            </a:r>
            <a:endParaRPr lang="en-US" sz="1400" dirty="0"/>
          </a:p>
        </p:txBody>
      </p:sp>
      <p:sp>
        <p:nvSpPr>
          <p:cNvPr id="12" name="Text 8"/>
          <p:cNvSpPr txBox="1"/>
          <p:nvPr/>
        </p:nvSpPr>
        <p:spPr>
          <a:xfrm>
            <a:off x="868680" y="2514600"/>
            <a:ext cx="4892040" cy="292608"/>
          </a:xfrm>
          <a:prstGeom prst="rect">
            <a:avLst/>
          </a:prstGeom>
          <a:noFill/>
          <a:ln/>
        </p:spPr>
        <p:txBody>
          <a:bodyPr wrap="square" lIns="0" tIns="0" rIns="0" bIns="0" rtlCol="0" anchor="t"/>
          <a:lstStyle/>
          <a:p>
            <a:pPr indent="0" marL="0">
              <a:buNone/>
            </a:pPr>
            <a:r>
              <a:rPr lang="en-US" sz="1600" b="1" dirty="0">
                <a:solidFill>
                  <a:srgbClr val="0A3377"/>
                </a:solidFill>
              </a:rPr>
              <a:t>Modelar</a:t>
            </a:r>
            <a:endParaRPr lang="en-US" sz="1600" dirty="0"/>
          </a:p>
        </p:txBody>
      </p:sp>
      <p:sp>
        <p:nvSpPr>
          <p:cNvPr id="13" name="Text 9"/>
          <p:cNvSpPr txBox="1"/>
          <p:nvPr/>
        </p:nvSpPr>
        <p:spPr>
          <a:xfrm>
            <a:off x="868680" y="2852928"/>
            <a:ext cx="4892040" cy="530352"/>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5B6B88"/>
                </a:solidFill>
              </a:rPr>
              <a:t>Modelagem da situação atual</a:t>
            </a:r>
            <a:endParaRPr lang="en-US" sz="1200" dirty="0"/>
          </a:p>
          <a:p>
            <a:pPr marL="152400" indent="-152400">
              <a:spcAft>
                <a:spcPts val="400"/>
              </a:spcAft>
              <a:buSzPct val="100000"/>
              <a:buChar char="•"/>
            </a:pPr>
            <a:r>
              <a:rPr lang="en-US" sz="1200" dirty="0">
                <a:solidFill>
                  <a:srgbClr val="5B6B88"/>
                </a:solidFill>
              </a:rPr>
              <a:t>Modelagem de cenários futuros</a:t>
            </a:r>
            <a:endParaRPr lang="en-US" sz="1200" dirty="0"/>
          </a:p>
        </p:txBody>
      </p:sp>
      <p:sp>
        <p:nvSpPr>
          <p:cNvPr id="14" name="Shape 10"/>
          <p:cNvSpPr/>
          <p:nvPr/>
        </p:nvSpPr>
        <p:spPr>
          <a:xfrm>
            <a:off x="6217920" y="1783080"/>
            <a:ext cx="5349240" cy="1783080"/>
          </a:xfrm>
          <a:prstGeom prst="roundRect">
            <a:avLst>
              <a:gd name="adj" fmla="val 6154"/>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5" name="Shape 11"/>
          <p:cNvSpPr/>
          <p:nvPr/>
        </p:nvSpPr>
        <p:spPr>
          <a:xfrm>
            <a:off x="6327648" y="1783080"/>
            <a:ext cx="5129784" cy="45720"/>
          </a:xfrm>
          <a:prstGeom prst="rect">
            <a:avLst/>
          </a:prstGeom>
          <a:solidFill>
            <a:srgbClr val="38D4FF"/>
          </a:solidFill>
          <a:ln w="12700">
            <a:solidFill>
              <a:srgbClr val="38D4FF"/>
            </a:solidFill>
            <a:prstDash val="solid"/>
          </a:ln>
        </p:spPr>
      </p:sp>
      <p:sp>
        <p:nvSpPr>
          <p:cNvPr id="16" name="Text 12"/>
          <p:cNvSpPr txBox="1"/>
          <p:nvPr/>
        </p:nvSpPr>
        <p:spPr>
          <a:xfrm>
            <a:off x="6446520" y="2011680"/>
            <a:ext cx="4892040" cy="457200"/>
          </a:xfrm>
          <a:prstGeom prst="rect">
            <a:avLst/>
          </a:prstGeom>
          <a:noFill/>
          <a:ln/>
        </p:spPr>
        <p:txBody>
          <a:bodyPr wrap="square" lIns="0" tIns="0" rIns="0" bIns="0" rtlCol="0" anchor="ctr"/>
          <a:lstStyle/>
          <a:p>
            <a:pPr indent="0" marL="0">
              <a:buNone/>
            </a:pPr>
            <a:r>
              <a:rPr lang="en-US" sz="1400" b="1" dirty="0">
                <a:solidFill>
                  <a:srgbClr val="38D4FF"/>
                </a:solidFill>
              </a:rPr>
              <a:t>02</a:t>
            </a:r>
            <a:endParaRPr lang="en-US" sz="1400" dirty="0"/>
          </a:p>
        </p:txBody>
      </p:sp>
      <p:sp>
        <p:nvSpPr>
          <p:cNvPr id="17" name="Text 13"/>
          <p:cNvSpPr txBox="1"/>
          <p:nvPr/>
        </p:nvSpPr>
        <p:spPr>
          <a:xfrm>
            <a:off x="6446520" y="2514600"/>
            <a:ext cx="4892040" cy="292608"/>
          </a:xfrm>
          <a:prstGeom prst="rect">
            <a:avLst/>
          </a:prstGeom>
          <a:noFill/>
          <a:ln/>
        </p:spPr>
        <p:txBody>
          <a:bodyPr wrap="square" lIns="0" tIns="0" rIns="0" bIns="0" rtlCol="0" anchor="t"/>
          <a:lstStyle/>
          <a:p>
            <a:pPr indent="0" marL="0">
              <a:buNone/>
            </a:pPr>
            <a:r>
              <a:rPr lang="en-US" sz="1600" b="1" dirty="0">
                <a:solidFill>
                  <a:srgbClr val="0A3377"/>
                </a:solidFill>
              </a:rPr>
              <a:t>Renovar ativos</a:t>
            </a:r>
            <a:endParaRPr lang="en-US" sz="1600" dirty="0"/>
          </a:p>
        </p:txBody>
      </p:sp>
      <p:sp>
        <p:nvSpPr>
          <p:cNvPr id="18" name="Text 14"/>
          <p:cNvSpPr txBox="1"/>
          <p:nvPr/>
        </p:nvSpPr>
        <p:spPr>
          <a:xfrm>
            <a:off x="6446520" y="2852928"/>
            <a:ext cx="4892040" cy="530352"/>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5B6B88"/>
                </a:solidFill>
              </a:rPr>
              <a:t>Substituição de redes (MND)</a:t>
            </a:r>
            <a:endParaRPr lang="en-US" sz="1200" dirty="0"/>
          </a:p>
          <a:p>
            <a:pPr marL="152400" indent="-152400">
              <a:spcAft>
                <a:spcPts val="400"/>
              </a:spcAft>
              <a:buSzPct val="100000"/>
              <a:buChar char="•"/>
            </a:pPr>
            <a:r>
              <a:rPr lang="en-US" sz="1200" dirty="0">
                <a:solidFill>
                  <a:srgbClr val="5B6B88"/>
                </a:solidFill>
              </a:rPr>
              <a:t>Eliminação de perdas de carga</a:t>
            </a:r>
            <a:endParaRPr lang="en-US" sz="1200" dirty="0"/>
          </a:p>
          <a:p>
            <a:pPr marL="152400" indent="-152400">
              <a:spcAft>
                <a:spcPts val="400"/>
              </a:spcAft>
              <a:buSzPct val="100000"/>
              <a:buChar char="•"/>
            </a:pPr>
            <a:r>
              <a:rPr lang="en-US" sz="1200" dirty="0">
                <a:solidFill>
                  <a:srgbClr val="5B6B88"/>
                </a:solidFill>
              </a:rPr>
              <a:t>Eliminação de intermitência</a:t>
            </a:r>
            <a:endParaRPr lang="en-US" sz="1200" dirty="0"/>
          </a:p>
        </p:txBody>
      </p:sp>
      <p:sp>
        <p:nvSpPr>
          <p:cNvPr id="19" name="Shape 15"/>
          <p:cNvSpPr/>
          <p:nvPr/>
        </p:nvSpPr>
        <p:spPr>
          <a:xfrm>
            <a:off x="640080" y="3794760"/>
            <a:ext cx="5349240" cy="1783080"/>
          </a:xfrm>
          <a:prstGeom prst="roundRect">
            <a:avLst>
              <a:gd name="adj" fmla="val 6154"/>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20" name="Shape 16"/>
          <p:cNvSpPr/>
          <p:nvPr/>
        </p:nvSpPr>
        <p:spPr>
          <a:xfrm>
            <a:off x="749808" y="3794760"/>
            <a:ext cx="5129784" cy="45720"/>
          </a:xfrm>
          <a:prstGeom prst="rect">
            <a:avLst/>
          </a:prstGeom>
          <a:solidFill>
            <a:srgbClr val="38D4FF"/>
          </a:solidFill>
          <a:ln w="12700">
            <a:solidFill>
              <a:srgbClr val="38D4FF"/>
            </a:solidFill>
            <a:prstDash val="solid"/>
          </a:ln>
        </p:spPr>
      </p:sp>
      <p:sp>
        <p:nvSpPr>
          <p:cNvPr id="21" name="Text 17"/>
          <p:cNvSpPr txBox="1"/>
          <p:nvPr/>
        </p:nvSpPr>
        <p:spPr>
          <a:xfrm>
            <a:off x="868680" y="4023360"/>
            <a:ext cx="4892040" cy="457200"/>
          </a:xfrm>
          <a:prstGeom prst="rect">
            <a:avLst/>
          </a:prstGeom>
          <a:noFill/>
          <a:ln/>
        </p:spPr>
        <p:txBody>
          <a:bodyPr wrap="square" lIns="0" tIns="0" rIns="0" bIns="0" rtlCol="0" anchor="ctr"/>
          <a:lstStyle/>
          <a:p>
            <a:pPr indent="0" marL="0">
              <a:buNone/>
            </a:pPr>
            <a:r>
              <a:rPr lang="en-US" sz="1400" b="1" dirty="0">
                <a:solidFill>
                  <a:srgbClr val="38D4FF"/>
                </a:solidFill>
              </a:rPr>
              <a:t>03</a:t>
            </a:r>
            <a:endParaRPr lang="en-US" sz="1400" dirty="0"/>
          </a:p>
        </p:txBody>
      </p:sp>
      <p:sp>
        <p:nvSpPr>
          <p:cNvPr id="22" name="Text 18"/>
          <p:cNvSpPr txBox="1"/>
          <p:nvPr/>
        </p:nvSpPr>
        <p:spPr>
          <a:xfrm>
            <a:off x="868680" y="4526280"/>
            <a:ext cx="4892040" cy="292608"/>
          </a:xfrm>
          <a:prstGeom prst="rect">
            <a:avLst/>
          </a:prstGeom>
          <a:noFill/>
          <a:ln/>
        </p:spPr>
        <p:txBody>
          <a:bodyPr wrap="square" lIns="0" tIns="0" rIns="0" bIns="0" rtlCol="0" anchor="t"/>
          <a:lstStyle/>
          <a:p>
            <a:pPr indent="0" marL="0">
              <a:buNone/>
            </a:pPr>
            <a:r>
              <a:rPr lang="en-US" sz="1600" b="1" dirty="0">
                <a:solidFill>
                  <a:srgbClr val="0A3377"/>
                </a:solidFill>
              </a:rPr>
              <a:t>Gestão de pressões</a:t>
            </a:r>
            <a:endParaRPr lang="en-US" sz="1600" dirty="0"/>
          </a:p>
        </p:txBody>
      </p:sp>
      <p:sp>
        <p:nvSpPr>
          <p:cNvPr id="23" name="Text 19"/>
          <p:cNvSpPr txBox="1"/>
          <p:nvPr/>
        </p:nvSpPr>
        <p:spPr>
          <a:xfrm>
            <a:off x="868680" y="4864608"/>
            <a:ext cx="4892040" cy="530352"/>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5B6B88"/>
                </a:solidFill>
              </a:rPr>
              <a:t>Otimização de VRPs</a:t>
            </a:r>
            <a:endParaRPr lang="en-US" sz="1200" dirty="0"/>
          </a:p>
          <a:p>
            <a:pPr marL="152400" indent="-152400">
              <a:spcAft>
                <a:spcPts val="400"/>
              </a:spcAft>
              <a:buSzPct val="100000"/>
              <a:buChar char="•"/>
            </a:pPr>
            <a:r>
              <a:rPr lang="en-US" sz="1200" dirty="0">
                <a:solidFill>
                  <a:srgbClr val="5B6B88"/>
                </a:solidFill>
              </a:rPr>
              <a:t>Novas VRPs</a:t>
            </a:r>
            <a:endParaRPr lang="en-US" sz="1200" dirty="0"/>
          </a:p>
        </p:txBody>
      </p:sp>
      <p:sp>
        <p:nvSpPr>
          <p:cNvPr id="24" name="Shape 20"/>
          <p:cNvSpPr/>
          <p:nvPr/>
        </p:nvSpPr>
        <p:spPr>
          <a:xfrm>
            <a:off x="6217920" y="3794760"/>
            <a:ext cx="5349240" cy="1783080"/>
          </a:xfrm>
          <a:prstGeom prst="roundRect">
            <a:avLst>
              <a:gd name="adj" fmla="val 6154"/>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25" name="Shape 21"/>
          <p:cNvSpPr/>
          <p:nvPr/>
        </p:nvSpPr>
        <p:spPr>
          <a:xfrm>
            <a:off x="6327648" y="3794760"/>
            <a:ext cx="5129784" cy="45720"/>
          </a:xfrm>
          <a:prstGeom prst="rect">
            <a:avLst/>
          </a:prstGeom>
          <a:solidFill>
            <a:srgbClr val="38D4FF"/>
          </a:solidFill>
          <a:ln w="12700">
            <a:solidFill>
              <a:srgbClr val="38D4FF"/>
            </a:solidFill>
            <a:prstDash val="solid"/>
          </a:ln>
        </p:spPr>
      </p:sp>
      <p:sp>
        <p:nvSpPr>
          <p:cNvPr id="26" name="Text 22"/>
          <p:cNvSpPr txBox="1"/>
          <p:nvPr/>
        </p:nvSpPr>
        <p:spPr>
          <a:xfrm>
            <a:off x="6446520" y="4023360"/>
            <a:ext cx="4892040" cy="457200"/>
          </a:xfrm>
          <a:prstGeom prst="rect">
            <a:avLst/>
          </a:prstGeom>
          <a:noFill/>
          <a:ln/>
        </p:spPr>
        <p:txBody>
          <a:bodyPr wrap="square" lIns="0" tIns="0" rIns="0" bIns="0" rtlCol="0" anchor="ctr"/>
          <a:lstStyle/>
          <a:p>
            <a:pPr indent="0" marL="0">
              <a:buNone/>
            </a:pPr>
            <a:r>
              <a:rPr lang="en-US" sz="1400" b="1" dirty="0">
                <a:solidFill>
                  <a:srgbClr val="38D4FF"/>
                </a:solidFill>
              </a:rPr>
              <a:t>04</a:t>
            </a:r>
            <a:endParaRPr lang="en-US" sz="1400" dirty="0"/>
          </a:p>
        </p:txBody>
      </p:sp>
      <p:sp>
        <p:nvSpPr>
          <p:cNvPr id="27" name="Text 23"/>
          <p:cNvSpPr txBox="1"/>
          <p:nvPr/>
        </p:nvSpPr>
        <p:spPr>
          <a:xfrm>
            <a:off x="6446520" y="4526280"/>
            <a:ext cx="4892040" cy="292608"/>
          </a:xfrm>
          <a:prstGeom prst="rect">
            <a:avLst/>
          </a:prstGeom>
          <a:noFill/>
          <a:ln/>
        </p:spPr>
        <p:txBody>
          <a:bodyPr wrap="square" lIns="0" tIns="0" rIns="0" bIns="0" rtlCol="0" anchor="t"/>
          <a:lstStyle/>
          <a:p>
            <a:pPr indent="0" marL="0">
              <a:buNone/>
            </a:pPr>
            <a:r>
              <a:rPr lang="en-US" sz="1600" b="1" dirty="0">
                <a:solidFill>
                  <a:srgbClr val="0A3377"/>
                </a:solidFill>
              </a:rPr>
              <a:t>Otimizar operação</a:t>
            </a:r>
            <a:endParaRPr lang="en-US" sz="1600" dirty="0"/>
          </a:p>
        </p:txBody>
      </p:sp>
      <p:sp>
        <p:nvSpPr>
          <p:cNvPr id="28" name="Text 24"/>
          <p:cNvSpPr txBox="1"/>
          <p:nvPr/>
        </p:nvSpPr>
        <p:spPr>
          <a:xfrm>
            <a:off x="6446520" y="4864608"/>
            <a:ext cx="4892040" cy="530352"/>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rgbClr val="5B6B88"/>
                </a:solidFill>
              </a:rPr>
              <a:t>Operação de VRPs, boosters e EEAs pelo ponto crítico</a:t>
            </a:r>
            <a:endParaRPr lang="en-US" sz="1200" dirty="0"/>
          </a:p>
        </p:txBody>
      </p:sp>
      <p:sp>
        <p:nvSpPr>
          <p:cNvPr id="29" name="Shape 25"/>
          <p:cNvSpPr/>
          <p:nvPr/>
        </p:nvSpPr>
        <p:spPr>
          <a:xfrm>
            <a:off x="640080" y="5669280"/>
            <a:ext cx="54864" cy="457200"/>
          </a:xfrm>
          <a:prstGeom prst="rect">
            <a:avLst/>
          </a:prstGeom>
          <a:solidFill>
            <a:srgbClr val="38D4FF"/>
          </a:solidFill>
          <a:ln w="12700">
            <a:solidFill>
              <a:srgbClr val="38D4FF"/>
            </a:solidFill>
            <a:prstDash val="solid"/>
          </a:ln>
        </p:spPr>
      </p:sp>
      <p:sp>
        <p:nvSpPr>
          <p:cNvPr id="30" name="Text 26"/>
          <p:cNvSpPr txBox="1"/>
          <p:nvPr/>
        </p:nvSpPr>
        <p:spPr>
          <a:xfrm>
            <a:off x="822960" y="5669280"/>
            <a:ext cx="10744200" cy="457200"/>
          </a:xfrm>
          <a:prstGeom prst="rect">
            <a:avLst/>
          </a:prstGeom>
          <a:noFill/>
          <a:ln/>
        </p:spPr>
        <p:txBody>
          <a:bodyPr wrap="square" lIns="0" tIns="0" rIns="0" bIns="0" rtlCol="0" anchor="ctr"/>
          <a:lstStyle/>
          <a:p>
            <a:pPr indent="0" marL="0">
              <a:buNone/>
            </a:pPr>
            <a:r>
              <a:rPr lang="en-US" sz="1200" b="1" dirty="0">
                <a:solidFill>
                  <a:srgbClr val="0A3377"/>
                </a:solidFill>
              </a:rPr>
              <a:t>Do diagnóstico à operação coordenada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600" b="1" dirty="0">
                <a:solidFill>
                  <a:srgbClr val="FFFFFF"/>
                </a:solidFill>
              </a:rPr>
              <a:t>Modelagem hidráulica:</a:t>
            </a:r>
            <a:endParaRPr lang="en-US" sz="2600" dirty="0"/>
          </a:p>
          <a:p>
            <a:pPr indent="0" marL="0">
              <a:buNone/>
            </a:pPr>
            <a:r>
              <a:rPr lang="en-US" sz="2600" b="1" dirty="0">
                <a:solidFill>
                  <a:srgbClr val="FFFFFF"/>
                </a:solidFill>
              </a:rPr>
              <a:t>enxergar para decidir</a:t>
            </a:r>
            <a:endParaRPr lang="en-US" sz="26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01 / DIAGNÓSTICO</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2"/>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3"/>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pic>
        <p:nvPicPr>
          <p:cNvPr id="9" name="Image 2" descr="/tmp/claude-0/-home-user-norte-sul-portfolio/b828416d-028b-56b8-943d-a9bc67fc20c3/scratchpad/pptx_out/p_linha.png">    </p:cNvPr>
          <p:cNvPicPr>
            <a:picLocks noChangeAspect="1"/>
          </p:cNvPicPr>
          <p:nvPr/>
        </p:nvPicPr>
        <p:blipFill>
          <a:blip r:embed="rId4"/>
          <a:stretch>
            <a:fillRect/>
          </a:stretch>
        </p:blipFill>
        <p:spPr>
          <a:xfrm>
            <a:off x="1325880" y="1828800"/>
            <a:ext cx="9509760" cy="1584960"/>
          </a:xfrm>
          <a:prstGeom prst="rect">
            <a:avLst/>
          </a:prstGeom>
        </p:spPr>
      </p:pic>
      <p:sp>
        <p:nvSpPr>
          <p:cNvPr id="10" name="Shape 5"/>
          <p:cNvSpPr/>
          <p:nvPr/>
        </p:nvSpPr>
        <p:spPr>
          <a:xfrm>
            <a:off x="640080" y="3611880"/>
            <a:ext cx="5349240" cy="1691640"/>
          </a:xfrm>
          <a:prstGeom prst="roundRect">
            <a:avLst>
              <a:gd name="adj" fmla="val 6486"/>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1" name="Shape 6"/>
          <p:cNvSpPr/>
          <p:nvPr/>
        </p:nvSpPr>
        <p:spPr>
          <a:xfrm>
            <a:off x="749808" y="3611880"/>
            <a:ext cx="5129784" cy="45720"/>
          </a:xfrm>
          <a:prstGeom prst="rect">
            <a:avLst/>
          </a:prstGeom>
          <a:solidFill>
            <a:srgbClr val="38D4FF"/>
          </a:solidFill>
          <a:ln w="12700">
            <a:solidFill>
              <a:srgbClr val="38D4FF"/>
            </a:solidFill>
            <a:prstDash val="solid"/>
          </a:ln>
        </p:spPr>
      </p:sp>
      <p:sp>
        <p:nvSpPr>
          <p:cNvPr id="12" name="Text 7"/>
          <p:cNvSpPr txBox="1"/>
          <p:nvPr/>
        </p:nvSpPr>
        <p:spPr>
          <a:xfrm>
            <a:off x="868680" y="3840480"/>
            <a:ext cx="4892040" cy="457200"/>
          </a:xfrm>
          <a:prstGeom prst="rect">
            <a:avLst/>
          </a:prstGeom>
          <a:noFill/>
          <a:ln/>
        </p:spPr>
        <p:txBody>
          <a:bodyPr wrap="square" lIns="0" tIns="0" rIns="0" bIns="0" rtlCol="0" anchor="ctr"/>
          <a:lstStyle/>
          <a:p>
            <a:pPr indent="0" marL="0">
              <a:buNone/>
            </a:pPr>
            <a:r>
              <a:rPr lang="en-US" sz="1100" b="1" dirty="0">
                <a:solidFill>
                  <a:srgbClr val="38D4FF"/>
                </a:solidFill>
              </a:rPr>
              <a:t>NOITE · VAZAMENTOS</a:t>
            </a:r>
            <a:endParaRPr lang="en-US" sz="1100" dirty="0"/>
          </a:p>
        </p:txBody>
      </p:sp>
      <p:sp>
        <p:nvSpPr>
          <p:cNvPr id="13" name="Text 8"/>
          <p:cNvSpPr txBox="1"/>
          <p:nvPr/>
        </p:nvSpPr>
        <p:spPr>
          <a:xfrm>
            <a:off x="868680" y="4343400"/>
            <a:ext cx="4892040" cy="365760"/>
          </a:xfrm>
          <a:prstGeom prst="rect">
            <a:avLst/>
          </a:prstGeom>
          <a:noFill/>
          <a:ln/>
        </p:spPr>
        <p:txBody>
          <a:bodyPr wrap="square" lIns="0" tIns="0" rIns="0" bIns="0" rtlCol="0" anchor="t"/>
          <a:lstStyle/>
          <a:p>
            <a:pPr indent="0" marL="0">
              <a:buNone/>
            </a:pPr>
            <a:r>
              <a:rPr lang="en-US" sz="1700" b="1" dirty="0">
                <a:solidFill>
                  <a:srgbClr val="0A3377"/>
                </a:solidFill>
              </a:rPr>
              <a:t>Perdas de carga</a:t>
            </a:r>
            <a:endParaRPr lang="en-US" sz="1700" dirty="0"/>
          </a:p>
        </p:txBody>
      </p:sp>
      <p:sp>
        <p:nvSpPr>
          <p:cNvPr id="14" name="Text 9"/>
          <p:cNvSpPr txBox="1"/>
          <p:nvPr/>
        </p:nvSpPr>
        <p:spPr>
          <a:xfrm>
            <a:off x="868680" y="4754880"/>
            <a:ext cx="4892040" cy="365760"/>
          </a:xfrm>
          <a:prstGeom prst="rect">
            <a:avLst/>
          </a:prstGeom>
          <a:noFill/>
          <a:ln/>
        </p:spPr>
        <p:txBody>
          <a:bodyPr wrap="square" lIns="0" tIns="0" rIns="0" bIns="0" rtlCol="0" anchor="t"/>
          <a:lstStyle/>
          <a:p>
            <a:pPr indent="0" marL="0">
              <a:buNone/>
            </a:pPr>
            <a:r>
              <a:rPr lang="en-US" sz="1250" dirty="0">
                <a:solidFill>
                  <a:srgbClr val="5B6B88"/>
                </a:solidFill>
              </a:rPr>
              <a:t>Identificar trechos em que a hidráulica limita as ações de controle de pressão.</a:t>
            </a:r>
            <a:endParaRPr lang="en-US" sz="1250" dirty="0"/>
          </a:p>
        </p:txBody>
      </p:sp>
      <p:sp>
        <p:nvSpPr>
          <p:cNvPr id="15" name="Shape 10"/>
          <p:cNvSpPr/>
          <p:nvPr/>
        </p:nvSpPr>
        <p:spPr>
          <a:xfrm>
            <a:off x="6217920" y="3611880"/>
            <a:ext cx="5349240" cy="1691640"/>
          </a:xfrm>
          <a:prstGeom prst="roundRect">
            <a:avLst>
              <a:gd name="adj" fmla="val 6486"/>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6" name="Shape 11"/>
          <p:cNvSpPr/>
          <p:nvPr/>
        </p:nvSpPr>
        <p:spPr>
          <a:xfrm>
            <a:off x="6327648" y="3611880"/>
            <a:ext cx="5129784" cy="45720"/>
          </a:xfrm>
          <a:prstGeom prst="rect">
            <a:avLst/>
          </a:prstGeom>
          <a:solidFill>
            <a:srgbClr val="38D4FF"/>
          </a:solidFill>
          <a:ln w="12700">
            <a:solidFill>
              <a:srgbClr val="38D4FF"/>
            </a:solidFill>
            <a:prstDash val="solid"/>
          </a:ln>
        </p:spPr>
      </p:sp>
      <p:sp>
        <p:nvSpPr>
          <p:cNvPr id="17" name="Text 12"/>
          <p:cNvSpPr txBox="1"/>
          <p:nvPr/>
        </p:nvSpPr>
        <p:spPr>
          <a:xfrm>
            <a:off x="6446520" y="3840480"/>
            <a:ext cx="4892040" cy="457200"/>
          </a:xfrm>
          <a:prstGeom prst="rect">
            <a:avLst/>
          </a:prstGeom>
          <a:noFill/>
          <a:ln/>
        </p:spPr>
        <p:txBody>
          <a:bodyPr wrap="square" lIns="0" tIns="0" rIns="0" bIns="0" rtlCol="0" anchor="ctr"/>
          <a:lstStyle/>
          <a:p>
            <a:pPr indent="0" marL="0">
              <a:buNone/>
            </a:pPr>
            <a:r>
              <a:rPr lang="en-US" sz="1100" b="1" dirty="0">
                <a:solidFill>
                  <a:srgbClr val="38D4FF"/>
                </a:solidFill>
              </a:rPr>
              <a:t>PICO DE CONSUMO · INTERMITÊNCIA</a:t>
            </a:r>
            <a:endParaRPr lang="en-US" sz="1100" dirty="0"/>
          </a:p>
        </p:txBody>
      </p:sp>
      <p:sp>
        <p:nvSpPr>
          <p:cNvPr id="18" name="Text 13"/>
          <p:cNvSpPr txBox="1"/>
          <p:nvPr/>
        </p:nvSpPr>
        <p:spPr>
          <a:xfrm>
            <a:off x="6446520" y="4343400"/>
            <a:ext cx="4892040" cy="365760"/>
          </a:xfrm>
          <a:prstGeom prst="rect">
            <a:avLst/>
          </a:prstGeom>
          <a:noFill/>
          <a:ln/>
        </p:spPr>
        <p:txBody>
          <a:bodyPr wrap="square" lIns="0" tIns="0" rIns="0" bIns="0" rtlCol="0" anchor="t"/>
          <a:lstStyle/>
          <a:p>
            <a:pPr indent="0" marL="0">
              <a:buNone/>
            </a:pPr>
            <a:r>
              <a:rPr lang="en-US" sz="1700" b="1" dirty="0">
                <a:solidFill>
                  <a:srgbClr val="0A3377"/>
                </a:solidFill>
              </a:rPr>
              <a:t>Efeito no abastecimento</a:t>
            </a:r>
            <a:endParaRPr lang="en-US" sz="1700" dirty="0"/>
          </a:p>
        </p:txBody>
      </p:sp>
      <p:sp>
        <p:nvSpPr>
          <p:cNvPr id="19" name="Text 14"/>
          <p:cNvSpPr txBox="1"/>
          <p:nvPr/>
        </p:nvSpPr>
        <p:spPr>
          <a:xfrm>
            <a:off x="6446520" y="4754880"/>
            <a:ext cx="4892040" cy="365760"/>
          </a:xfrm>
          <a:prstGeom prst="rect">
            <a:avLst/>
          </a:prstGeom>
          <a:noFill/>
          <a:ln/>
        </p:spPr>
        <p:txBody>
          <a:bodyPr wrap="square" lIns="0" tIns="0" rIns="0" bIns="0" rtlCol="0" anchor="t"/>
          <a:lstStyle/>
          <a:p>
            <a:pPr indent="0" marL="0">
              <a:buNone/>
            </a:pPr>
            <a:r>
              <a:rPr lang="en-US" sz="1250" dirty="0">
                <a:solidFill>
                  <a:srgbClr val="5B6B88"/>
                </a:solidFill>
              </a:rPr>
              <a:t>Trechos com elevada perda de carga restringem a operação e o abastecimento.</a:t>
            </a:r>
            <a:endParaRPr lang="en-US" sz="1250" dirty="0"/>
          </a:p>
        </p:txBody>
      </p:sp>
      <p:sp>
        <p:nvSpPr>
          <p:cNvPr id="20" name="Shape 15"/>
          <p:cNvSpPr/>
          <p:nvPr/>
        </p:nvSpPr>
        <p:spPr>
          <a:xfrm>
            <a:off x="640080" y="5486400"/>
            <a:ext cx="54864" cy="457200"/>
          </a:xfrm>
          <a:prstGeom prst="rect">
            <a:avLst/>
          </a:prstGeom>
          <a:solidFill>
            <a:srgbClr val="38D4FF"/>
          </a:solidFill>
          <a:ln w="12700">
            <a:solidFill>
              <a:srgbClr val="38D4FF"/>
            </a:solidFill>
            <a:prstDash val="solid"/>
          </a:ln>
        </p:spPr>
      </p:sp>
      <p:sp>
        <p:nvSpPr>
          <p:cNvPr id="21" name="Text 16"/>
          <p:cNvSpPr txBox="1"/>
          <p:nvPr/>
        </p:nvSpPr>
        <p:spPr>
          <a:xfrm>
            <a:off x="822960" y="5486400"/>
            <a:ext cx="10744200" cy="457200"/>
          </a:xfrm>
          <a:prstGeom prst="rect">
            <a:avLst/>
          </a:prstGeom>
          <a:noFill/>
          <a:ln/>
        </p:spPr>
        <p:txBody>
          <a:bodyPr wrap="square" lIns="0" tIns="0" rIns="0" bIns="0" rtlCol="0" anchor="ctr"/>
          <a:lstStyle/>
          <a:p>
            <a:pPr indent="0" marL="0">
              <a:buNone/>
            </a:pPr>
            <a:r>
              <a:rPr lang="en-US" sz="1200" b="1" dirty="0">
                <a:solidFill>
                  <a:srgbClr val="FFFFFF"/>
                </a:solidFill>
              </a:rPr>
              <a:t>Do diagnóstico à decisão: priorizar a rede que mais restringe a operação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800" b="1" dirty="0">
                <a:solidFill>
                  <a:srgbClr val="0A3377"/>
                </a:solidFill>
              </a:rPr>
              <a:t>Renovação de ativos</a:t>
            </a:r>
            <a:endParaRPr lang="en-US" sz="28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02 / INTERVENÇÃO NA REDE</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417320"/>
            <a:ext cx="5349240" cy="3566160"/>
          </a:xfrm>
          <a:prstGeom prst="roundRect">
            <a:avLst>
              <a:gd name="adj" fmla="val 3077"/>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0" name="Shape 6"/>
          <p:cNvSpPr/>
          <p:nvPr/>
        </p:nvSpPr>
        <p:spPr>
          <a:xfrm>
            <a:off x="749808" y="1417320"/>
            <a:ext cx="5129784" cy="45720"/>
          </a:xfrm>
          <a:prstGeom prst="rect">
            <a:avLst/>
          </a:prstGeom>
          <a:solidFill>
            <a:srgbClr val="38D4FF"/>
          </a:solidFill>
          <a:ln w="12700">
            <a:solidFill>
              <a:srgbClr val="38D4FF"/>
            </a:solidFill>
            <a:prstDash val="solid"/>
          </a:ln>
        </p:spPr>
      </p:sp>
      <p:sp>
        <p:nvSpPr>
          <p:cNvPr id="11" name="Text 7"/>
          <p:cNvSpPr txBox="1"/>
          <p:nvPr/>
        </p:nvSpPr>
        <p:spPr>
          <a:xfrm>
            <a:off x="868680" y="1645920"/>
            <a:ext cx="4892040" cy="457200"/>
          </a:xfrm>
          <a:prstGeom prst="rect">
            <a:avLst/>
          </a:prstGeom>
          <a:noFill/>
          <a:ln/>
        </p:spPr>
        <p:txBody>
          <a:bodyPr wrap="square" lIns="0" tIns="0" rIns="0" bIns="0" rtlCol="0" anchor="ctr"/>
          <a:lstStyle/>
          <a:p>
            <a:pPr indent="0" marL="0">
              <a:buNone/>
            </a:pPr>
            <a:r>
              <a:rPr lang="en-US" sz="2600" b="1" dirty="0">
                <a:solidFill>
                  <a:srgbClr val="38D4FF"/>
                </a:solidFill>
              </a:rPr>
              <a:t>01</a:t>
            </a:r>
            <a:endParaRPr lang="en-US" sz="2600" dirty="0"/>
          </a:p>
        </p:txBody>
      </p:sp>
      <p:sp>
        <p:nvSpPr>
          <p:cNvPr id="12" name="Text 8"/>
          <p:cNvSpPr txBox="1"/>
          <p:nvPr/>
        </p:nvSpPr>
        <p:spPr>
          <a:xfrm>
            <a:off x="868680" y="2148840"/>
            <a:ext cx="4892040" cy="685800"/>
          </a:xfrm>
          <a:prstGeom prst="rect">
            <a:avLst/>
          </a:prstGeom>
          <a:noFill/>
          <a:ln/>
        </p:spPr>
        <p:txBody>
          <a:bodyPr wrap="square" lIns="0" tIns="0" rIns="0" bIns="0" rtlCol="0" anchor="t"/>
          <a:lstStyle/>
          <a:p>
            <a:pPr indent="0" marL="0">
              <a:buNone/>
            </a:pPr>
            <a:r>
              <a:rPr lang="en-US" sz="1600" b="1" dirty="0">
                <a:solidFill>
                  <a:srgbClr val="0A3377"/>
                </a:solidFill>
              </a:rPr>
              <a:t>ELIMINAR PERDAS DE CARGA EXCESSIVAS</a:t>
            </a:r>
            <a:endParaRPr lang="en-US" sz="1600" dirty="0"/>
          </a:p>
        </p:txBody>
      </p:sp>
      <p:sp>
        <p:nvSpPr>
          <p:cNvPr id="13" name="Text 9"/>
          <p:cNvSpPr txBox="1"/>
          <p:nvPr/>
        </p:nvSpPr>
        <p:spPr>
          <a:xfrm>
            <a:off x="868680" y="2880360"/>
            <a:ext cx="4892040" cy="1920240"/>
          </a:xfrm>
          <a:prstGeom prst="rect">
            <a:avLst/>
          </a:prstGeom>
          <a:noFill/>
          <a:ln/>
        </p:spPr>
        <p:txBody>
          <a:bodyPr wrap="square" lIns="0" tIns="0" rIns="0" bIns="0" rtlCol="0" anchor="t"/>
          <a:lstStyle/>
          <a:p>
            <a:pPr indent="0" marL="0">
              <a:buNone/>
            </a:pPr>
            <a:r>
              <a:rPr lang="en-US" sz="1400" dirty="0">
                <a:solidFill>
                  <a:srgbClr val="5B6B88"/>
                </a:solidFill>
              </a:rPr>
              <a:t>Tubo novo de baixa rugosidade substitui tubos corroídos e incrustados, recupera a capacidade hidráulica, devolve pressão disponível nos pontos críticos e reduz energia de bombeamento.</a:t>
            </a:r>
            <a:endParaRPr lang="en-US" sz="1400" dirty="0"/>
          </a:p>
        </p:txBody>
      </p:sp>
      <p:sp>
        <p:nvSpPr>
          <p:cNvPr id="14" name="Shape 10"/>
          <p:cNvSpPr/>
          <p:nvPr/>
        </p:nvSpPr>
        <p:spPr>
          <a:xfrm>
            <a:off x="6217920" y="1417320"/>
            <a:ext cx="5349240" cy="3566160"/>
          </a:xfrm>
          <a:prstGeom prst="roundRect">
            <a:avLst>
              <a:gd name="adj" fmla="val 3077"/>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5" name="Shape 11"/>
          <p:cNvSpPr/>
          <p:nvPr/>
        </p:nvSpPr>
        <p:spPr>
          <a:xfrm>
            <a:off x="6327648" y="1417320"/>
            <a:ext cx="5129784" cy="45720"/>
          </a:xfrm>
          <a:prstGeom prst="rect">
            <a:avLst/>
          </a:prstGeom>
          <a:solidFill>
            <a:srgbClr val="38D4FF"/>
          </a:solidFill>
          <a:ln w="12700">
            <a:solidFill>
              <a:srgbClr val="38D4FF"/>
            </a:solidFill>
            <a:prstDash val="solid"/>
          </a:ln>
        </p:spPr>
      </p:sp>
      <p:sp>
        <p:nvSpPr>
          <p:cNvPr id="16" name="Text 12"/>
          <p:cNvSpPr txBox="1"/>
          <p:nvPr/>
        </p:nvSpPr>
        <p:spPr>
          <a:xfrm>
            <a:off x="6446520" y="1645920"/>
            <a:ext cx="4892040" cy="457200"/>
          </a:xfrm>
          <a:prstGeom prst="rect">
            <a:avLst/>
          </a:prstGeom>
          <a:noFill/>
          <a:ln/>
        </p:spPr>
        <p:txBody>
          <a:bodyPr wrap="square" lIns="0" tIns="0" rIns="0" bIns="0" rtlCol="0" anchor="ctr"/>
          <a:lstStyle/>
          <a:p>
            <a:pPr indent="0" marL="0">
              <a:buNone/>
            </a:pPr>
            <a:r>
              <a:rPr lang="en-US" sz="2600" b="1" dirty="0">
                <a:solidFill>
                  <a:srgbClr val="38D4FF"/>
                </a:solidFill>
              </a:rPr>
              <a:t>02</a:t>
            </a:r>
            <a:endParaRPr lang="en-US" sz="2600" dirty="0"/>
          </a:p>
        </p:txBody>
      </p:sp>
      <p:sp>
        <p:nvSpPr>
          <p:cNvPr id="17" name="Text 13"/>
          <p:cNvSpPr txBox="1"/>
          <p:nvPr/>
        </p:nvSpPr>
        <p:spPr>
          <a:xfrm>
            <a:off x="6446520" y="2148840"/>
            <a:ext cx="4892040" cy="685800"/>
          </a:xfrm>
          <a:prstGeom prst="rect">
            <a:avLst/>
          </a:prstGeom>
          <a:noFill/>
          <a:ln/>
        </p:spPr>
        <p:txBody>
          <a:bodyPr wrap="square" lIns="0" tIns="0" rIns="0" bIns="0" rtlCol="0" anchor="t"/>
          <a:lstStyle/>
          <a:p>
            <a:pPr indent="0" marL="0">
              <a:buNone/>
            </a:pPr>
            <a:r>
              <a:rPr lang="en-US" sz="1600" b="1" dirty="0">
                <a:solidFill>
                  <a:srgbClr val="0A3377"/>
                </a:solidFill>
              </a:rPr>
              <a:t>ELIMINAR INTERMITÊNCIAS NO ABASTECIMENTO</a:t>
            </a:r>
            <a:endParaRPr lang="en-US" sz="1600" dirty="0"/>
          </a:p>
        </p:txBody>
      </p:sp>
      <p:sp>
        <p:nvSpPr>
          <p:cNvPr id="18" name="Text 14"/>
          <p:cNvSpPr txBox="1"/>
          <p:nvPr/>
        </p:nvSpPr>
        <p:spPr>
          <a:xfrm>
            <a:off x="6446520" y="2880360"/>
            <a:ext cx="4892040" cy="1920240"/>
          </a:xfrm>
          <a:prstGeom prst="rect">
            <a:avLst/>
          </a:prstGeom>
          <a:noFill/>
          <a:ln/>
        </p:spPr>
        <p:txBody>
          <a:bodyPr wrap="square" lIns="0" tIns="0" rIns="0" bIns="0" rtlCol="0" anchor="t"/>
          <a:lstStyle/>
          <a:p>
            <a:pPr indent="0" marL="0">
              <a:buNone/>
            </a:pPr>
            <a:r>
              <a:rPr lang="en-US" sz="1400" dirty="0">
                <a:solidFill>
                  <a:srgbClr val="5B6B88"/>
                </a:solidFill>
              </a:rPr>
              <a:t>Vedação integral da tubulação elimina rompimentos e infiltrações, garante continuidade do fornecimento e reduz desabastecimentos por falha de rede.</a:t>
            </a:r>
            <a:endParaRPr lang="en-US" sz="1400" dirty="0"/>
          </a:p>
        </p:txBody>
      </p:sp>
      <p:sp>
        <p:nvSpPr>
          <p:cNvPr id="19" name="Shape 15"/>
          <p:cNvSpPr/>
          <p:nvPr/>
        </p:nvSpPr>
        <p:spPr>
          <a:xfrm>
            <a:off x="640080" y="5212080"/>
            <a:ext cx="10927080" cy="685800"/>
          </a:xfrm>
          <a:prstGeom prst="roundRect">
            <a:avLst>
              <a:gd name="adj" fmla="val 13333"/>
            </a:avLst>
          </a:prstGeom>
          <a:solidFill>
            <a:srgbClr val="0A3377"/>
          </a:solidFill>
          <a:ln w="12700">
            <a:solidFill>
              <a:srgbClr val="0A3377"/>
            </a:solidFill>
            <a:prstDash val="solid"/>
          </a:ln>
        </p:spPr>
      </p:sp>
      <p:sp>
        <p:nvSpPr>
          <p:cNvPr id="20" name="Text 16"/>
          <p:cNvSpPr txBox="1"/>
          <p:nvPr/>
        </p:nvSpPr>
        <p:spPr>
          <a:xfrm>
            <a:off x="914400" y="5212080"/>
            <a:ext cx="10424160" cy="685800"/>
          </a:xfrm>
          <a:prstGeom prst="rect">
            <a:avLst/>
          </a:prstGeom>
          <a:noFill/>
          <a:ln/>
        </p:spPr>
        <p:txBody>
          <a:bodyPr wrap="square" lIns="0" tIns="0" rIns="0" bIns="0" rtlCol="0" anchor="ctr"/>
          <a:lstStyle/>
          <a:p>
            <a:pPr indent="0" marL="0">
              <a:buNone/>
            </a:pPr>
            <a:r>
              <a:rPr lang="en-US" sz="1500" b="1" dirty="0">
                <a:solidFill>
                  <a:srgbClr val="FFFFFF"/>
                </a:solidFill>
              </a:rPr>
              <a:t>Rede renovada habilita o controle de pressão (VRPs) no trecho crítico</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600" b="1" dirty="0">
                <a:solidFill>
                  <a:srgbClr val="FFFFFF"/>
                </a:solidFill>
              </a:rPr>
              <a:t>Menos pressão.</a:t>
            </a:r>
            <a:endParaRPr lang="en-US" sz="2600" dirty="0"/>
          </a:p>
          <a:p>
            <a:pPr indent="0" marL="0">
              <a:buNone/>
            </a:pPr>
            <a:r>
              <a:rPr lang="en-US" sz="2600" b="1" dirty="0">
                <a:solidFill>
                  <a:srgbClr val="FFFFFF"/>
                </a:solidFill>
              </a:rPr>
              <a:t>Menos perdas.</a:t>
            </a:r>
            <a:endParaRPr lang="en-US" sz="26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GESTÃO DAS PRESSÕES</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2"/>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3"/>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874520"/>
            <a:ext cx="5120640" cy="4069080"/>
          </a:xfrm>
          <a:prstGeom prst="roundRect">
            <a:avLst>
              <a:gd name="adj" fmla="val 2697"/>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0" name="Image 2" descr="/tmp/claude-0/-home-user-norte-sul-portfolio/b828416d-028b-56b8-943d-a9bc67fc20c3/scratchpad/pptx_out/cropped/fx/p_copos_5.44x4.29.jpg">    </p:cNvPr>
          <p:cNvPicPr>
            <a:picLocks noChangeAspect="1"/>
          </p:cNvPicPr>
          <p:nvPr/>
        </p:nvPicPr>
        <p:blipFill>
          <a:blip r:embed="rId4"/>
          <a:stretch>
            <a:fillRect/>
          </a:stretch>
        </p:blipFill>
        <p:spPr>
          <a:xfrm>
            <a:off x="713232" y="1947672"/>
            <a:ext cx="4974336" cy="3922776"/>
          </a:xfrm>
          <a:prstGeom prst="rect">
            <a:avLst/>
          </a:prstGeom>
        </p:spPr>
      </p:pic>
      <p:sp>
        <p:nvSpPr>
          <p:cNvPr id="11" name="Shape 6"/>
          <p:cNvSpPr/>
          <p:nvPr/>
        </p:nvSpPr>
        <p:spPr>
          <a:xfrm>
            <a:off x="6217920" y="1920240"/>
            <a:ext cx="5349240" cy="914400"/>
          </a:xfrm>
          <a:prstGeom prst="roundRect">
            <a:avLst>
              <a:gd name="adj" fmla="val 10000"/>
            </a:avLst>
          </a:prstGeom>
          <a:solidFill>
            <a:srgbClr val="0E3F8C"/>
          </a:solidFill>
          <a:ln w="12700">
            <a:solidFill>
              <a:srgbClr val="0E3F8C"/>
            </a:solidFill>
            <a:prstDash val="solid"/>
          </a:ln>
        </p:spPr>
      </p:sp>
      <p:sp>
        <p:nvSpPr>
          <p:cNvPr id="12" name="Text 7"/>
          <p:cNvSpPr txBox="1"/>
          <p:nvPr/>
        </p:nvSpPr>
        <p:spPr>
          <a:xfrm>
            <a:off x="6492240" y="1920240"/>
            <a:ext cx="4846320" cy="914400"/>
          </a:xfrm>
          <a:prstGeom prst="rect">
            <a:avLst/>
          </a:prstGeom>
          <a:noFill/>
          <a:ln/>
        </p:spPr>
        <p:txBody>
          <a:bodyPr wrap="square" lIns="0" tIns="0" rIns="0" bIns="0" rtlCol="0" anchor="ctr"/>
          <a:lstStyle/>
          <a:p>
            <a:pPr indent="0" marL="0">
              <a:buNone/>
            </a:pPr>
            <a:r>
              <a:rPr lang="en-US" sz="2000" b="1" dirty="0">
                <a:solidFill>
                  <a:srgbClr val="FFFFFF"/>
                </a:solidFill>
              </a:rPr>
              <a:t>Menor pressão operacional</a:t>
            </a:r>
            <a:endParaRPr lang="en-US" sz="2000" dirty="0"/>
          </a:p>
        </p:txBody>
      </p:sp>
      <p:sp>
        <p:nvSpPr>
          <p:cNvPr id="13" name="Text 8"/>
          <p:cNvSpPr txBox="1"/>
          <p:nvPr/>
        </p:nvSpPr>
        <p:spPr>
          <a:xfrm>
            <a:off x="8641080" y="2834640"/>
            <a:ext cx="548640" cy="457200"/>
          </a:xfrm>
          <a:prstGeom prst="rect">
            <a:avLst/>
          </a:prstGeom>
          <a:noFill/>
          <a:ln/>
        </p:spPr>
        <p:txBody>
          <a:bodyPr wrap="square" lIns="0" tIns="0" rIns="0" bIns="0" rtlCol="0" anchor="ctr"/>
          <a:lstStyle/>
          <a:p>
            <a:pPr algn="ctr" indent="0" marL="0">
              <a:buNone/>
            </a:pPr>
            <a:r>
              <a:rPr lang="en-US" sz="2000" b="1" dirty="0">
                <a:solidFill>
                  <a:srgbClr val="38D4FF"/>
                </a:solidFill>
              </a:rPr>
              <a:t>↓</a:t>
            </a:r>
            <a:endParaRPr lang="en-US" sz="2000" dirty="0"/>
          </a:p>
        </p:txBody>
      </p:sp>
      <p:sp>
        <p:nvSpPr>
          <p:cNvPr id="14" name="Shape 9"/>
          <p:cNvSpPr/>
          <p:nvPr/>
        </p:nvSpPr>
        <p:spPr>
          <a:xfrm>
            <a:off x="6217920" y="3291840"/>
            <a:ext cx="5349240" cy="914400"/>
          </a:xfrm>
          <a:prstGeom prst="roundRect">
            <a:avLst>
              <a:gd name="adj" fmla="val 10000"/>
            </a:avLst>
          </a:prstGeom>
          <a:solidFill>
            <a:srgbClr val="0E3F8C"/>
          </a:solidFill>
          <a:ln w="12700">
            <a:solidFill>
              <a:srgbClr val="0E3F8C"/>
            </a:solidFill>
            <a:prstDash val="solid"/>
          </a:ln>
        </p:spPr>
      </p:sp>
      <p:sp>
        <p:nvSpPr>
          <p:cNvPr id="15" name="Text 10"/>
          <p:cNvSpPr txBox="1"/>
          <p:nvPr/>
        </p:nvSpPr>
        <p:spPr>
          <a:xfrm>
            <a:off x="6492240" y="3291840"/>
            <a:ext cx="4846320" cy="914400"/>
          </a:xfrm>
          <a:prstGeom prst="rect">
            <a:avLst/>
          </a:prstGeom>
          <a:noFill/>
          <a:ln/>
        </p:spPr>
        <p:txBody>
          <a:bodyPr wrap="square" lIns="0" tIns="0" rIns="0" bIns="0" rtlCol="0" anchor="ctr"/>
          <a:lstStyle/>
          <a:p>
            <a:pPr indent="0" marL="0">
              <a:buNone/>
            </a:pPr>
            <a:r>
              <a:rPr lang="en-US" sz="2000" b="1" dirty="0">
                <a:solidFill>
                  <a:srgbClr val="FFFFFF"/>
                </a:solidFill>
              </a:rPr>
              <a:t>Menor vazão dos vazamentos</a:t>
            </a:r>
            <a:endParaRPr lang="en-US" sz="2000" dirty="0"/>
          </a:p>
        </p:txBody>
      </p:sp>
      <p:sp>
        <p:nvSpPr>
          <p:cNvPr id="16" name="Text 11"/>
          <p:cNvSpPr txBox="1"/>
          <p:nvPr/>
        </p:nvSpPr>
        <p:spPr>
          <a:xfrm>
            <a:off x="8641080" y="4206240"/>
            <a:ext cx="548640" cy="457200"/>
          </a:xfrm>
          <a:prstGeom prst="rect">
            <a:avLst/>
          </a:prstGeom>
          <a:noFill/>
          <a:ln/>
        </p:spPr>
        <p:txBody>
          <a:bodyPr wrap="square" lIns="0" tIns="0" rIns="0" bIns="0" rtlCol="0" anchor="ctr"/>
          <a:lstStyle/>
          <a:p>
            <a:pPr algn="ctr" indent="0" marL="0">
              <a:buNone/>
            </a:pPr>
            <a:r>
              <a:rPr lang="en-US" sz="2000" b="1" dirty="0">
                <a:solidFill>
                  <a:srgbClr val="38D4FF"/>
                </a:solidFill>
              </a:rPr>
              <a:t>↓</a:t>
            </a:r>
            <a:endParaRPr lang="en-US" sz="2000" dirty="0"/>
          </a:p>
        </p:txBody>
      </p:sp>
      <p:sp>
        <p:nvSpPr>
          <p:cNvPr id="17" name="Shape 12"/>
          <p:cNvSpPr/>
          <p:nvPr/>
        </p:nvSpPr>
        <p:spPr>
          <a:xfrm>
            <a:off x="6217920" y="4663440"/>
            <a:ext cx="5349240" cy="914400"/>
          </a:xfrm>
          <a:prstGeom prst="roundRect">
            <a:avLst>
              <a:gd name="adj" fmla="val 10000"/>
            </a:avLst>
          </a:prstGeom>
          <a:solidFill>
            <a:srgbClr val="38D4FF"/>
          </a:solidFill>
          <a:ln w="12700">
            <a:solidFill>
              <a:srgbClr val="38D4FF"/>
            </a:solidFill>
            <a:prstDash val="solid"/>
          </a:ln>
        </p:spPr>
      </p:sp>
      <p:sp>
        <p:nvSpPr>
          <p:cNvPr id="18" name="Text 13"/>
          <p:cNvSpPr txBox="1"/>
          <p:nvPr/>
        </p:nvSpPr>
        <p:spPr>
          <a:xfrm>
            <a:off x="6492240" y="4663440"/>
            <a:ext cx="4846320" cy="914400"/>
          </a:xfrm>
          <a:prstGeom prst="rect">
            <a:avLst/>
          </a:prstGeom>
          <a:noFill/>
          <a:ln/>
        </p:spPr>
        <p:txBody>
          <a:bodyPr wrap="square" lIns="0" tIns="0" rIns="0" bIns="0" rtlCol="0" anchor="ctr"/>
          <a:lstStyle/>
          <a:p>
            <a:pPr indent="0" marL="0">
              <a:buNone/>
            </a:pPr>
            <a:r>
              <a:rPr lang="en-US" sz="2000" b="1" dirty="0">
                <a:solidFill>
                  <a:srgbClr val="0A3377"/>
                </a:solidFill>
              </a:rPr>
              <a:t>Redução das perdas de água</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600" b="1" dirty="0">
                <a:solidFill>
                  <a:srgbClr val="0A3377"/>
                </a:solidFill>
              </a:rPr>
              <a:t>A física por trás</a:t>
            </a:r>
            <a:endParaRPr lang="en-US" sz="2600" dirty="0"/>
          </a:p>
          <a:p>
            <a:pPr indent="0" marL="0">
              <a:buNone/>
            </a:pPr>
            <a:r>
              <a:rPr lang="en-US" sz="2600" b="1" dirty="0">
                <a:solidFill>
                  <a:srgbClr val="0A3377"/>
                </a:solidFill>
              </a:rPr>
              <a:t>da redução</a:t>
            </a:r>
            <a:endParaRPr lang="en-US" sz="26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FUNDAMENTO TÉCNICO · LAMBERT</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874520"/>
            <a:ext cx="7498080" cy="4069080"/>
          </a:xfrm>
          <a:prstGeom prst="roundRect">
            <a:avLst>
              <a:gd name="adj" fmla="val 2697"/>
            </a:avLst>
          </a:prstGeom>
          <a:solidFill>
            <a:srgbClr val="FFFFFF"/>
          </a:solidFill>
          <a:ln w="9525">
            <a:solidFill>
              <a:srgbClr val="C9D6EA"/>
            </a:solidFill>
            <a:prstDash val="solid"/>
          </a:ln>
        </p:spPr>
      </p:sp>
      <p:sp>
        <p:nvSpPr>
          <p:cNvPr id="10" name="Text 6"/>
          <p:cNvSpPr txBox="1"/>
          <p:nvPr/>
        </p:nvSpPr>
        <p:spPr>
          <a:xfrm>
            <a:off x="914400" y="2011680"/>
            <a:ext cx="6949440" cy="86868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0A3377"/>
                </a:solidFill>
              </a:rPr>
              <a:t>Quando a pressão na rede é diminuída, a vazão dos vazamentos também diminui.</a:t>
            </a:r>
            <a:endParaRPr lang="en-US" sz="1350" dirty="0"/>
          </a:p>
          <a:p>
            <a:pPr marL="177800" indent="-177800">
              <a:buSzPct val="100000"/>
              <a:buChar char="•"/>
            </a:pPr>
            <a:r>
              <a:rPr lang="en-US" sz="1350" dirty="0">
                <a:solidFill>
                  <a:srgbClr val="0A3377"/>
                </a:solidFill>
              </a:rPr>
              <a:t>A equação que rege este fenômeno é a equação de orifício:</a:t>
            </a:r>
            <a:endParaRPr lang="en-US" sz="1350" dirty="0"/>
          </a:p>
        </p:txBody>
      </p:sp>
      <p:sp>
        <p:nvSpPr>
          <p:cNvPr id="11" name="Shape 7"/>
          <p:cNvSpPr/>
          <p:nvPr/>
        </p:nvSpPr>
        <p:spPr>
          <a:xfrm>
            <a:off x="914400" y="2926080"/>
            <a:ext cx="6949440" cy="685800"/>
          </a:xfrm>
          <a:prstGeom prst="roundRect">
            <a:avLst>
              <a:gd name="adj" fmla="val 10667"/>
            </a:avLst>
          </a:prstGeom>
          <a:solidFill>
            <a:srgbClr val="0A3377"/>
          </a:solidFill>
          <a:ln w="12700">
            <a:solidFill>
              <a:srgbClr val="0A3377"/>
            </a:solidFill>
            <a:prstDash val="solid"/>
          </a:ln>
        </p:spPr>
      </p:sp>
      <p:sp>
        <p:nvSpPr>
          <p:cNvPr id="12" name="Text 8"/>
          <p:cNvSpPr txBox="1"/>
          <p:nvPr/>
        </p:nvSpPr>
        <p:spPr>
          <a:xfrm>
            <a:off x="914400" y="2926080"/>
            <a:ext cx="6949440" cy="685800"/>
          </a:xfrm>
          <a:prstGeom prst="rect">
            <a:avLst/>
          </a:prstGeom>
          <a:noFill/>
          <a:ln/>
        </p:spPr>
        <p:txBody>
          <a:bodyPr wrap="square" lIns="0" tIns="0" rIns="0" bIns="0" rtlCol="0" anchor="ctr"/>
          <a:lstStyle/>
          <a:p>
            <a:pPr algn="ctr" indent="0" marL="0">
              <a:buNone/>
            </a:pPr>
            <a:r>
              <a:rPr lang="en-US" sz="1600" b="1" dirty="0">
                <a:solidFill>
                  <a:srgbClr val="FFFFFF"/>
                </a:solidFill>
              </a:rPr>
              <a:t>Q</a:t>
            </a:r>
            <a:pPr algn="ctr" indent="0" marL="0">
              <a:buNone/>
            </a:pPr>
            <a:r>
              <a:rPr lang="en-US" sz="1600" b="1" baseline="-40000" dirty="0">
                <a:solidFill>
                  <a:srgbClr val="FFFFFF"/>
                </a:solidFill>
              </a:rPr>
              <a:t>final</a:t>
            </a:r>
            <a:pPr algn="ctr" indent="0" marL="0">
              <a:buNone/>
            </a:pPr>
            <a:r>
              <a:rPr lang="en-US" sz="1600" b="1" dirty="0">
                <a:solidFill>
                  <a:srgbClr val="FFFFFF"/>
                </a:solidFill>
              </a:rPr>
              <a:t> / Q</a:t>
            </a:r>
            <a:pPr algn="ctr" indent="0" marL="0">
              <a:buNone/>
            </a:pPr>
            <a:r>
              <a:rPr lang="en-US" sz="1600" b="1" baseline="-40000" dirty="0">
                <a:solidFill>
                  <a:srgbClr val="FFFFFF"/>
                </a:solidFill>
              </a:rPr>
              <a:t>inicial</a:t>
            </a:r>
            <a:pPr algn="ctr" indent="0" marL="0">
              <a:buNone/>
            </a:pPr>
            <a:r>
              <a:rPr lang="en-US" sz="1600" b="1" dirty="0">
                <a:solidFill>
                  <a:srgbClr val="FFFFFF"/>
                </a:solidFill>
              </a:rPr>
              <a:t> = ( P</a:t>
            </a:r>
            <a:pPr algn="ctr" indent="0" marL="0">
              <a:buNone/>
            </a:pPr>
            <a:r>
              <a:rPr lang="en-US" sz="1600" b="1" baseline="-40000" dirty="0">
                <a:solidFill>
                  <a:srgbClr val="FFFFFF"/>
                </a:solidFill>
              </a:rPr>
              <a:t>final</a:t>
            </a:r>
            <a:pPr algn="ctr" indent="0" marL="0">
              <a:buNone/>
            </a:pPr>
            <a:r>
              <a:rPr lang="en-US" sz="1600" b="1" dirty="0">
                <a:solidFill>
                  <a:srgbClr val="FFFFFF"/>
                </a:solidFill>
              </a:rPr>
              <a:t> / P</a:t>
            </a:r>
            <a:pPr algn="ctr" indent="0" marL="0">
              <a:buNone/>
            </a:pPr>
            <a:r>
              <a:rPr lang="en-US" sz="1600" b="1" baseline="-40000" dirty="0">
                <a:solidFill>
                  <a:srgbClr val="FFFFFF"/>
                </a:solidFill>
              </a:rPr>
              <a:t>inicial</a:t>
            </a:r>
            <a:pPr algn="ctr" indent="0" marL="0">
              <a:buNone/>
            </a:pPr>
            <a:r>
              <a:rPr lang="en-US" sz="1600" b="1" dirty="0">
                <a:solidFill>
                  <a:srgbClr val="FFFFFF"/>
                </a:solidFill>
              </a:rPr>
              <a:t> )</a:t>
            </a:r>
            <a:pPr algn="ctr" indent="0" marL="0">
              <a:buNone/>
            </a:pPr>
            <a:r>
              <a:rPr lang="en-US" sz="1600" b="1" baseline="30000" dirty="0">
                <a:solidFill>
                  <a:srgbClr val="FFFFFF"/>
                </a:solidFill>
              </a:rPr>
              <a:t>n</a:t>
            </a:r>
            <a:pPr algn="ctr" indent="0" marL="0">
              <a:buNone/>
            </a:pPr>
            <a:r>
              <a:rPr lang="en-US" sz="1600" b="1" dirty="0">
                <a:solidFill>
                  <a:srgbClr val="38D4FF"/>
                </a:solidFill>
              </a:rPr>
              <a:t>   →   Q</a:t>
            </a:r>
            <a:pPr algn="ctr" indent="0" marL="0">
              <a:buNone/>
            </a:pPr>
            <a:r>
              <a:rPr lang="en-US" sz="1600" b="1" baseline="-40000" dirty="0">
                <a:solidFill>
                  <a:srgbClr val="38D4FF"/>
                </a:solidFill>
              </a:rPr>
              <a:t>final</a:t>
            </a:r>
            <a:pPr algn="ctr" indent="0" marL="0">
              <a:buNone/>
            </a:pPr>
            <a:r>
              <a:rPr lang="en-US" sz="1600" b="1" dirty="0">
                <a:solidFill>
                  <a:srgbClr val="38D4FF"/>
                </a:solidFill>
              </a:rPr>
              <a:t> = Q</a:t>
            </a:r>
            <a:pPr algn="ctr" indent="0" marL="0">
              <a:buNone/>
            </a:pPr>
            <a:r>
              <a:rPr lang="en-US" sz="1600" b="1" baseline="-40000" dirty="0">
                <a:solidFill>
                  <a:srgbClr val="38D4FF"/>
                </a:solidFill>
              </a:rPr>
              <a:t>inicial</a:t>
            </a:r>
            <a:pPr algn="ctr" indent="0" marL="0">
              <a:buNone/>
            </a:pPr>
            <a:r>
              <a:rPr lang="en-US" sz="1600" b="1" dirty="0">
                <a:solidFill>
                  <a:srgbClr val="38D4FF"/>
                </a:solidFill>
              </a:rPr>
              <a:t> · ( P</a:t>
            </a:r>
            <a:pPr algn="ctr" indent="0" marL="0">
              <a:buNone/>
            </a:pPr>
            <a:r>
              <a:rPr lang="en-US" sz="1600" b="1" baseline="-40000" dirty="0">
                <a:solidFill>
                  <a:srgbClr val="38D4FF"/>
                </a:solidFill>
              </a:rPr>
              <a:t>final</a:t>
            </a:r>
            <a:pPr algn="ctr" indent="0" marL="0">
              <a:buNone/>
            </a:pPr>
            <a:r>
              <a:rPr lang="en-US" sz="1600" b="1" dirty="0">
                <a:solidFill>
                  <a:srgbClr val="38D4FF"/>
                </a:solidFill>
              </a:rPr>
              <a:t> / P</a:t>
            </a:r>
            <a:pPr algn="ctr" indent="0" marL="0">
              <a:buNone/>
            </a:pPr>
            <a:r>
              <a:rPr lang="en-US" sz="1600" b="1" baseline="-40000" dirty="0">
                <a:solidFill>
                  <a:srgbClr val="38D4FF"/>
                </a:solidFill>
              </a:rPr>
              <a:t>inicial</a:t>
            </a:r>
            <a:pPr algn="ctr" indent="0" marL="0">
              <a:buNone/>
            </a:pPr>
            <a:r>
              <a:rPr lang="en-US" sz="1600" b="1" dirty="0">
                <a:solidFill>
                  <a:srgbClr val="38D4FF"/>
                </a:solidFill>
              </a:rPr>
              <a:t> )</a:t>
            </a:r>
            <a:pPr algn="ctr" indent="0" marL="0">
              <a:buNone/>
            </a:pPr>
            <a:r>
              <a:rPr lang="en-US" sz="1600" b="1" baseline="30000" dirty="0">
                <a:solidFill>
                  <a:srgbClr val="38D4FF"/>
                </a:solidFill>
              </a:rPr>
              <a:t>n</a:t>
            </a:r>
            <a:endParaRPr lang="en-US" sz="1600" dirty="0"/>
          </a:p>
        </p:txBody>
      </p:sp>
      <p:sp>
        <p:nvSpPr>
          <p:cNvPr id="13" name="Text 9"/>
          <p:cNvSpPr txBox="1"/>
          <p:nvPr/>
        </p:nvSpPr>
        <p:spPr>
          <a:xfrm>
            <a:off x="914400" y="3749040"/>
            <a:ext cx="6949440" cy="2057400"/>
          </a:xfrm>
          <a:prstGeom prst="rect">
            <a:avLst/>
          </a:prstGeom>
          <a:noFill/>
          <a:ln/>
        </p:spPr>
        <p:txBody>
          <a:bodyPr wrap="square" lIns="0" tIns="0" rIns="0" bIns="0" rtlCol="0" anchor="t"/>
          <a:lstStyle/>
          <a:p>
            <a:pPr indent="0" marL="0">
              <a:spcAft>
                <a:spcPts val="400"/>
              </a:spcAft>
              <a:buNone/>
            </a:pPr>
            <a:r>
              <a:rPr lang="en-US" sz="1300" b="1" dirty="0">
                <a:solidFill>
                  <a:srgbClr val="5B6B88"/>
                </a:solidFill>
              </a:rPr>
              <a:t>Onde:</a:t>
            </a:r>
            <a:endParaRPr lang="en-US" sz="1300" dirty="0"/>
          </a:p>
          <a:p>
            <a:pPr indent="0" marL="0">
              <a:buNone/>
            </a:pPr>
            <a:r>
              <a:rPr lang="en-US" sz="1300" b="1" dirty="0">
                <a:solidFill>
                  <a:srgbClr val="5B6B88"/>
                </a:solidFill>
              </a:rPr>
              <a:t>Q final: </a:t>
            </a:r>
            <a:pPr indent="0" marL="0">
              <a:spcAft>
                <a:spcPts val="400"/>
              </a:spcAft>
              <a:buNone/>
            </a:pPr>
            <a:r>
              <a:rPr lang="en-US" sz="1300" dirty="0">
                <a:solidFill>
                  <a:srgbClr val="5B6B88"/>
                </a:solidFill>
              </a:rPr>
              <a:t>Vazão dos vazamentos após a redução da pressão.</a:t>
            </a:r>
            <a:endParaRPr lang="en-US" sz="1300" dirty="0"/>
          </a:p>
          <a:p>
            <a:pPr indent="0" marL="0">
              <a:buNone/>
            </a:pPr>
            <a:r>
              <a:rPr lang="en-US" sz="1300" b="1" dirty="0">
                <a:solidFill>
                  <a:srgbClr val="5B6B88"/>
                </a:solidFill>
              </a:rPr>
              <a:t>Q inicial: </a:t>
            </a:r>
            <a:pPr indent="0" marL="0">
              <a:spcAft>
                <a:spcPts val="400"/>
              </a:spcAft>
              <a:buNone/>
            </a:pPr>
            <a:r>
              <a:rPr lang="en-US" sz="1300" dirty="0">
                <a:solidFill>
                  <a:srgbClr val="5B6B88"/>
                </a:solidFill>
              </a:rPr>
              <a:t>Vazão antes dos vazamentos antes da redução da pressão.</a:t>
            </a:r>
            <a:endParaRPr lang="en-US" sz="1300" dirty="0"/>
          </a:p>
          <a:p>
            <a:pPr indent="0" marL="0">
              <a:buNone/>
            </a:pPr>
            <a:r>
              <a:rPr lang="en-US" sz="1300" b="1" dirty="0">
                <a:solidFill>
                  <a:srgbClr val="5B6B88"/>
                </a:solidFill>
              </a:rPr>
              <a:t>n: </a:t>
            </a:r>
            <a:pPr indent="0" marL="0">
              <a:buNone/>
            </a:pPr>
            <a:r>
              <a:rPr lang="en-US" sz="1300" dirty="0">
                <a:solidFill>
                  <a:srgbClr val="5B6B88"/>
                </a:solidFill>
              </a:rPr>
              <a:t>Expoente de vazamento (geralmente varia entre 0,5 para furos fixos em metal e 1,5 para rachaduras longitudinais em tubos plásticos que se expandem com a pressão).</a:t>
            </a:r>
            <a:endParaRPr lang="en-US" sz="1300" dirty="0"/>
          </a:p>
        </p:txBody>
      </p:sp>
      <p:pic>
        <p:nvPicPr>
          <p:cNvPr id="14" name="Image 2" descr="/tmp/claude-0/-home-user-norte-sul-portfolio/b828416d-028b-56b8-943d-a9bc67fc20c3/scratchpad/pptx_out/p_setas.png">    </p:cNvPr>
          <p:cNvPicPr>
            <a:picLocks noChangeAspect="1"/>
          </p:cNvPicPr>
          <p:nvPr/>
        </p:nvPicPr>
        <p:blipFill>
          <a:blip r:embed="rId3"/>
          <a:stretch>
            <a:fillRect/>
          </a:stretch>
        </p:blipFill>
        <p:spPr>
          <a:xfrm>
            <a:off x="8778240" y="1874520"/>
            <a:ext cx="2743200" cy="32918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600" b="1" dirty="0">
                <a:solidFill>
                  <a:srgbClr val="FFFFFF"/>
                </a:solidFill>
              </a:rPr>
              <a:t>Menos pressão.</a:t>
            </a:r>
            <a:endParaRPr lang="en-US" sz="2600" dirty="0"/>
          </a:p>
          <a:p>
            <a:pPr indent="0" marL="0">
              <a:buNone/>
            </a:pPr>
            <a:r>
              <a:rPr lang="en-US" sz="2600" b="1" dirty="0">
                <a:solidFill>
                  <a:srgbClr val="FFFFFF"/>
                </a:solidFill>
              </a:rPr>
              <a:t>Menos perdas.</a:t>
            </a:r>
            <a:endParaRPr lang="en-US" sz="26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CASO DMC NASA</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2"/>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3"/>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Text 5"/>
          <p:cNvSpPr txBox="1"/>
          <p:nvPr/>
        </p:nvSpPr>
        <p:spPr>
          <a:xfrm>
            <a:off x="640080" y="1874520"/>
            <a:ext cx="2377440" cy="274320"/>
          </a:xfrm>
          <a:prstGeom prst="rect">
            <a:avLst/>
          </a:prstGeom>
          <a:noFill/>
          <a:ln/>
        </p:spPr>
        <p:txBody>
          <a:bodyPr wrap="square" lIns="0" tIns="0" rIns="0" bIns="0" rtlCol="0" anchor="ctr"/>
          <a:lstStyle/>
          <a:p>
            <a:pPr indent="0" marL="0">
              <a:buNone/>
            </a:pPr>
            <a:r>
              <a:rPr lang="en-US" sz="1100" b="1" spc="100" kern="0" dirty="0">
                <a:solidFill>
                  <a:srgbClr val="CFE6FF"/>
                </a:solidFill>
              </a:rPr>
              <a:t>PRESSÃO MÉDIA · ANTES</a:t>
            </a:r>
            <a:endParaRPr lang="en-US" sz="1100" dirty="0"/>
          </a:p>
        </p:txBody>
      </p:sp>
      <p:sp>
        <p:nvSpPr>
          <p:cNvPr id="10" name="Text 6"/>
          <p:cNvSpPr txBox="1"/>
          <p:nvPr/>
        </p:nvSpPr>
        <p:spPr>
          <a:xfrm>
            <a:off x="640080" y="2148840"/>
            <a:ext cx="2377440" cy="777240"/>
          </a:xfrm>
          <a:prstGeom prst="rect">
            <a:avLst/>
          </a:prstGeom>
          <a:noFill/>
          <a:ln/>
        </p:spPr>
        <p:txBody>
          <a:bodyPr wrap="square" lIns="0" tIns="0" rIns="0" bIns="0" rtlCol="0" anchor="ctr"/>
          <a:lstStyle/>
          <a:p>
            <a:pPr indent="0" marL="0">
              <a:buNone/>
            </a:pPr>
            <a:r>
              <a:rPr lang="en-US" sz="4000" b="1" dirty="0">
                <a:solidFill>
                  <a:srgbClr val="FFFFFF"/>
                </a:solidFill>
              </a:rPr>
              <a:t>31</a:t>
            </a:r>
            <a:pPr indent="0" marL="0">
              <a:buNone/>
            </a:pPr>
            <a:r>
              <a:rPr lang="en-US" sz="1500" b="1" dirty="0">
                <a:solidFill>
                  <a:srgbClr val="38D4FF"/>
                </a:solidFill>
              </a:rPr>
              <a:t> mca</a:t>
            </a:r>
            <a:endParaRPr lang="en-US" sz="4000" dirty="0"/>
          </a:p>
        </p:txBody>
      </p:sp>
      <p:sp>
        <p:nvSpPr>
          <p:cNvPr id="11" name="Text 7"/>
          <p:cNvSpPr txBox="1"/>
          <p:nvPr/>
        </p:nvSpPr>
        <p:spPr>
          <a:xfrm>
            <a:off x="2834640" y="2148840"/>
            <a:ext cx="640080" cy="777240"/>
          </a:xfrm>
          <a:prstGeom prst="rect">
            <a:avLst/>
          </a:prstGeom>
          <a:noFill/>
          <a:ln/>
        </p:spPr>
        <p:txBody>
          <a:bodyPr wrap="square" lIns="0" tIns="0" rIns="0" bIns="0" rtlCol="0" anchor="ctr"/>
          <a:lstStyle/>
          <a:p>
            <a:pPr algn="ctr" indent="0" marL="0">
              <a:buNone/>
            </a:pPr>
            <a:r>
              <a:rPr lang="en-US" sz="3200" b="1" dirty="0">
                <a:solidFill>
                  <a:srgbClr val="38D4FF"/>
                </a:solidFill>
              </a:rPr>
              <a:t>→</a:t>
            </a:r>
            <a:endParaRPr lang="en-US" sz="3200" dirty="0"/>
          </a:p>
        </p:txBody>
      </p:sp>
      <p:sp>
        <p:nvSpPr>
          <p:cNvPr id="12" name="Text 8"/>
          <p:cNvSpPr txBox="1"/>
          <p:nvPr/>
        </p:nvSpPr>
        <p:spPr>
          <a:xfrm>
            <a:off x="3566160" y="1874520"/>
            <a:ext cx="2377440" cy="274320"/>
          </a:xfrm>
          <a:prstGeom prst="rect">
            <a:avLst/>
          </a:prstGeom>
          <a:noFill/>
          <a:ln/>
        </p:spPr>
        <p:txBody>
          <a:bodyPr wrap="square" lIns="0" tIns="0" rIns="0" bIns="0" rtlCol="0" anchor="ctr"/>
          <a:lstStyle/>
          <a:p>
            <a:pPr indent="0" marL="0">
              <a:buNone/>
            </a:pPr>
            <a:r>
              <a:rPr lang="en-US" sz="1100" b="1" spc="100" kern="0" dirty="0">
                <a:solidFill>
                  <a:srgbClr val="CFE6FF"/>
                </a:solidFill>
              </a:rPr>
              <a:t>DEPOIS</a:t>
            </a:r>
            <a:endParaRPr lang="en-US" sz="1100" dirty="0"/>
          </a:p>
        </p:txBody>
      </p:sp>
      <p:sp>
        <p:nvSpPr>
          <p:cNvPr id="13" name="Text 9"/>
          <p:cNvSpPr txBox="1"/>
          <p:nvPr/>
        </p:nvSpPr>
        <p:spPr>
          <a:xfrm>
            <a:off x="3566160" y="2148840"/>
            <a:ext cx="2377440" cy="777240"/>
          </a:xfrm>
          <a:prstGeom prst="rect">
            <a:avLst/>
          </a:prstGeom>
          <a:noFill/>
          <a:ln/>
        </p:spPr>
        <p:txBody>
          <a:bodyPr wrap="square" lIns="0" tIns="0" rIns="0" bIns="0" rtlCol="0" anchor="ctr"/>
          <a:lstStyle/>
          <a:p>
            <a:pPr indent="0" marL="0">
              <a:buNone/>
            </a:pPr>
            <a:r>
              <a:rPr lang="en-US" sz="4000" b="1" dirty="0">
                <a:solidFill>
                  <a:srgbClr val="FFFFFF"/>
                </a:solidFill>
              </a:rPr>
              <a:t>21</a:t>
            </a:r>
            <a:pPr indent="0" marL="0">
              <a:buNone/>
            </a:pPr>
            <a:r>
              <a:rPr lang="en-US" sz="1500" b="1" dirty="0">
                <a:solidFill>
                  <a:srgbClr val="38D4FF"/>
                </a:solidFill>
              </a:rPr>
              <a:t> mca</a:t>
            </a:r>
            <a:endParaRPr lang="en-US" sz="4000" dirty="0"/>
          </a:p>
        </p:txBody>
      </p:sp>
      <p:sp>
        <p:nvSpPr>
          <p:cNvPr id="14" name="Text 10"/>
          <p:cNvSpPr txBox="1"/>
          <p:nvPr/>
        </p:nvSpPr>
        <p:spPr>
          <a:xfrm>
            <a:off x="2377440" y="2926080"/>
            <a:ext cx="1645920" cy="320040"/>
          </a:xfrm>
          <a:prstGeom prst="rect">
            <a:avLst/>
          </a:prstGeom>
          <a:noFill/>
          <a:ln/>
        </p:spPr>
        <p:txBody>
          <a:bodyPr wrap="square" lIns="0" tIns="0" rIns="0" bIns="0" rtlCol="0" anchor="ctr"/>
          <a:lstStyle/>
          <a:p>
            <a:pPr algn="ctr" indent="0" marL="0">
              <a:buNone/>
            </a:pPr>
            <a:r>
              <a:rPr lang="en-US" sz="1400" b="1" dirty="0">
                <a:solidFill>
                  <a:srgbClr val="38D4FF"/>
                </a:solidFill>
              </a:rPr>
              <a:t>−10 mca</a:t>
            </a:r>
            <a:endParaRPr lang="en-US" sz="1400" dirty="0"/>
          </a:p>
        </p:txBody>
      </p:sp>
      <p:sp>
        <p:nvSpPr>
          <p:cNvPr id="15" name="Shape 11"/>
          <p:cNvSpPr/>
          <p:nvPr/>
        </p:nvSpPr>
        <p:spPr>
          <a:xfrm>
            <a:off x="6949440" y="1874520"/>
            <a:ext cx="45720" cy="1005840"/>
          </a:xfrm>
          <a:prstGeom prst="rect">
            <a:avLst/>
          </a:prstGeom>
          <a:solidFill>
            <a:srgbClr val="38D4FF"/>
          </a:solidFill>
          <a:ln w="12700">
            <a:solidFill>
              <a:srgbClr val="38D4FF"/>
            </a:solidFill>
            <a:prstDash val="solid"/>
          </a:ln>
        </p:spPr>
      </p:sp>
      <p:sp>
        <p:nvSpPr>
          <p:cNvPr id="16" name="Text 12"/>
          <p:cNvSpPr txBox="1"/>
          <p:nvPr/>
        </p:nvSpPr>
        <p:spPr>
          <a:xfrm>
            <a:off x="7150608" y="1874520"/>
            <a:ext cx="4370832" cy="731520"/>
          </a:xfrm>
          <a:prstGeom prst="rect">
            <a:avLst/>
          </a:prstGeom>
          <a:noFill/>
          <a:ln/>
        </p:spPr>
        <p:txBody>
          <a:bodyPr wrap="square" lIns="0" tIns="0" rIns="0" bIns="0" rtlCol="0" anchor="ctr"/>
          <a:lstStyle/>
          <a:p>
            <a:pPr indent="0" marL="0">
              <a:buNone/>
            </a:pPr>
            <a:r>
              <a:rPr lang="en-US" sz="3600" b="1" dirty="0">
                <a:solidFill>
                  <a:srgbClr val="38D4FF"/>
                </a:solidFill>
              </a:rPr>
              <a:t>44,23%</a:t>
            </a:r>
            <a:endParaRPr lang="en-US" sz="3600" dirty="0"/>
          </a:p>
        </p:txBody>
      </p:sp>
      <p:sp>
        <p:nvSpPr>
          <p:cNvPr id="17" name="Text 13"/>
          <p:cNvSpPr txBox="1"/>
          <p:nvPr/>
        </p:nvSpPr>
        <p:spPr>
          <a:xfrm>
            <a:off x="7150608" y="2606040"/>
            <a:ext cx="4370832" cy="411480"/>
          </a:xfrm>
          <a:prstGeom prst="rect">
            <a:avLst/>
          </a:prstGeom>
          <a:noFill/>
          <a:ln/>
        </p:spPr>
        <p:txBody>
          <a:bodyPr wrap="square" lIns="0" tIns="0" rIns="0" bIns="0" rtlCol="0" anchor="t"/>
          <a:lstStyle/>
          <a:p>
            <a:pPr indent="0" marL="0">
              <a:buNone/>
            </a:pPr>
            <a:r>
              <a:rPr lang="en-US" sz="1100" dirty="0">
                <a:solidFill>
                  <a:srgbClr val="CFE6FF"/>
                </a:solidFill>
              </a:rPr>
              <a:t>menos vazão de perdas</a:t>
            </a:r>
            <a:endParaRPr lang="en-US" sz="1100" dirty="0"/>
          </a:p>
        </p:txBody>
      </p:sp>
      <p:sp>
        <p:nvSpPr>
          <p:cNvPr id="18" name="Shape 14"/>
          <p:cNvSpPr/>
          <p:nvPr/>
        </p:nvSpPr>
        <p:spPr>
          <a:xfrm>
            <a:off x="640080" y="3566160"/>
            <a:ext cx="10927080" cy="457200"/>
          </a:xfrm>
          <a:prstGeom prst="rect">
            <a:avLst/>
          </a:prstGeom>
          <a:solidFill>
            <a:srgbClr val="0E3F8C"/>
          </a:solidFill>
          <a:ln w="12700">
            <a:solidFill>
              <a:srgbClr val="0E3F8C"/>
            </a:solidFill>
            <a:prstDash val="solid"/>
          </a:ln>
        </p:spPr>
      </p:sp>
      <p:sp>
        <p:nvSpPr>
          <p:cNvPr id="19" name="Text 15"/>
          <p:cNvSpPr txBox="1"/>
          <p:nvPr/>
        </p:nvSpPr>
        <p:spPr>
          <a:xfrm>
            <a:off x="822960" y="3566160"/>
            <a:ext cx="3657600" cy="457200"/>
          </a:xfrm>
          <a:prstGeom prst="rect">
            <a:avLst/>
          </a:prstGeom>
          <a:noFill/>
          <a:ln/>
        </p:spPr>
        <p:txBody>
          <a:bodyPr wrap="square" lIns="0" tIns="0" rIns="0" bIns="0" rtlCol="0" anchor="ctr"/>
          <a:lstStyle/>
          <a:p>
            <a:pPr indent="0" marL="0">
              <a:buNone/>
            </a:pPr>
            <a:r>
              <a:rPr lang="en-US" sz="1400" b="1" dirty="0">
                <a:solidFill>
                  <a:srgbClr val="FFFFFF"/>
                </a:solidFill>
              </a:rPr>
              <a:t>2.137,38 m³/dia</a:t>
            </a:r>
            <a:endParaRPr lang="en-US" sz="1400" dirty="0"/>
          </a:p>
        </p:txBody>
      </p:sp>
      <p:sp>
        <p:nvSpPr>
          <p:cNvPr id="20" name="Shape 16"/>
          <p:cNvSpPr/>
          <p:nvPr/>
        </p:nvSpPr>
        <p:spPr>
          <a:xfrm>
            <a:off x="640080" y="4114800"/>
            <a:ext cx="6093844" cy="457200"/>
          </a:xfrm>
          <a:prstGeom prst="rect">
            <a:avLst/>
          </a:prstGeom>
          <a:solidFill>
            <a:srgbClr val="38D4FF"/>
          </a:solidFill>
          <a:ln w="12700">
            <a:solidFill>
              <a:srgbClr val="38D4FF"/>
            </a:solidFill>
            <a:prstDash val="solid"/>
          </a:ln>
        </p:spPr>
      </p:sp>
      <p:sp>
        <p:nvSpPr>
          <p:cNvPr id="21" name="Text 17"/>
          <p:cNvSpPr txBox="1"/>
          <p:nvPr/>
        </p:nvSpPr>
        <p:spPr>
          <a:xfrm>
            <a:off x="822960" y="4114800"/>
            <a:ext cx="3657600" cy="457200"/>
          </a:xfrm>
          <a:prstGeom prst="rect">
            <a:avLst/>
          </a:prstGeom>
          <a:noFill/>
          <a:ln/>
        </p:spPr>
        <p:txBody>
          <a:bodyPr wrap="square" lIns="0" tIns="0" rIns="0" bIns="0" rtlCol="0" anchor="ctr"/>
          <a:lstStyle/>
          <a:p>
            <a:pPr indent="0" marL="0">
              <a:buNone/>
            </a:pPr>
            <a:r>
              <a:rPr lang="en-US" sz="1400" b="1" dirty="0">
                <a:solidFill>
                  <a:srgbClr val="0A3377"/>
                </a:solidFill>
              </a:rPr>
              <a:t>1.191,98 m³/dia</a:t>
            </a:r>
            <a:endParaRPr lang="en-US" sz="1400" dirty="0"/>
          </a:p>
        </p:txBody>
      </p:sp>
      <p:sp>
        <p:nvSpPr>
          <p:cNvPr id="22" name="Text 18"/>
          <p:cNvSpPr txBox="1"/>
          <p:nvPr/>
        </p:nvSpPr>
        <p:spPr>
          <a:xfrm>
            <a:off x="640080" y="4663440"/>
            <a:ext cx="7315200" cy="365760"/>
          </a:xfrm>
          <a:prstGeom prst="rect">
            <a:avLst/>
          </a:prstGeom>
          <a:noFill/>
          <a:ln/>
        </p:spPr>
        <p:txBody>
          <a:bodyPr wrap="square" lIns="0" tIns="0" rIns="0" bIns="0" rtlCol="0" anchor="ctr"/>
          <a:lstStyle/>
          <a:p>
            <a:pPr indent="0" marL="0">
              <a:buNone/>
            </a:pPr>
            <a:r>
              <a:rPr lang="en-US" sz="1500" b="1" dirty="0">
                <a:solidFill>
                  <a:srgbClr val="38D4FF"/>
                </a:solidFill>
              </a:rPr>
              <a:t>945,4 m³/dia recuperados</a:t>
            </a:r>
            <a:endParaRPr lang="en-US" sz="1500" dirty="0"/>
          </a:p>
        </p:txBody>
      </p:sp>
      <p:sp>
        <p:nvSpPr>
          <p:cNvPr id="23" name="Shape 19"/>
          <p:cNvSpPr/>
          <p:nvPr/>
        </p:nvSpPr>
        <p:spPr>
          <a:xfrm>
            <a:off x="640080" y="5303520"/>
            <a:ext cx="54864" cy="457200"/>
          </a:xfrm>
          <a:prstGeom prst="rect">
            <a:avLst/>
          </a:prstGeom>
          <a:solidFill>
            <a:srgbClr val="38D4FF"/>
          </a:solidFill>
          <a:ln w="12700">
            <a:solidFill>
              <a:srgbClr val="38D4FF"/>
            </a:solidFill>
            <a:prstDash val="solid"/>
          </a:ln>
        </p:spPr>
      </p:sp>
      <p:sp>
        <p:nvSpPr>
          <p:cNvPr id="24" name="Text 20"/>
          <p:cNvSpPr txBox="1"/>
          <p:nvPr/>
        </p:nvSpPr>
        <p:spPr>
          <a:xfrm>
            <a:off x="822960" y="5303520"/>
            <a:ext cx="10744200" cy="457200"/>
          </a:xfrm>
          <a:prstGeom prst="rect">
            <a:avLst/>
          </a:prstGeom>
          <a:noFill/>
          <a:ln/>
        </p:spPr>
        <p:txBody>
          <a:bodyPr wrap="square" lIns="0" tIns="0" rIns="0" bIns="0" rtlCol="0" anchor="ctr"/>
          <a:lstStyle/>
          <a:p>
            <a:pPr indent="0" marL="0">
              <a:buNone/>
            </a:pPr>
            <a:r>
              <a:rPr lang="en-US" sz="1200" b="1" dirty="0">
                <a:solidFill>
                  <a:srgbClr val="FFFFFF"/>
                </a:solidFill>
              </a:rPr>
              <a:t>“O controle de pressão não substitui o reparo: ele reduz o volume perdido até que ele aconteça”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800" b="1" dirty="0">
                <a:solidFill>
                  <a:srgbClr val="FFFFFF"/>
                </a:solidFill>
              </a:rPr>
              <a:t>Operar pelo ponto crítico</a:t>
            </a:r>
            <a:endParaRPr lang="en-US" sz="28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03 / CONTROLE DE PRESSÃO E AUTOMAÇÃO</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2"/>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3"/>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Text 5"/>
          <p:cNvSpPr txBox="1"/>
          <p:nvPr/>
        </p:nvSpPr>
        <p:spPr>
          <a:xfrm>
            <a:off x="640080" y="1554480"/>
            <a:ext cx="3291840" cy="914400"/>
          </a:xfrm>
          <a:prstGeom prst="rect">
            <a:avLst/>
          </a:prstGeom>
          <a:noFill/>
          <a:ln/>
        </p:spPr>
        <p:txBody>
          <a:bodyPr wrap="square" lIns="0" tIns="0" rIns="0" bIns="0" rtlCol="0" anchor="ctr"/>
          <a:lstStyle/>
          <a:p>
            <a:pPr indent="0" marL="0">
              <a:buNone/>
            </a:pPr>
            <a:r>
              <a:rPr lang="en-US" sz="4800" b="1" dirty="0">
                <a:solidFill>
                  <a:srgbClr val="38D4FF"/>
                </a:solidFill>
              </a:rPr>
              <a:t>10</a:t>
            </a:r>
            <a:pPr indent="0" marL="0">
              <a:buNone/>
            </a:pPr>
            <a:r>
              <a:rPr lang="en-US" sz="2200" b="1" dirty="0">
                <a:solidFill>
                  <a:srgbClr val="38D4FF"/>
                </a:solidFill>
              </a:rPr>
              <a:t> mca</a:t>
            </a:r>
            <a:endParaRPr lang="en-US" sz="4800" dirty="0"/>
          </a:p>
        </p:txBody>
      </p:sp>
      <p:sp>
        <p:nvSpPr>
          <p:cNvPr id="10" name="Text 6"/>
          <p:cNvSpPr txBox="1"/>
          <p:nvPr/>
        </p:nvSpPr>
        <p:spPr>
          <a:xfrm>
            <a:off x="640080" y="2514600"/>
            <a:ext cx="3291840" cy="640080"/>
          </a:xfrm>
          <a:prstGeom prst="rect">
            <a:avLst/>
          </a:prstGeom>
          <a:noFill/>
          <a:ln/>
        </p:spPr>
        <p:txBody>
          <a:bodyPr wrap="square" lIns="0" tIns="0" rIns="0" bIns="0" rtlCol="0" anchor="t"/>
          <a:lstStyle/>
          <a:p>
            <a:pPr indent="0" marL="0">
              <a:buNone/>
            </a:pPr>
            <a:r>
              <a:rPr lang="en-US" sz="1400" dirty="0">
                <a:solidFill>
                  <a:srgbClr val="CFE6FF"/>
                </a:solidFill>
              </a:rPr>
              <a:t>Pressão mínima de referência</a:t>
            </a:r>
            <a:endParaRPr lang="en-US" sz="1400" dirty="0"/>
          </a:p>
          <a:p>
            <a:pPr indent="0" marL="0">
              <a:buNone/>
            </a:pPr>
            <a:r>
              <a:rPr lang="en-US" sz="1400" dirty="0">
                <a:solidFill>
                  <a:srgbClr val="CFE6FF"/>
                </a:solidFill>
              </a:rPr>
              <a:t>nos pontos críticos</a:t>
            </a:r>
            <a:endParaRPr lang="en-US" sz="1400" dirty="0"/>
          </a:p>
        </p:txBody>
      </p:sp>
      <p:sp>
        <p:nvSpPr>
          <p:cNvPr id="11" name="Shape 7"/>
          <p:cNvSpPr/>
          <p:nvPr/>
        </p:nvSpPr>
        <p:spPr>
          <a:xfrm>
            <a:off x="640080" y="3474720"/>
            <a:ext cx="45720" cy="1463040"/>
          </a:xfrm>
          <a:prstGeom prst="rect">
            <a:avLst/>
          </a:prstGeom>
          <a:solidFill>
            <a:srgbClr val="38D4FF"/>
          </a:solidFill>
          <a:ln w="12700">
            <a:solidFill>
              <a:srgbClr val="38D4FF"/>
            </a:solidFill>
            <a:prstDash val="solid"/>
          </a:ln>
        </p:spPr>
      </p:sp>
      <p:sp>
        <p:nvSpPr>
          <p:cNvPr id="12" name="Text 8"/>
          <p:cNvSpPr txBox="1"/>
          <p:nvPr/>
        </p:nvSpPr>
        <p:spPr>
          <a:xfrm>
            <a:off x="868680" y="3474720"/>
            <a:ext cx="2743200" cy="1463040"/>
          </a:xfrm>
          <a:prstGeom prst="rect">
            <a:avLst/>
          </a:prstGeom>
          <a:noFill/>
          <a:ln/>
        </p:spPr>
        <p:txBody>
          <a:bodyPr wrap="square" lIns="0" tIns="0" rIns="0" bIns="0" rtlCol="0" anchor="ctr"/>
          <a:lstStyle/>
          <a:p>
            <a:pPr indent="0" marL="0">
              <a:spcAft>
                <a:spcPts val="600"/>
              </a:spcAft>
              <a:buNone/>
            </a:pPr>
            <a:r>
              <a:rPr lang="en-US" sz="2000" b="1" dirty="0">
                <a:solidFill>
                  <a:srgbClr val="FFFFFF"/>
                </a:solidFill>
              </a:rPr>
              <a:t>VRPs</a:t>
            </a:r>
            <a:endParaRPr lang="en-US" sz="2000" dirty="0"/>
          </a:p>
          <a:p>
            <a:pPr indent="0" marL="0">
              <a:spcAft>
                <a:spcPts val="600"/>
              </a:spcAft>
              <a:buNone/>
            </a:pPr>
            <a:r>
              <a:rPr lang="en-US" sz="2000" b="1" dirty="0">
                <a:solidFill>
                  <a:srgbClr val="FFFFFF"/>
                </a:solidFill>
              </a:rPr>
              <a:t>Boosters</a:t>
            </a:r>
            <a:endParaRPr lang="en-US" sz="2000" dirty="0"/>
          </a:p>
          <a:p>
            <a:pPr indent="0" marL="0">
              <a:spcAft>
                <a:spcPts val="600"/>
              </a:spcAft>
              <a:buNone/>
            </a:pPr>
            <a:r>
              <a:rPr lang="en-US" sz="2000" b="1" dirty="0">
                <a:solidFill>
                  <a:srgbClr val="FFFFFF"/>
                </a:solidFill>
              </a:rPr>
              <a:t>EEAs</a:t>
            </a:r>
            <a:endParaRPr lang="en-US" sz="2000" dirty="0"/>
          </a:p>
        </p:txBody>
      </p:sp>
      <p:sp>
        <p:nvSpPr>
          <p:cNvPr id="13" name="Text 9"/>
          <p:cNvSpPr txBox="1"/>
          <p:nvPr/>
        </p:nvSpPr>
        <p:spPr>
          <a:xfrm>
            <a:off x="4526280" y="1600200"/>
            <a:ext cx="7040880" cy="320040"/>
          </a:xfrm>
          <a:prstGeom prst="rect">
            <a:avLst/>
          </a:prstGeom>
          <a:noFill/>
          <a:ln/>
        </p:spPr>
        <p:txBody>
          <a:bodyPr wrap="square" lIns="0" tIns="0" rIns="0" bIns="0" rtlCol="0" anchor="ctr"/>
          <a:lstStyle/>
          <a:p>
            <a:pPr indent="0" marL="0">
              <a:buNone/>
            </a:pPr>
            <a:r>
              <a:rPr lang="en-US" sz="1300" dirty="0">
                <a:solidFill>
                  <a:srgbClr val="CFE6FF"/>
                </a:solidFill>
              </a:rPr>
              <a:t>Pressão operacional ao longo de 24 horas · esquema</a:t>
            </a:r>
            <a:endParaRPr lang="en-US" sz="1300" dirty="0"/>
          </a:p>
        </p:txBody>
      </p:sp>
      <p:pic>
        <p:nvPicPr>
          <p:cNvPr id="14" name="Image 2" descr="/tmp/claude-0/-home-user-norte-sul-portfolio/b828416d-028b-56b8-943d-a9bc67fc20c3/scratchpad/pptx_out/p_onda24.png">    </p:cNvPr>
          <p:cNvPicPr>
            <a:picLocks noChangeAspect="1"/>
          </p:cNvPicPr>
          <p:nvPr/>
        </p:nvPicPr>
        <p:blipFill>
          <a:blip r:embed="rId4"/>
          <a:stretch>
            <a:fillRect/>
          </a:stretch>
        </p:blipFill>
        <p:spPr>
          <a:xfrm>
            <a:off x="4526280" y="2011680"/>
            <a:ext cx="7040880" cy="2327071"/>
          </a:xfrm>
          <a:prstGeom prst="rect">
            <a:avLst/>
          </a:prstGeom>
        </p:spPr>
      </p:pic>
      <p:sp>
        <p:nvSpPr>
          <p:cNvPr id="15" name="Text 10"/>
          <p:cNvSpPr txBox="1"/>
          <p:nvPr/>
        </p:nvSpPr>
        <p:spPr>
          <a:xfrm>
            <a:off x="4669639" y="4384471"/>
            <a:ext cx="548640" cy="274320"/>
          </a:xfrm>
          <a:prstGeom prst="rect">
            <a:avLst/>
          </a:prstGeom>
          <a:noFill/>
          <a:ln/>
        </p:spPr>
        <p:txBody>
          <a:bodyPr wrap="square" lIns="0" tIns="0" rIns="0" bIns="0" rtlCol="0" anchor="ctr"/>
          <a:lstStyle/>
          <a:p>
            <a:pPr algn="ctr" indent="0" marL="0">
              <a:buNone/>
            </a:pPr>
            <a:r>
              <a:rPr lang="en-US" sz="1100" dirty="0">
                <a:solidFill>
                  <a:srgbClr val="CFE6FF"/>
                </a:solidFill>
              </a:rPr>
              <a:t>00h</a:t>
            </a:r>
            <a:endParaRPr lang="en-US" sz="1100" dirty="0"/>
          </a:p>
        </p:txBody>
      </p:sp>
      <p:sp>
        <p:nvSpPr>
          <p:cNvPr id="16" name="Text 11"/>
          <p:cNvSpPr txBox="1"/>
          <p:nvPr/>
        </p:nvSpPr>
        <p:spPr>
          <a:xfrm>
            <a:off x="6280688" y="4384471"/>
            <a:ext cx="548640" cy="274320"/>
          </a:xfrm>
          <a:prstGeom prst="rect">
            <a:avLst/>
          </a:prstGeom>
          <a:noFill/>
          <a:ln/>
        </p:spPr>
        <p:txBody>
          <a:bodyPr wrap="square" lIns="0" tIns="0" rIns="0" bIns="0" rtlCol="0" anchor="ctr"/>
          <a:lstStyle/>
          <a:p>
            <a:pPr algn="ctr" indent="0" marL="0">
              <a:buNone/>
            </a:pPr>
            <a:r>
              <a:rPr lang="en-US" sz="1100" dirty="0">
                <a:solidFill>
                  <a:srgbClr val="CFE6FF"/>
                </a:solidFill>
              </a:rPr>
              <a:t>06h</a:t>
            </a:r>
            <a:endParaRPr lang="en-US" sz="1100" dirty="0"/>
          </a:p>
        </p:txBody>
      </p:sp>
      <p:sp>
        <p:nvSpPr>
          <p:cNvPr id="17" name="Text 12"/>
          <p:cNvSpPr txBox="1"/>
          <p:nvPr/>
        </p:nvSpPr>
        <p:spPr>
          <a:xfrm>
            <a:off x="7891737" y="4384471"/>
            <a:ext cx="548640" cy="274320"/>
          </a:xfrm>
          <a:prstGeom prst="rect">
            <a:avLst/>
          </a:prstGeom>
          <a:noFill/>
          <a:ln/>
        </p:spPr>
        <p:txBody>
          <a:bodyPr wrap="square" lIns="0" tIns="0" rIns="0" bIns="0" rtlCol="0" anchor="ctr"/>
          <a:lstStyle/>
          <a:p>
            <a:pPr algn="ctr" indent="0" marL="0">
              <a:buNone/>
            </a:pPr>
            <a:r>
              <a:rPr lang="en-US" sz="1100" dirty="0">
                <a:solidFill>
                  <a:srgbClr val="CFE6FF"/>
                </a:solidFill>
              </a:rPr>
              <a:t>12h</a:t>
            </a:r>
            <a:endParaRPr lang="en-US" sz="1100" dirty="0"/>
          </a:p>
        </p:txBody>
      </p:sp>
      <p:sp>
        <p:nvSpPr>
          <p:cNvPr id="18" name="Text 13"/>
          <p:cNvSpPr txBox="1"/>
          <p:nvPr/>
        </p:nvSpPr>
        <p:spPr>
          <a:xfrm>
            <a:off x="9502786" y="4384471"/>
            <a:ext cx="548640" cy="274320"/>
          </a:xfrm>
          <a:prstGeom prst="rect">
            <a:avLst/>
          </a:prstGeom>
          <a:noFill/>
          <a:ln/>
        </p:spPr>
        <p:txBody>
          <a:bodyPr wrap="square" lIns="0" tIns="0" rIns="0" bIns="0" rtlCol="0" anchor="ctr"/>
          <a:lstStyle/>
          <a:p>
            <a:pPr algn="ctr" indent="0" marL="0">
              <a:buNone/>
            </a:pPr>
            <a:r>
              <a:rPr lang="en-US" sz="1100" dirty="0">
                <a:solidFill>
                  <a:srgbClr val="CFE6FF"/>
                </a:solidFill>
              </a:rPr>
              <a:t>18h</a:t>
            </a:r>
            <a:endParaRPr lang="en-US" sz="1100" dirty="0"/>
          </a:p>
        </p:txBody>
      </p:sp>
      <p:sp>
        <p:nvSpPr>
          <p:cNvPr id="19" name="Text 14"/>
          <p:cNvSpPr txBox="1"/>
          <p:nvPr/>
        </p:nvSpPr>
        <p:spPr>
          <a:xfrm>
            <a:off x="11113835" y="4384471"/>
            <a:ext cx="548640" cy="274320"/>
          </a:xfrm>
          <a:prstGeom prst="rect">
            <a:avLst/>
          </a:prstGeom>
          <a:noFill/>
          <a:ln/>
        </p:spPr>
        <p:txBody>
          <a:bodyPr wrap="square" lIns="0" tIns="0" rIns="0" bIns="0" rtlCol="0" anchor="ctr"/>
          <a:lstStyle/>
          <a:p>
            <a:pPr algn="ctr" indent="0" marL="0">
              <a:buNone/>
            </a:pPr>
            <a:r>
              <a:rPr lang="en-US" sz="1100" dirty="0">
                <a:solidFill>
                  <a:srgbClr val="CFE6FF"/>
                </a:solidFill>
              </a:rPr>
              <a:t>24h</a:t>
            </a:r>
            <a:endParaRPr lang="en-US" sz="1100" dirty="0"/>
          </a:p>
        </p:txBody>
      </p:sp>
      <p:sp>
        <p:nvSpPr>
          <p:cNvPr id="20" name="Text 15"/>
          <p:cNvSpPr txBox="1"/>
          <p:nvPr/>
        </p:nvSpPr>
        <p:spPr>
          <a:xfrm>
            <a:off x="4526280" y="4704511"/>
            <a:ext cx="7040880" cy="274320"/>
          </a:xfrm>
          <a:prstGeom prst="rect">
            <a:avLst/>
          </a:prstGeom>
          <a:noFill/>
          <a:ln/>
        </p:spPr>
        <p:txBody>
          <a:bodyPr wrap="square" lIns="0" tIns="0" rIns="0" bIns="0" rtlCol="0" anchor="ctr"/>
          <a:lstStyle/>
          <a:p>
            <a:pPr algn="r" indent="0" marL="0">
              <a:buNone/>
            </a:pPr>
            <a:r>
              <a:rPr lang="en-US" sz="1200" b="1" dirty="0">
                <a:solidFill>
                  <a:srgbClr val="38D4FF"/>
                </a:solidFill>
              </a:rPr>
              <a:t>10 mca · mínimo de referência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600" b="1" dirty="0">
                <a:solidFill>
                  <a:srgbClr val="FFFFFF"/>
                </a:solidFill>
              </a:rPr>
              <a:t>Fechar o ciclo</a:t>
            </a:r>
            <a:endParaRPr lang="en-US" sz="2600" dirty="0"/>
          </a:p>
          <a:p>
            <a:pPr indent="0" marL="0">
              <a:buNone/>
            </a:pPr>
            <a:r>
              <a:rPr lang="en-US" sz="2600" b="1" dirty="0">
                <a:solidFill>
                  <a:srgbClr val="FFFFFF"/>
                </a:solidFill>
              </a:rPr>
              <a:t>das perdas</a:t>
            </a:r>
            <a:endParaRPr lang="en-US" sz="26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FRENTE COMPLEMENTAR</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2"/>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3"/>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874520"/>
            <a:ext cx="5120640" cy="2926080"/>
          </a:xfrm>
          <a:prstGeom prst="roundRect">
            <a:avLst>
              <a:gd name="adj" fmla="val 3750"/>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0" name="Shape 6"/>
          <p:cNvSpPr/>
          <p:nvPr/>
        </p:nvSpPr>
        <p:spPr>
          <a:xfrm>
            <a:off x="749808" y="1874520"/>
            <a:ext cx="4901184" cy="45720"/>
          </a:xfrm>
          <a:prstGeom prst="rect">
            <a:avLst/>
          </a:prstGeom>
          <a:solidFill>
            <a:srgbClr val="38D4FF"/>
          </a:solidFill>
          <a:ln w="12700">
            <a:solidFill>
              <a:srgbClr val="38D4FF"/>
            </a:solidFill>
            <a:prstDash val="solid"/>
          </a:ln>
        </p:spPr>
      </p:sp>
      <p:sp>
        <p:nvSpPr>
          <p:cNvPr id="11" name="Text 7"/>
          <p:cNvSpPr txBox="1"/>
          <p:nvPr/>
        </p:nvSpPr>
        <p:spPr>
          <a:xfrm>
            <a:off x="868680" y="2103120"/>
            <a:ext cx="4663440" cy="457200"/>
          </a:xfrm>
          <a:prstGeom prst="rect">
            <a:avLst/>
          </a:prstGeom>
          <a:noFill/>
          <a:ln/>
        </p:spPr>
        <p:txBody>
          <a:bodyPr wrap="square" lIns="0" tIns="0" rIns="0" bIns="0" rtlCol="0" anchor="ctr"/>
          <a:lstStyle/>
          <a:p>
            <a:pPr indent="0" marL="0">
              <a:buNone/>
            </a:pPr>
            <a:r>
              <a:rPr lang="en-US" sz="1200" b="1" dirty="0">
                <a:solidFill>
                  <a:srgbClr val="38D4FF"/>
                </a:solidFill>
              </a:rPr>
              <a:t>FRENTES 01 A 03</a:t>
            </a:r>
            <a:endParaRPr lang="en-US" sz="1200" dirty="0"/>
          </a:p>
        </p:txBody>
      </p:sp>
      <p:sp>
        <p:nvSpPr>
          <p:cNvPr id="12" name="Text 8"/>
          <p:cNvSpPr txBox="1"/>
          <p:nvPr/>
        </p:nvSpPr>
        <p:spPr>
          <a:xfrm>
            <a:off x="868680" y="2606040"/>
            <a:ext cx="4663440" cy="411480"/>
          </a:xfrm>
          <a:prstGeom prst="rect">
            <a:avLst/>
          </a:prstGeom>
          <a:noFill/>
          <a:ln/>
        </p:spPr>
        <p:txBody>
          <a:bodyPr wrap="square" lIns="0" tIns="0" rIns="0" bIns="0" rtlCol="0" anchor="t"/>
          <a:lstStyle/>
          <a:p>
            <a:pPr indent="0" marL="0">
              <a:buNone/>
            </a:pPr>
            <a:r>
              <a:rPr lang="en-US" sz="1800" b="1" dirty="0">
                <a:solidFill>
                  <a:srgbClr val="0A3377"/>
                </a:solidFill>
              </a:rPr>
              <a:t>Perdas reais</a:t>
            </a:r>
            <a:endParaRPr lang="en-US" sz="1800" dirty="0"/>
          </a:p>
        </p:txBody>
      </p:sp>
      <p:sp>
        <p:nvSpPr>
          <p:cNvPr id="13" name="Text 9"/>
          <p:cNvSpPr txBox="1"/>
          <p:nvPr/>
        </p:nvSpPr>
        <p:spPr>
          <a:xfrm>
            <a:off x="868680" y="3063240"/>
            <a:ext cx="4663440" cy="155448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5B6B88"/>
                </a:solidFill>
              </a:rPr>
              <a:t>Diagnóstico</a:t>
            </a:r>
            <a:endParaRPr lang="en-US" sz="1400" dirty="0"/>
          </a:p>
          <a:p>
            <a:pPr marL="152400" indent="-152400">
              <a:spcAft>
                <a:spcPts val="400"/>
              </a:spcAft>
              <a:buSzPct val="100000"/>
              <a:buChar char="•"/>
            </a:pPr>
            <a:r>
              <a:rPr lang="en-US" sz="1400" dirty="0">
                <a:solidFill>
                  <a:srgbClr val="5B6B88"/>
                </a:solidFill>
              </a:rPr>
              <a:t>Intervenção na rede</a:t>
            </a:r>
            <a:endParaRPr lang="en-US" sz="1400" dirty="0"/>
          </a:p>
          <a:p>
            <a:pPr marL="152400" indent="-152400">
              <a:spcAft>
                <a:spcPts val="400"/>
              </a:spcAft>
              <a:buSzPct val="100000"/>
              <a:buChar char="•"/>
            </a:pPr>
            <a:r>
              <a:rPr lang="en-US" sz="1400" dirty="0">
                <a:solidFill>
                  <a:srgbClr val="5B6B88"/>
                </a:solidFill>
              </a:rPr>
              <a:t>Operação coordenada</a:t>
            </a:r>
            <a:endParaRPr lang="en-US" sz="1400" dirty="0"/>
          </a:p>
        </p:txBody>
      </p:sp>
      <p:sp>
        <p:nvSpPr>
          <p:cNvPr id="14" name="Shape 10"/>
          <p:cNvSpPr/>
          <p:nvPr/>
        </p:nvSpPr>
        <p:spPr>
          <a:xfrm>
            <a:off x="6446520" y="1874520"/>
            <a:ext cx="5120640" cy="2926080"/>
          </a:xfrm>
          <a:prstGeom prst="roundRect">
            <a:avLst>
              <a:gd name="adj" fmla="val 3750"/>
            </a:avLst>
          </a:prstGeom>
          <a:solidFill>
            <a:srgbClr val="FFFFFF"/>
          </a:solidFill>
          <a:ln w="9525">
            <a:solidFill>
              <a:srgbClr val="C9D6EA"/>
            </a:solidFill>
            <a:prstDash val="solid"/>
          </a:ln>
          <a:effectLst>
            <a:outerShdw sx="100000" sy="100000" kx="0" ky="0" algn="bl" rotWithShape="0" blurRad="76200" dist="12700" dir="5400000">
              <a:srgbClr val="0A3377">
                <a:alpha val="8000"/>
              </a:srgbClr>
            </a:outerShdw>
          </a:effectLst>
        </p:spPr>
      </p:sp>
      <p:sp>
        <p:nvSpPr>
          <p:cNvPr id="15" name="Shape 11"/>
          <p:cNvSpPr/>
          <p:nvPr/>
        </p:nvSpPr>
        <p:spPr>
          <a:xfrm>
            <a:off x="6556248" y="1874520"/>
            <a:ext cx="4901184" cy="45720"/>
          </a:xfrm>
          <a:prstGeom prst="rect">
            <a:avLst/>
          </a:prstGeom>
          <a:solidFill>
            <a:srgbClr val="38D4FF"/>
          </a:solidFill>
          <a:ln w="12700">
            <a:solidFill>
              <a:srgbClr val="38D4FF"/>
            </a:solidFill>
            <a:prstDash val="solid"/>
          </a:ln>
        </p:spPr>
      </p:sp>
      <p:sp>
        <p:nvSpPr>
          <p:cNvPr id="16" name="Text 12"/>
          <p:cNvSpPr txBox="1"/>
          <p:nvPr/>
        </p:nvSpPr>
        <p:spPr>
          <a:xfrm>
            <a:off x="6675120" y="2103120"/>
            <a:ext cx="4663440" cy="457200"/>
          </a:xfrm>
          <a:prstGeom prst="rect">
            <a:avLst/>
          </a:prstGeom>
          <a:noFill/>
          <a:ln/>
        </p:spPr>
        <p:txBody>
          <a:bodyPr wrap="square" lIns="0" tIns="0" rIns="0" bIns="0" rtlCol="0" anchor="ctr"/>
          <a:lstStyle/>
          <a:p>
            <a:pPr indent="0" marL="0">
              <a:buNone/>
            </a:pPr>
            <a:r>
              <a:rPr lang="en-US" sz="1200" b="1" dirty="0">
                <a:solidFill>
                  <a:srgbClr val="38D4FF"/>
                </a:solidFill>
              </a:rPr>
              <a:t>FRENTE 04</a:t>
            </a:r>
            <a:endParaRPr lang="en-US" sz="1200" dirty="0"/>
          </a:p>
        </p:txBody>
      </p:sp>
      <p:sp>
        <p:nvSpPr>
          <p:cNvPr id="17" name="Text 13"/>
          <p:cNvSpPr txBox="1"/>
          <p:nvPr/>
        </p:nvSpPr>
        <p:spPr>
          <a:xfrm>
            <a:off x="6675120" y="2606040"/>
            <a:ext cx="4663440" cy="411480"/>
          </a:xfrm>
          <a:prstGeom prst="rect">
            <a:avLst/>
          </a:prstGeom>
          <a:noFill/>
          <a:ln/>
        </p:spPr>
        <p:txBody>
          <a:bodyPr wrap="square" lIns="0" tIns="0" rIns="0" bIns="0" rtlCol="0" anchor="t"/>
          <a:lstStyle/>
          <a:p>
            <a:pPr indent="0" marL="0">
              <a:buNone/>
            </a:pPr>
            <a:r>
              <a:rPr lang="en-US" sz="1800" b="1" dirty="0">
                <a:solidFill>
                  <a:srgbClr val="0A3377"/>
                </a:solidFill>
              </a:rPr>
              <a:t>Perdas aparentes</a:t>
            </a:r>
            <a:endParaRPr lang="en-US" sz="1800" dirty="0"/>
          </a:p>
        </p:txBody>
      </p:sp>
      <p:sp>
        <p:nvSpPr>
          <p:cNvPr id="18" name="Text 14"/>
          <p:cNvSpPr txBox="1"/>
          <p:nvPr/>
        </p:nvSpPr>
        <p:spPr>
          <a:xfrm>
            <a:off x="6675120" y="3063240"/>
            <a:ext cx="4663440" cy="1554480"/>
          </a:xfrm>
          <a:prstGeom prst="rect">
            <a:avLst/>
          </a:prstGeom>
          <a:noFill/>
          <a:ln/>
        </p:spPr>
        <p:txBody>
          <a:bodyPr wrap="square" lIns="0" tIns="0" rIns="0" bIns="0" rtlCol="0" anchor="t"/>
          <a:lstStyle/>
          <a:p>
            <a:pPr marL="152400" indent="-152400">
              <a:spcAft>
                <a:spcPts val="400"/>
              </a:spcAft>
              <a:buSzPct val="100000"/>
              <a:buChar char="•"/>
            </a:pPr>
            <a:r>
              <a:rPr lang="en-US" sz="1400" dirty="0">
                <a:solidFill>
                  <a:srgbClr val="5B6B88"/>
                </a:solidFill>
              </a:rPr>
              <a:t>Renovação e adequação do parque de hidrômetros</a:t>
            </a:r>
            <a:endParaRPr lang="en-US" sz="1400" dirty="0"/>
          </a:p>
          <a:p>
            <a:pPr marL="152400" indent="-152400">
              <a:spcAft>
                <a:spcPts val="400"/>
              </a:spcAft>
              <a:buSzPct val="100000"/>
              <a:buChar char="•"/>
            </a:pPr>
            <a:r>
              <a:rPr lang="en-US" sz="1400" dirty="0">
                <a:solidFill>
                  <a:srgbClr val="5B6B88"/>
                </a:solidFill>
              </a:rPr>
              <a:t>Combate a fraudes</a:t>
            </a:r>
            <a:endParaRPr lang="en-US" sz="1400" dirty="0"/>
          </a:p>
          <a:p>
            <a:pPr marL="152400" indent="-152400">
              <a:spcAft>
                <a:spcPts val="400"/>
              </a:spcAft>
              <a:buSzPct val="100000"/>
              <a:buChar char="•"/>
            </a:pPr>
            <a:r>
              <a:rPr lang="en-US" sz="1400" dirty="0">
                <a:solidFill>
                  <a:srgbClr val="5B6B88"/>
                </a:solidFill>
              </a:rPr>
              <a:t>Ressupressão de inativos com consumo</a:t>
            </a:r>
            <a:endParaRPr lang="en-US" sz="1400" dirty="0"/>
          </a:p>
        </p:txBody>
      </p:sp>
      <p:sp>
        <p:nvSpPr>
          <p:cNvPr id="19" name="Shape 15"/>
          <p:cNvSpPr/>
          <p:nvPr/>
        </p:nvSpPr>
        <p:spPr>
          <a:xfrm>
            <a:off x="5788152" y="3017520"/>
            <a:ext cx="640080" cy="640080"/>
          </a:xfrm>
          <a:prstGeom prst="ellipse">
            <a:avLst/>
          </a:prstGeom>
          <a:solidFill>
            <a:srgbClr val="38D4FF"/>
          </a:solidFill>
          <a:ln w="12700">
            <a:solidFill>
              <a:srgbClr val="38D4FF"/>
            </a:solidFill>
            <a:prstDash val="solid"/>
          </a:ln>
        </p:spPr>
      </p:sp>
      <p:sp>
        <p:nvSpPr>
          <p:cNvPr id="20" name="Text 16"/>
          <p:cNvSpPr txBox="1"/>
          <p:nvPr/>
        </p:nvSpPr>
        <p:spPr>
          <a:xfrm>
            <a:off x="5788152" y="3017520"/>
            <a:ext cx="640080" cy="640080"/>
          </a:xfrm>
          <a:prstGeom prst="rect">
            <a:avLst/>
          </a:prstGeom>
          <a:noFill/>
          <a:ln/>
        </p:spPr>
        <p:txBody>
          <a:bodyPr wrap="square" lIns="0" tIns="0" rIns="0" bIns="0" rtlCol="0" anchor="ctr"/>
          <a:lstStyle/>
          <a:p>
            <a:pPr algn="ctr" indent="0" marL="0">
              <a:buNone/>
            </a:pPr>
            <a:r>
              <a:rPr lang="en-US" sz="2600" b="1" dirty="0">
                <a:solidFill>
                  <a:srgbClr val="0A3377"/>
                </a:solidFill>
              </a:rPr>
              <a:t>+</a:t>
            </a:r>
            <a:endParaRPr lang="en-US" sz="2600" dirty="0"/>
          </a:p>
        </p:txBody>
      </p:sp>
      <p:sp>
        <p:nvSpPr>
          <p:cNvPr id="21" name="Shape 17"/>
          <p:cNvSpPr/>
          <p:nvPr/>
        </p:nvSpPr>
        <p:spPr>
          <a:xfrm>
            <a:off x="640080" y="5074920"/>
            <a:ext cx="10927080" cy="777240"/>
          </a:xfrm>
          <a:prstGeom prst="roundRect">
            <a:avLst>
              <a:gd name="adj" fmla="val 11765"/>
            </a:avLst>
          </a:prstGeom>
          <a:solidFill>
            <a:srgbClr val="0E3F8C"/>
          </a:solidFill>
          <a:ln w="12700">
            <a:solidFill>
              <a:srgbClr val="0E3F8C"/>
            </a:solidFill>
            <a:prstDash val="solid"/>
          </a:ln>
        </p:spPr>
      </p:sp>
      <p:sp>
        <p:nvSpPr>
          <p:cNvPr id="22" name="Text 18"/>
          <p:cNvSpPr txBox="1"/>
          <p:nvPr/>
        </p:nvSpPr>
        <p:spPr>
          <a:xfrm>
            <a:off x="914400" y="5074920"/>
            <a:ext cx="10424160" cy="777240"/>
          </a:xfrm>
          <a:prstGeom prst="rect">
            <a:avLst/>
          </a:prstGeom>
          <a:noFill/>
          <a:ln/>
        </p:spPr>
        <p:txBody>
          <a:bodyPr wrap="square" lIns="0" tIns="0" rIns="0" bIns="0" rtlCol="0" anchor="ctr"/>
          <a:lstStyle/>
          <a:p>
            <a:pPr indent="0" marL="0">
              <a:buNone/>
            </a:pPr>
            <a:r>
              <a:rPr lang="en-US" sz="1600" b="1" dirty="0">
                <a:solidFill>
                  <a:srgbClr val="FFFFFF"/>
                </a:solidFill>
              </a:rPr>
              <a:t>Soluções integradas = perdas reais + perdas aparentes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600" b="1" dirty="0">
                <a:solidFill>
                  <a:srgbClr val="FFFFFF"/>
                </a:solidFill>
              </a:rPr>
              <a:t>Um ciclo contínuo</a:t>
            </a:r>
            <a:endParaRPr lang="en-US" sz="2600" dirty="0"/>
          </a:p>
          <a:p>
            <a:pPr indent="0" marL="0">
              <a:buNone/>
            </a:pPr>
            <a:r>
              <a:rPr lang="en-US" sz="2600" b="1" dirty="0">
                <a:solidFill>
                  <a:srgbClr val="FFFFFF"/>
                </a:solidFill>
              </a:rPr>
              <a:t>de melhoria</a:t>
            </a:r>
            <a:endParaRPr lang="en-US" sz="26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CADEIA DE VALOR INTEGRADA</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2"/>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3"/>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pic>
        <p:nvPicPr>
          <p:cNvPr id="9" name="Image 2" descr="/tmp/claude-0/-home-user-norte-sul-portfolio/b828416d-028b-56b8-943d-a9bc67fc20c3/scratchpad/pptx_out/p_ciclo.png">    </p:cNvPr>
          <p:cNvPicPr>
            <a:picLocks noChangeAspect="1"/>
          </p:cNvPicPr>
          <p:nvPr/>
        </p:nvPicPr>
        <p:blipFill>
          <a:blip r:embed="rId4"/>
          <a:stretch>
            <a:fillRect/>
          </a:stretch>
        </p:blipFill>
        <p:spPr>
          <a:xfrm>
            <a:off x="5394960" y="1325880"/>
            <a:ext cx="5852160" cy="4389120"/>
          </a:xfrm>
          <a:prstGeom prst="rect">
            <a:avLst/>
          </a:prstGeom>
        </p:spPr>
      </p:pic>
      <p:sp>
        <p:nvSpPr>
          <p:cNvPr id="10" name="Text 5"/>
          <p:cNvSpPr txBox="1"/>
          <p:nvPr/>
        </p:nvSpPr>
        <p:spPr>
          <a:xfrm>
            <a:off x="6998237" y="1325880"/>
            <a:ext cx="2651760" cy="868680"/>
          </a:xfrm>
          <a:prstGeom prst="rect">
            <a:avLst/>
          </a:prstGeom>
          <a:noFill/>
          <a:ln/>
        </p:spPr>
        <p:txBody>
          <a:bodyPr wrap="square" lIns="0" tIns="0" rIns="0" bIns="0" rtlCol="0" anchor="t"/>
          <a:lstStyle/>
          <a:p>
            <a:pPr algn="ctr" indent="0" marL="0">
              <a:buNone/>
            </a:pPr>
            <a:r>
              <a:rPr lang="en-US" sz="1200" b="1" dirty="0">
                <a:solidFill>
                  <a:srgbClr val="38D4FF"/>
                </a:solidFill>
              </a:rPr>
              <a:t>01</a:t>
            </a:r>
            <a:endParaRPr lang="en-US" sz="1200" dirty="0"/>
          </a:p>
          <a:p>
            <a:pPr algn="ctr" indent="0" marL="0">
              <a:buNone/>
            </a:pPr>
            <a:r>
              <a:rPr lang="en-US" sz="1700" b="1" dirty="0">
                <a:solidFill>
                  <a:srgbClr val="FFFFFF"/>
                </a:solidFill>
              </a:rPr>
              <a:t>Modelar</a:t>
            </a:r>
            <a:endParaRPr lang="en-US" sz="1200" dirty="0"/>
          </a:p>
          <a:p>
            <a:pPr algn="ctr" indent="0" marL="0">
              <a:buNone/>
            </a:pPr>
            <a:r>
              <a:rPr lang="en-US" sz="1200" dirty="0">
                <a:solidFill>
                  <a:srgbClr val="CFE6FF"/>
                </a:solidFill>
              </a:rPr>
              <a:t>diagnóstico</a:t>
            </a:r>
            <a:endParaRPr lang="en-US" sz="1200" dirty="0"/>
          </a:p>
        </p:txBody>
      </p:sp>
      <p:sp>
        <p:nvSpPr>
          <p:cNvPr id="11" name="Text 6"/>
          <p:cNvSpPr txBox="1"/>
          <p:nvPr/>
        </p:nvSpPr>
        <p:spPr>
          <a:xfrm>
            <a:off x="9040540" y="3616652"/>
            <a:ext cx="2651760" cy="868680"/>
          </a:xfrm>
          <a:prstGeom prst="rect">
            <a:avLst/>
          </a:prstGeom>
          <a:noFill/>
          <a:ln/>
        </p:spPr>
        <p:txBody>
          <a:bodyPr wrap="square" lIns="0" tIns="0" rIns="0" bIns="0" rtlCol="0" anchor="t"/>
          <a:lstStyle/>
          <a:p>
            <a:pPr algn="ctr" indent="0" marL="0">
              <a:buNone/>
            </a:pPr>
            <a:r>
              <a:rPr lang="en-US" sz="1200" b="1" dirty="0">
                <a:solidFill>
                  <a:srgbClr val="38D4FF"/>
                </a:solidFill>
              </a:rPr>
              <a:t>02</a:t>
            </a:r>
            <a:endParaRPr lang="en-US" sz="1200" dirty="0"/>
          </a:p>
          <a:p>
            <a:pPr algn="ctr" indent="0" marL="0">
              <a:buNone/>
            </a:pPr>
            <a:r>
              <a:rPr lang="en-US" sz="1700" b="1" dirty="0">
                <a:solidFill>
                  <a:srgbClr val="FFFFFF"/>
                </a:solidFill>
              </a:rPr>
              <a:t>Substituir</a:t>
            </a:r>
            <a:endParaRPr lang="en-US" sz="1200" dirty="0"/>
          </a:p>
          <a:p>
            <a:pPr algn="ctr" indent="0" marL="0">
              <a:buNone/>
            </a:pPr>
            <a:r>
              <a:rPr lang="en-US" sz="1200" dirty="0">
                <a:solidFill>
                  <a:srgbClr val="CFE6FF"/>
                </a:solidFill>
              </a:rPr>
              <a:t>intervenção</a:t>
            </a:r>
            <a:endParaRPr lang="en-US" sz="1200" dirty="0"/>
          </a:p>
        </p:txBody>
      </p:sp>
      <p:sp>
        <p:nvSpPr>
          <p:cNvPr id="12" name="Text 7"/>
          <p:cNvSpPr txBox="1"/>
          <p:nvPr/>
        </p:nvSpPr>
        <p:spPr>
          <a:xfrm>
            <a:off x="5093308" y="3616652"/>
            <a:ext cx="2651760" cy="868680"/>
          </a:xfrm>
          <a:prstGeom prst="rect">
            <a:avLst/>
          </a:prstGeom>
          <a:noFill/>
          <a:ln/>
        </p:spPr>
        <p:txBody>
          <a:bodyPr wrap="square" lIns="0" tIns="0" rIns="0" bIns="0" rtlCol="0" anchor="t"/>
          <a:lstStyle/>
          <a:p>
            <a:pPr algn="ctr" indent="0" marL="0">
              <a:buNone/>
            </a:pPr>
            <a:r>
              <a:rPr lang="en-US" sz="1200" b="1" dirty="0">
                <a:solidFill>
                  <a:srgbClr val="38D4FF"/>
                </a:solidFill>
              </a:rPr>
              <a:t>03</a:t>
            </a:r>
            <a:endParaRPr lang="en-US" sz="1200" dirty="0"/>
          </a:p>
          <a:p>
            <a:pPr algn="ctr" indent="0" marL="0">
              <a:buNone/>
            </a:pPr>
            <a:r>
              <a:rPr lang="en-US" sz="1700" b="1" dirty="0">
                <a:solidFill>
                  <a:srgbClr val="FFFFFF"/>
                </a:solidFill>
              </a:rPr>
              <a:t>Automatizar</a:t>
            </a:r>
            <a:endParaRPr lang="en-US" sz="1200" dirty="0"/>
          </a:p>
          <a:p>
            <a:pPr algn="ctr" indent="0" marL="0">
              <a:buNone/>
            </a:pPr>
            <a:r>
              <a:rPr lang="en-US" sz="1200" dirty="0">
                <a:solidFill>
                  <a:srgbClr val="CFE6FF"/>
                </a:solidFill>
              </a:rPr>
              <a:t>operação coordenada</a:t>
            </a:r>
            <a:endParaRPr lang="en-US" sz="1200" dirty="0"/>
          </a:p>
        </p:txBody>
      </p:sp>
      <p:sp>
        <p:nvSpPr>
          <p:cNvPr id="13" name="Text 8"/>
          <p:cNvSpPr txBox="1"/>
          <p:nvPr/>
        </p:nvSpPr>
        <p:spPr>
          <a:xfrm>
            <a:off x="6998237" y="3076030"/>
            <a:ext cx="2651760" cy="731520"/>
          </a:xfrm>
          <a:prstGeom prst="rect">
            <a:avLst/>
          </a:prstGeom>
          <a:noFill/>
          <a:ln/>
        </p:spPr>
        <p:txBody>
          <a:bodyPr wrap="square" lIns="0" tIns="0" rIns="0" bIns="0" rtlCol="0" anchor="ctr"/>
          <a:lstStyle/>
          <a:p>
            <a:pPr algn="ctr" indent="0" marL="0">
              <a:buNone/>
            </a:pPr>
            <a:r>
              <a:rPr lang="en-US" sz="2200" b="1" dirty="0">
                <a:solidFill>
                  <a:srgbClr val="38D4FF"/>
                </a:solidFill>
              </a:rPr>
              <a:t>Reduzir</a:t>
            </a:r>
            <a:endParaRPr lang="en-US" sz="2200" dirty="0"/>
          </a:p>
          <a:p>
            <a:pPr algn="ctr" indent="0" marL="0">
              <a:buNone/>
            </a:pPr>
            <a:r>
              <a:rPr lang="en-US" sz="2200" b="1" dirty="0">
                <a:solidFill>
                  <a:srgbClr val="38D4FF"/>
                </a:solidFill>
              </a:rPr>
              <a:t>perdas</a:t>
            </a:r>
            <a:endParaRPr lang="en-US" sz="2200" dirty="0"/>
          </a:p>
        </p:txBody>
      </p:sp>
      <p:sp>
        <p:nvSpPr>
          <p:cNvPr id="14" name="Shape 9"/>
          <p:cNvSpPr/>
          <p:nvPr/>
        </p:nvSpPr>
        <p:spPr>
          <a:xfrm>
            <a:off x="640080" y="4937760"/>
            <a:ext cx="54864" cy="457200"/>
          </a:xfrm>
          <a:prstGeom prst="rect">
            <a:avLst/>
          </a:prstGeom>
          <a:solidFill>
            <a:srgbClr val="38D4FF"/>
          </a:solidFill>
          <a:ln w="12700">
            <a:solidFill>
              <a:srgbClr val="38D4FF"/>
            </a:solidFill>
            <a:prstDash val="solid"/>
          </a:ln>
        </p:spPr>
      </p:sp>
      <p:sp>
        <p:nvSpPr>
          <p:cNvPr id="15" name="Text 10"/>
          <p:cNvSpPr txBox="1"/>
          <p:nvPr/>
        </p:nvSpPr>
        <p:spPr>
          <a:xfrm>
            <a:off x="822960" y="4937760"/>
            <a:ext cx="4389120" cy="457200"/>
          </a:xfrm>
          <a:prstGeom prst="rect">
            <a:avLst/>
          </a:prstGeom>
          <a:noFill/>
          <a:ln/>
        </p:spPr>
        <p:txBody>
          <a:bodyPr wrap="square" lIns="0" tIns="0" rIns="0" bIns="0" rtlCol="0" anchor="ctr"/>
          <a:lstStyle/>
          <a:p>
            <a:pPr indent="0" marL="0">
              <a:buNone/>
            </a:pPr>
            <a:r>
              <a:rPr lang="en-US" sz="1200" b="1" dirty="0">
                <a:solidFill>
                  <a:srgbClr val="FFFFFF"/>
                </a:solidFill>
              </a:rPr>
              <a:t>Diagnóstico, intervenção e operação se retroalimentam.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8D4FF"/>
        </a:solidFill>
      </p:bgPr>
    </p:bg>
    <p:spTree>
      <p:nvGrpSpPr>
        <p:cNvPr id="1" name=""/>
        <p:cNvGrpSpPr/>
        <p:nvPr/>
      </p:nvGrpSpPr>
      <p:grpSpPr>
        <a:xfrm>
          <a:off x="0" y="0"/>
          <a:ext cx="0" cy="0"/>
          <a:chOff x="0" y="0"/>
          <a:chExt cx="0" cy="0"/>
        </a:xfrm>
      </p:grpSpPr>
      <p:sp>
        <p:nvSpPr>
          <p:cNvPr id="2" name="Text 0"/>
          <p:cNvSpPr txBox="1"/>
          <p:nvPr/>
        </p:nvSpPr>
        <p:spPr>
          <a:xfrm>
            <a:off x="640080" y="1097280"/>
            <a:ext cx="6400800" cy="320040"/>
          </a:xfrm>
          <a:prstGeom prst="rect">
            <a:avLst/>
          </a:prstGeom>
          <a:noFill/>
          <a:ln/>
        </p:spPr>
        <p:txBody>
          <a:bodyPr wrap="square" lIns="0" tIns="0" rIns="0" bIns="0" rtlCol="0" anchor="ctr"/>
          <a:lstStyle/>
          <a:p>
            <a:pPr indent="0" marL="0">
              <a:buNone/>
            </a:pPr>
            <a:r>
              <a:rPr lang="en-US" sz="1100" b="1" spc="200" kern="0" dirty="0">
                <a:solidFill>
                  <a:srgbClr val="0A3377"/>
                </a:solidFill>
              </a:rPr>
              <a:t>NORTESUL HIDROTECNOLOGIA E COMÉRCIO LTDA</a:t>
            </a:r>
            <a:endParaRPr lang="en-US" sz="1100" dirty="0"/>
          </a:p>
        </p:txBody>
      </p:sp>
      <p:sp>
        <p:nvSpPr>
          <p:cNvPr id="3" name="Text 1"/>
          <p:cNvSpPr txBox="1"/>
          <p:nvPr/>
        </p:nvSpPr>
        <p:spPr>
          <a:xfrm>
            <a:off x="640080" y="1508760"/>
            <a:ext cx="6400800" cy="1737360"/>
          </a:xfrm>
          <a:prstGeom prst="rect">
            <a:avLst/>
          </a:prstGeom>
          <a:noFill/>
          <a:ln/>
        </p:spPr>
        <p:txBody>
          <a:bodyPr wrap="square" lIns="0" tIns="0" rIns="0" bIns="0" rtlCol="0" anchor="t"/>
          <a:lstStyle/>
          <a:p>
            <a:pPr indent="0" marL="0">
              <a:buNone/>
            </a:pPr>
            <a:r>
              <a:rPr lang="en-US" sz="4600" b="1" dirty="0">
                <a:solidFill>
                  <a:srgbClr val="0A3377"/>
                </a:solidFill>
              </a:rPr>
              <a:t>Converse com</a:t>
            </a:r>
            <a:endParaRPr lang="en-US" sz="4600" dirty="0"/>
          </a:p>
          <a:p>
            <a:pPr indent="0" marL="0">
              <a:buNone/>
            </a:pPr>
            <a:r>
              <a:rPr lang="en-US" sz="4600" b="1" dirty="0">
                <a:solidFill>
                  <a:srgbClr val="0A3377"/>
                </a:solidFill>
              </a:rPr>
              <a:t>nossa equipe</a:t>
            </a:r>
            <a:endParaRPr lang="en-US" sz="4600" dirty="0"/>
          </a:p>
        </p:txBody>
      </p:sp>
      <p:sp>
        <p:nvSpPr>
          <p:cNvPr id="4" name="Text 2"/>
          <p:cNvSpPr txBox="1"/>
          <p:nvPr/>
        </p:nvSpPr>
        <p:spPr>
          <a:xfrm>
            <a:off x="640080" y="3429000"/>
            <a:ext cx="6400800" cy="365760"/>
          </a:xfrm>
          <a:prstGeom prst="rect">
            <a:avLst/>
          </a:prstGeom>
          <a:noFill/>
          <a:ln/>
        </p:spPr>
        <p:txBody>
          <a:bodyPr wrap="square" lIns="0" tIns="0" rIns="0" bIns="0" rtlCol="0" anchor="ctr"/>
          <a:lstStyle/>
          <a:p>
            <a:pPr indent="0" marL="0">
              <a:buNone/>
            </a:pPr>
            <a:r>
              <a:rPr lang="en-US" sz="1600" dirty="0">
                <a:solidFill>
                  <a:srgbClr val="0A3377"/>
                </a:solidFill>
              </a:rPr>
              <a:t>Visite o estande da NorteSul na FENASAN.</a:t>
            </a:r>
            <a:endParaRPr lang="en-US" sz="1600" dirty="0"/>
          </a:p>
        </p:txBody>
      </p:sp>
      <p:sp>
        <p:nvSpPr>
          <p:cNvPr id="5" name="Shape 3"/>
          <p:cNvSpPr/>
          <p:nvPr/>
        </p:nvSpPr>
        <p:spPr>
          <a:xfrm>
            <a:off x="640080" y="4023360"/>
            <a:ext cx="2651760" cy="457200"/>
          </a:xfrm>
          <a:prstGeom prst="rect">
            <a:avLst/>
          </a:prstGeom>
          <a:ln w="15875">
            <a:solidFill>
              <a:srgbClr val="0A3377"/>
            </a:solidFill>
            <a:prstDash val="solid"/>
          </a:ln>
        </p:spPr>
      </p:sp>
      <p:sp>
        <p:nvSpPr>
          <p:cNvPr id="6" name="Text 4"/>
          <p:cNvSpPr txBox="1"/>
          <p:nvPr/>
        </p:nvSpPr>
        <p:spPr>
          <a:xfrm>
            <a:off x="640080" y="4023360"/>
            <a:ext cx="2651760" cy="457200"/>
          </a:xfrm>
          <a:prstGeom prst="rect">
            <a:avLst/>
          </a:prstGeom>
          <a:noFill/>
          <a:ln/>
        </p:spPr>
        <p:txBody>
          <a:bodyPr wrap="square" lIns="0" tIns="0" rIns="0" bIns="0" rtlCol="0" anchor="ctr"/>
          <a:lstStyle/>
          <a:p>
            <a:pPr algn="ctr" indent="0" marL="0">
              <a:buNone/>
            </a:pPr>
            <a:r>
              <a:rPr lang="en-US" sz="1300" b="1" dirty="0">
                <a:solidFill>
                  <a:srgbClr val="0A3377"/>
                </a:solidFill>
              </a:rPr>
              <a:t>Da rede ao ponto crítico</a:t>
            </a:r>
            <a:endParaRPr lang="en-US" sz="1300" dirty="0"/>
          </a:p>
        </p:txBody>
      </p:sp>
      <p:pic>
        <p:nvPicPr>
          <p:cNvPr id="7" name="Image 0" descr="/tmp/claude-0/-home-user-norte-sul-portfolio/b828416d-028b-56b8-943d-a9bc67fc20c3/scratchpad/pptx_out/caminhao_navy.png">    </p:cNvPr>
          <p:cNvPicPr>
            <a:picLocks noChangeAspect="1"/>
          </p:cNvPicPr>
          <p:nvPr/>
        </p:nvPicPr>
        <p:blipFill>
          <a:blip r:embed="rId1"/>
          <a:stretch>
            <a:fillRect/>
          </a:stretch>
        </p:blipFill>
        <p:spPr>
          <a:xfrm>
            <a:off x="6613855" y="1666466"/>
            <a:ext cx="4937760" cy="2793548"/>
          </a:xfrm>
          <a:prstGeom prst="rect">
            <a:avLst/>
          </a:prstGeom>
        </p:spPr>
      </p:pic>
      <p:sp>
        <p:nvSpPr>
          <p:cNvPr id="8" name="Shape 5"/>
          <p:cNvSpPr/>
          <p:nvPr/>
        </p:nvSpPr>
        <p:spPr>
          <a:xfrm>
            <a:off x="640080" y="5532120"/>
            <a:ext cx="10927080" cy="0"/>
          </a:xfrm>
          <a:prstGeom prst="line">
            <a:avLst/>
          </a:prstGeom>
          <a:noFill/>
          <a:ln w="9525">
            <a:solidFill>
              <a:srgbClr val="0A3377"/>
            </a:solidFill>
            <a:prstDash val="solid"/>
          </a:ln>
        </p:spPr>
      </p:sp>
      <p:sp>
        <p:nvSpPr>
          <p:cNvPr id="9" name="Text 6"/>
          <p:cNvSpPr txBox="1"/>
          <p:nvPr/>
        </p:nvSpPr>
        <p:spPr>
          <a:xfrm>
            <a:off x="640080" y="5596128"/>
            <a:ext cx="10927080" cy="320040"/>
          </a:xfrm>
          <a:prstGeom prst="rect">
            <a:avLst/>
          </a:prstGeom>
          <a:noFill/>
          <a:ln/>
        </p:spPr>
        <p:txBody>
          <a:bodyPr wrap="square" lIns="0" tIns="0" rIns="0" bIns="0" rtlCol="0" anchor="ctr"/>
          <a:lstStyle/>
          <a:p>
            <a:pPr indent="0" marL="0">
              <a:buNone/>
            </a:pPr>
            <a:r>
              <a:rPr lang="en-US" sz="1100" dirty="0">
                <a:solidFill>
                  <a:srgbClr val="0A3377"/>
                </a:solidFill>
              </a:rPr>
              <a:t>NorteSul Hidrotecnologia e Comércio LTDA · FENASAN · Redução de perdas de água</a:t>
            </a:r>
            <a:endParaRPr lang="en-US" sz="1100" dirty="0"/>
          </a:p>
        </p:txBody>
      </p:sp>
      <p:sp>
        <p:nvSpPr>
          <p:cNvPr id="10" name="Shape 7"/>
          <p:cNvSpPr/>
          <p:nvPr/>
        </p:nvSpPr>
        <p:spPr>
          <a:xfrm>
            <a:off x="0" y="6291072"/>
            <a:ext cx="12191695" cy="566928"/>
          </a:xfrm>
          <a:prstGeom prst="rect">
            <a:avLst/>
          </a:prstGeom>
          <a:solidFill>
            <a:srgbClr val="FFFFFF"/>
          </a:solidFill>
          <a:ln w="9525">
            <a:solidFill>
              <a:srgbClr val="C9D6EA"/>
            </a:solidFill>
            <a:prstDash val="solid"/>
          </a:ln>
        </p:spPr>
      </p:sp>
      <p:pic>
        <p:nvPicPr>
          <p:cNvPr id="11" name="Image 1" descr="/tmp/claude-0/-home-user-norte-sul-portfolio/b828416d-028b-56b8-943d-a9bc67fc20c3/scratchpad/pptx_out/logo_met.png">    </p:cNvPr>
          <p:cNvPicPr>
            <a:picLocks noChangeAspect="1"/>
          </p:cNvPicPr>
          <p:nvPr/>
        </p:nvPicPr>
        <p:blipFill>
          <a:blip r:embed="rId2"/>
          <a:stretch>
            <a:fillRect/>
          </a:stretch>
        </p:blipFill>
        <p:spPr>
          <a:xfrm>
            <a:off x="502920" y="6382512"/>
            <a:ext cx="548640" cy="384048"/>
          </a:xfrm>
          <a:prstGeom prst="rect">
            <a:avLst/>
          </a:prstGeom>
        </p:spPr>
      </p:pic>
      <p:sp>
        <p:nvSpPr>
          <p:cNvPr id="12" name="Shape 8"/>
          <p:cNvSpPr/>
          <p:nvPr/>
        </p:nvSpPr>
        <p:spPr>
          <a:xfrm>
            <a:off x="1188720" y="6419088"/>
            <a:ext cx="0" cy="310896"/>
          </a:xfrm>
          <a:prstGeom prst="line">
            <a:avLst/>
          </a:prstGeom>
          <a:noFill/>
          <a:ln w="9525">
            <a:solidFill>
              <a:srgbClr val="C9D6EA"/>
            </a:solidFill>
            <a:prstDash val="solid"/>
          </a:ln>
        </p:spPr>
      </p:sp>
      <p:pic>
        <p:nvPicPr>
          <p:cNvPr id="13" name="Image 2" descr="/tmp/claude-0/-home-user-norte-sul-portfolio/b828416d-028b-56b8-943d-a9bc67fc20c3/scratchpad/pptx_out/logo_ns.png">    </p:cNvPr>
          <p:cNvPicPr>
            <a:picLocks noChangeAspect="1"/>
          </p:cNvPicPr>
          <p:nvPr/>
        </p:nvPicPr>
        <p:blipFill>
          <a:blip r:embed="rId3"/>
          <a:stretch>
            <a:fillRect/>
          </a:stretch>
        </p:blipFill>
        <p:spPr>
          <a:xfrm>
            <a:off x="1325880" y="6382512"/>
            <a:ext cx="610819" cy="384048"/>
          </a:xfrm>
          <a:prstGeom prst="rect">
            <a:avLst/>
          </a:prstGeom>
        </p:spPr>
      </p:pic>
      <p:sp>
        <p:nvSpPr>
          <p:cNvPr id="14" name="Text 9"/>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FENASAN</a:t>
            </a:r>
            <a:endParaRPr lang="en-US" sz="1000" dirty="0"/>
          </a:p>
          <a:p>
            <a:pPr algn="r" indent="0" marL="0">
              <a:buNone/>
            </a:pPr>
            <a:r>
              <a:rPr lang="en-US" sz="800" dirty="0">
                <a:solidFill>
                  <a:srgbClr val="5B6B88"/>
                </a:solidFill>
              </a:rPr>
              <a:t>www.nortesultec.com.br</a:t>
            </a:r>
            <a:endParaRPr lang="en-US" sz="1000" dirty="0"/>
          </a:p>
        </p:txBody>
      </p:sp>
    </p:spTree>
  </p:cSld>
  <p:clrMapOvr>
    <a:masterClrMapping/>
  </p:clrMapOvr>
</p:sld>
</file>

<file path=ppt/theme/theme1.xml><?xml version="1.0" encoding="utf-8"?>
<a:theme xmlns:a="http://schemas.openxmlformats.org/drawingml/2006/main" name="Gestão Performance">
  <a:themeElements>
    <a:clrScheme name="Gestão Performance">
      <a:dk1>
        <a:srgbClr val="05204E"/>
      </a:dk1>
      <a:lt1>
        <a:srgbClr val="FFFFFF"/>
      </a:lt1>
      <a:dk2>
        <a:srgbClr val="0A3377"/>
      </a:dk2>
      <a:lt2>
        <a:srgbClr val="F3F6FB"/>
      </a:lt2>
      <a:accent1>
        <a:srgbClr val="38D4FF"/>
      </a:accent1>
      <a:accent2>
        <a:srgbClr val="0A3377"/>
      </a:accent2>
      <a:accent3>
        <a:srgbClr val="0E3F8C"/>
      </a:accent3>
      <a:accent4>
        <a:srgbClr val="5B6B88"/>
      </a:accent4>
      <a:accent5>
        <a:srgbClr val="CFE6FF"/>
      </a:accent5>
      <a:accent6>
        <a:srgbClr val="C9D6EA"/>
      </a:accent6>
      <a:hlink>
        <a:srgbClr val="0563C1"/>
      </a:hlink>
      <a:folHlink>
        <a:srgbClr val="954F72"/>
      </a:folHlink>
    </a:clrScheme>
    <a:fontScheme name="Gestão Performan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Norte Sul Hidrotecnologia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2026-10-20T05:08:02Z</dcterms:created>
  <dcterms:modified xsi:type="dcterms:W3CDTF">2026-10-20T05:08:02Z</dcterms:modified>
</cp:coreProperties>
</file>