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jp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jp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949440" y="502920"/>
            <a:ext cx="4663440" cy="5212080"/>
          </a:xfrm>
          <a:prstGeom prst="roundRect">
            <a:avLst>
              <a:gd name="adj" fmla="val 6863"/>
            </a:avLst>
          </a:prstGeom>
          <a:solidFill>
            <a:srgbClr val="0E3F8C"/>
          </a:solidFill>
          <a:ln w="12700">
            <a:solidFill>
              <a:srgbClr val="0E3F8C"/>
            </a:solidFill>
            <a:prstDash val="solid"/>
          </a:ln>
        </p:spPr>
      </p:sp>
      <p:pic>
        <p:nvPicPr>
          <p:cNvPr id="3" name="Image 0" descr="/tmp/claude-0/-home-user-norte-sul-portfolio/b828416d-028b-56b8-943d-a9bc67fc20c3/scratchpad/pptx_out/cropped/pj/capa_4.8x5.4.jpg">    </p:cNvPr>
          <p:cNvPicPr>
            <a:picLocks noChangeAspect="1"/>
          </p:cNvPicPr>
          <p:nvPr/>
        </p:nvPicPr>
        <p:blipFill>
          <a:blip r:embed="rId2"/>
          <a:stretch>
            <a:fillRect/>
          </a:stretch>
        </p:blipFill>
        <p:spPr>
          <a:xfrm>
            <a:off x="7086600" y="640080"/>
            <a:ext cx="4389120" cy="4937760"/>
          </a:xfrm>
          <a:prstGeom prst="rect">
            <a:avLst/>
          </a:prstGeom>
        </p:spPr>
      </p:pic>
      <p:sp>
        <p:nvSpPr>
          <p:cNvPr id="4" name="Text 1"/>
          <p:cNvSpPr txBox="1"/>
          <p:nvPr/>
        </p:nvSpPr>
        <p:spPr>
          <a:xfrm>
            <a:off x="640080" y="822960"/>
            <a:ext cx="6035040" cy="2926080"/>
          </a:xfrm>
          <a:prstGeom prst="rect">
            <a:avLst/>
          </a:prstGeom>
          <a:noFill/>
          <a:ln/>
        </p:spPr>
        <p:txBody>
          <a:bodyPr wrap="square" lIns="0" tIns="0" rIns="0" bIns="0" rtlCol="0" anchor="t"/>
          <a:lstStyle/>
          <a:p>
            <a:pPr indent="0" marL="0">
              <a:buNone/>
            </a:pPr>
            <a:r>
              <a:rPr lang="en-US" sz="3400" b="1" dirty="0">
                <a:solidFill>
                  <a:srgbClr val="FFFFFF"/>
                </a:solidFill>
              </a:rPr>
              <a:t>Soluções inovadoras para “dores” dos clientes</a:t>
            </a:r>
            <a:endParaRPr lang="en-US" sz="3400" dirty="0"/>
          </a:p>
        </p:txBody>
      </p:sp>
      <p:sp>
        <p:nvSpPr>
          <p:cNvPr id="5" name="Text 2"/>
          <p:cNvSpPr txBox="1"/>
          <p:nvPr/>
        </p:nvSpPr>
        <p:spPr>
          <a:xfrm>
            <a:off x="640080" y="3931920"/>
            <a:ext cx="6035040" cy="731520"/>
          </a:xfrm>
          <a:prstGeom prst="rect">
            <a:avLst/>
          </a:prstGeom>
          <a:noFill/>
          <a:ln/>
        </p:spPr>
        <p:txBody>
          <a:bodyPr wrap="square" lIns="0" tIns="0" rIns="0" bIns="0" rtlCol="0" anchor="t"/>
          <a:lstStyle/>
          <a:p>
            <a:pPr indent="0" marL="0">
              <a:buNone/>
            </a:pPr>
            <a:r>
              <a:rPr lang="en-US" sz="1400" dirty="0">
                <a:solidFill>
                  <a:srgbClr val="CFE6FF"/>
                </a:solidFill>
              </a:rPr>
              <a:t>Principais projetos</a:t>
            </a:r>
            <a:endParaRPr lang="en-US" sz="1400" dirty="0"/>
          </a:p>
        </p:txBody>
      </p:sp>
      <p:sp>
        <p:nvSpPr>
          <p:cNvPr id="6" name="Text 3"/>
          <p:cNvSpPr txBox="1"/>
          <p:nvPr/>
        </p:nvSpPr>
        <p:spPr>
          <a:xfrm>
            <a:off x="640080" y="5486400"/>
            <a:ext cx="6035040" cy="457200"/>
          </a:xfrm>
          <a:prstGeom prst="rect">
            <a:avLst/>
          </a:prstGeom>
          <a:noFill/>
          <a:ln/>
        </p:spPr>
        <p:txBody>
          <a:bodyPr wrap="square" lIns="0" tIns="0" rIns="0" bIns="0" rtlCol="0" anchor="b"/>
          <a:lstStyle/>
          <a:p>
            <a:pPr indent="0" marL="0">
              <a:buNone/>
            </a:pPr>
            <a:r>
              <a:rPr lang="en-US" sz="1100" dirty="0">
                <a:solidFill>
                  <a:srgbClr val="CFE6FF"/>
                </a:solidFill>
              </a:rPr>
              <a:t>Norte Sul Hidrotecnologia</a:t>
            </a:r>
            <a:endParaRPr lang="en-US" sz="1100" dirty="0"/>
          </a:p>
        </p:txBody>
      </p:sp>
      <p:sp>
        <p:nvSpPr>
          <p:cNvPr id="7" name="Shape 4"/>
          <p:cNvSpPr/>
          <p:nvPr/>
        </p:nvSpPr>
        <p:spPr>
          <a:xfrm>
            <a:off x="0" y="6291072"/>
            <a:ext cx="12191695" cy="566928"/>
          </a:xfrm>
          <a:prstGeom prst="rect">
            <a:avLst/>
          </a:prstGeom>
          <a:solidFill>
            <a:srgbClr val="FFFFFF"/>
          </a:solidFill>
          <a:ln w="9525">
            <a:solidFill>
              <a:srgbClr val="C9D6EA"/>
            </a:solidFill>
            <a:prstDash val="solid"/>
          </a:ln>
        </p:spPr>
      </p:sp>
      <p:pic>
        <p:nvPicPr>
          <p:cNvPr id="8" name="Image 1" descr="/tmp/claude-0/-home-user-norte-sul-portfolio/b828416d-028b-56b8-943d-a9bc67fc20c3/scratchpad/pptx_out/logo_met.png">    </p:cNvPr>
          <p:cNvPicPr>
            <a:picLocks noChangeAspect="1"/>
          </p:cNvPicPr>
          <p:nvPr/>
        </p:nvPicPr>
        <p:blipFill>
          <a:blip r:embed="rId3"/>
          <a:stretch>
            <a:fillRect/>
          </a:stretch>
        </p:blipFill>
        <p:spPr>
          <a:xfrm>
            <a:off x="502920" y="6382512"/>
            <a:ext cx="548640" cy="384048"/>
          </a:xfrm>
          <a:prstGeom prst="rect">
            <a:avLst/>
          </a:prstGeom>
        </p:spPr>
      </p:pic>
      <p:sp>
        <p:nvSpPr>
          <p:cNvPr id="9" name="Shape 5"/>
          <p:cNvSpPr/>
          <p:nvPr/>
        </p:nvSpPr>
        <p:spPr>
          <a:xfrm>
            <a:off x="1188720" y="6419088"/>
            <a:ext cx="0" cy="310896"/>
          </a:xfrm>
          <a:prstGeom prst="line">
            <a:avLst/>
          </a:prstGeom>
          <a:noFill/>
          <a:ln w="9525">
            <a:solidFill>
              <a:srgbClr val="C9D6EA"/>
            </a:solidFill>
            <a:prstDash val="solid"/>
          </a:ln>
        </p:spPr>
      </p:sp>
      <p:pic>
        <p:nvPicPr>
          <p:cNvPr id="10" name="Image 2" descr="/tmp/claude-0/-home-user-norte-sul-portfolio/b828416d-028b-56b8-943d-a9bc67fc20c3/scratchpad/pptx_out/logo_ns.png">    </p:cNvPr>
          <p:cNvPicPr>
            <a:picLocks noChangeAspect="1"/>
          </p:cNvPicPr>
          <p:nvPr/>
        </p:nvPicPr>
        <p:blipFill>
          <a:blip r:embed="rId4"/>
          <a:stretch>
            <a:fillRect/>
          </a:stretch>
        </p:blipFill>
        <p:spPr>
          <a:xfrm>
            <a:off x="1325880" y="6382512"/>
            <a:ext cx="610819" cy="384048"/>
          </a:xfrm>
          <a:prstGeom prst="rect">
            <a:avLst/>
          </a:prstGeom>
        </p:spPr>
      </p:pic>
      <p:sp>
        <p:nvSpPr>
          <p:cNvPr id="11" name="Text 6"/>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FFFFFF"/>
                </a:solidFill>
              </a:rPr>
              <a:t>Soluções inovadoras para “dores” dos clientes</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PRINCIPAIS PROJETOS</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2"/>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3"/>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Shape 5"/>
          <p:cNvSpPr/>
          <p:nvPr/>
        </p:nvSpPr>
        <p:spPr>
          <a:xfrm>
            <a:off x="640080" y="1463040"/>
            <a:ext cx="3520440" cy="960120"/>
          </a:xfrm>
          <a:prstGeom prst="roundRect">
            <a:avLst>
              <a:gd name="adj" fmla="val 7619"/>
            </a:avLst>
          </a:prstGeom>
          <a:solidFill>
            <a:srgbClr val="0E3F8C"/>
          </a:solidFill>
          <a:ln w="9525">
            <a:solidFill>
              <a:srgbClr val="2B5BA8"/>
            </a:solidFill>
            <a:prstDash val="solid"/>
          </a:ln>
        </p:spPr>
      </p:sp>
      <p:sp>
        <p:nvSpPr>
          <p:cNvPr id="10" name="Text 6"/>
          <p:cNvSpPr txBox="1"/>
          <p:nvPr/>
        </p:nvSpPr>
        <p:spPr>
          <a:xfrm>
            <a:off x="777240" y="146304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01</a:t>
            </a:r>
            <a:endParaRPr lang="en-US" sz="2000" dirty="0"/>
          </a:p>
        </p:txBody>
      </p:sp>
      <p:sp>
        <p:nvSpPr>
          <p:cNvPr id="11" name="Text 7"/>
          <p:cNvSpPr txBox="1"/>
          <p:nvPr/>
        </p:nvSpPr>
        <p:spPr>
          <a:xfrm>
            <a:off x="1371600" y="151790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1998</a:t>
            </a:r>
            <a:endParaRPr lang="en-US" sz="1000" dirty="0"/>
          </a:p>
          <a:p>
            <a:pPr indent="0" marL="0">
              <a:buNone/>
            </a:pPr>
            <a:r>
              <a:rPr lang="en-US" sz="1100" dirty="0">
                <a:solidFill>
                  <a:srgbClr val="FFFFFF"/>
                </a:solidFill>
              </a:rPr>
              <a:t>Desobstrução de emissário submarino do Guarujá – SABESP</a:t>
            </a:r>
            <a:endParaRPr lang="en-US" sz="1000" dirty="0"/>
          </a:p>
        </p:txBody>
      </p:sp>
      <p:sp>
        <p:nvSpPr>
          <p:cNvPr id="12" name="Shape 8"/>
          <p:cNvSpPr/>
          <p:nvPr/>
        </p:nvSpPr>
        <p:spPr>
          <a:xfrm>
            <a:off x="4325112" y="1463040"/>
            <a:ext cx="3520440" cy="960120"/>
          </a:xfrm>
          <a:prstGeom prst="roundRect">
            <a:avLst>
              <a:gd name="adj" fmla="val 7619"/>
            </a:avLst>
          </a:prstGeom>
          <a:solidFill>
            <a:srgbClr val="0E3F8C"/>
          </a:solidFill>
          <a:ln w="9525">
            <a:solidFill>
              <a:srgbClr val="2B5BA8"/>
            </a:solidFill>
            <a:prstDash val="solid"/>
          </a:ln>
        </p:spPr>
      </p:sp>
      <p:sp>
        <p:nvSpPr>
          <p:cNvPr id="13" name="Text 9"/>
          <p:cNvSpPr txBox="1"/>
          <p:nvPr/>
        </p:nvSpPr>
        <p:spPr>
          <a:xfrm>
            <a:off x="4462272" y="146304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02</a:t>
            </a:r>
            <a:endParaRPr lang="en-US" sz="2000" dirty="0"/>
          </a:p>
        </p:txBody>
      </p:sp>
      <p:sp>
        <p:nvSpPr>
          <p:cNvPr id="14" name="Text 10"/>
          <p:cNvSpPr txBox="1"/>
          <p:nvPr/>
        </p:nvSpPr>
        <p:spPr>
          <a:xfrm>
            <a:off x="5056632" y="151790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2000</a:t>
            </a:r>
            <a:endParaRPr lang="en-US" sz="1000" dirty="0"/>
          </a:p>
          <a:p>
            <a:pPr indent="0" marL="0">
              <a:buNone/>
            </a:pPr>
            <a:r>
              <a:rPr lang="en-US" sz="1100" dirty="0">
                <a:solidFill>
                  <a:srgbClr val="FFFFFF"/>
                </a:solidFill>
              </a:rPr>
              <a:t>Desassoreamento do poço úmido da ETE Parque Novo Mundo</a:t>
            </a:r>
            <a:endParaRPr lang="en-US" sz="1000" dirty="0"/>
          </a:p>
        </p:txBody>
      </p:sp>
      <p:sp>
        <p:nvSpPr>
          <p:cNvPr id="15" name="Shape 11"/>
          <p:cNvSpPr/>
          <p:nvPr/>
        </p:nvSpPr>
        <p:spPr>
          <a:xfrm>
            <a:off x="8010144" y="1463040"/>
            <a:ext cx="3520440" cy="960120"/>
          </a:xfrm>
          <a:prstGeom prst="roundRect">
            <a:avLst>
              <a:gd name="adj" fmla="val 7619"/>
            </a:avLst>
          </a:prstGeom>
          <a:solidFill>
            <a:srgbClr val="0E3F8C"/>
          </a:solidFill>
          <a:ln w="9525">
            <a:solidFill>
              <a:srgbClr val="2B5BA8"/>
            </a:solidFill>
            <a:prstDash val="solid"/>
          </a:ln>
        </p:spPr>
      </p:sp>
      <p:sp>
        <p:nvSpPr>
          <p:cNvPr id="16" name="Text 12"/>
          <p:cNvSpPr txBox="1"/>
          <p:nvPr/>
        </p:nvSpPr>
        <p:spPr>
          <a:xfrm>
            <a:off x="8147304" y="146304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03</a:t>
            </a:r>
            <a:endParaRPr lang="en-US" sz="2000" dirty="0"/>
          </a:p>
        </p:txBody>
      </p:sp>
      <p:sp>
        <p:nvSpPr>
          <p:cNvPr id="17" name="Text 13"/>
          <p:cNvSpPr txBox="1"/>
          <p:nvPr/>
        </p:nvSpPr>
        <p:spPr>
          <a:xfrm>
            <a:off x="8741664" y="151790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2002</a:t>
            </a:r>
            <a:endParaRPr lang="en-US" sz="1000" dirty="0"/>
          </a:p>
          <a:p>
            <a:pPr indent="0" marL="0">
              <a:buNone/>
            </a:pPr>
            <a:r>
              <a:rPr lang="en-US" sz="1100" dirty="0">
                <a:solidFill>
                  <a:srgbClr val="FFFFFF"/>
                </a:solidFill>
              </a:rPr>
              <a:t>Contratos de micro drenagem – PMSP</a:t>
            </a:r>
            <a:endParaRPr lang="en-US" sz="1000" dirty="0"/>
          </a:p>
        </p:txBody>
      </p:sp>
      <p:sp>
        <p:nvSpPr>
          <p:cNvPr id="18" name="Shape 14"/>
          <p:cNvSpPr/>
          <p:nvPr/>
        </p:nvSpPr>
        <p:spPr>
          <a:xfrm>
            <a:off x="640080" y="2560320"/>
            <a:ext cx="3520440" cy="960120"/>
          </a:xfrm>
          <a:prstGeom prst="roundRect">
            <a:avLst>
              <a:gd name="adj" fmla="val 7619"/>
            </a:avLst>
          </a:prstGeom>
          <a:solidFill>
            <a:srgbClr val="0E3F8C"/>
          </a:solidFill>
          <a:ln w="9525">
            <a:solidFill>
              <a:srgbClr val="2B5BA8"/>
            </a:solidFill>
            <a:prstDash val="solid"/>
          </a:ln>
        </p:spPr>
      </p:sp>
      <p:sp>
        <p:nvSpPr>
          <p:cNvPr id="19" name="Text 15"/>
          <p:cNvSpPr txBox="1"/>
          <p:nvPr/>
        </p:nvSpPr>
        <p:spPr>
          <a:xfrm>
            <a:off x="777240" y="256032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04</a:t>
            </a:r>
            <a:endParaRPr lang="en-US" sz="2000" dirty="0"/>
          </a:p>
        </p:txBody>
      </p:sp>
      <p:sp>
        <p:nvSpPr>
          <p:cNvPr id="20" name="Text 16"/>
          <p:cNvSpPr txBox="1"/>
          <p:nvPr/>
        </p:nvSpPr>
        <p:spPr>
          <a:xfrm>
            <a:off x="1371600" y="261518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2005</a:t>
            </a:r>
            <a:endParaRPr lang="en-US" sz="1000" dirty="0"/>
          </a:p>
          <a:p>
            <a:pPr indent="0" marL="0">
              <a:buNone/>
            </a:pPr>
            <a:r>
              <a:rPr lang="en-US" sz="1100" dirty="0">
                <a:solidFill>
                  <a:srgbClr val="FFFFFF"/>
                </a:solidFill>
              </a:rPr>
              <a:t>Desidratação de resíduos sólidos - PMSP</a:t>
            </a:r>
            <a:endParaRPr lang="en-US" sz="1000" dirty="0"/>
          </a:p>
        </p:txBody>
      </p:sp>
      <p:sp>
        <p:nvSpPr>
          <p:cNvPr id="21" name="Shape 17"/>
          <p:cNvSpPr/>
          <p:nvPr/>
        </p:nvSpPr>
        <p:spPr>
          <a:xfrm>
            <a:off x="4325112" y="2560320"/>
            <a:ext cx="3520440" cy="960120"/>
          </a:xfrm>
          <a:prstGeom prst="roundRect">
            <a:avLst>
              <a:gd name="adj" fmla="val 7619"/>
            </a:avLst>
          </a:prstGeom>
          <a:solidFill>
            <a:srgbClr val="0E3F8C"/>
          </a:solidFill>
          <a:ln w="9525">
            <a:solidFill>
              <a:srgbClr val="2B5BA8"/>
            </a:solidFill>
            <a:prstDash val="solid"/>
          </a:ln>
        </p:spPr>
      </p:sp>
      <p:sp>
        <p:nvSpPr>
          <p:cNvPr id="22" name="Text 18"/>
          <p:cNvSpPr txBox="1"/>
          <p:nvPr/>
        </p:nvSpPr>
        <p:spPr>
          <a:xfrm>
            <a:off x="4462272" y="256032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05</a:t>
            </a:r>
            <a:endParaRPr lang="en-US" sz="2000" dirty="0"/>
          </a:p>
        </p:txBody>
      </p:sp>
      <p:sp>
        <p:nvSpPr>
          <p:cNvPr id="23" name="Text 19"/>
          <p:cNvSpPr txBox="1"/>
          <p:nvPr/>
        </p:nvSpPr>
        <p:spPr>
          <a:xfrm>
            <a:off x="5056632" y="261518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2008</a:t>
            </a:r>
            <a:endParaRPr lang="en-US" sz="1000" dirty="0"/>
          </a:p>
          <a:p>
            <a:pPr indent="0" marL="0">
              <a:buNone/>
            </a:pPr>
            <a:r>
              <a:rPr lang="en-US" sz="1100" dirty="0">
                <a:solidFill>
                  <a:srgbClr val="FFFFFF"/>
                </a:solidFill>
              </a:rPr>
              <a:t>Atendimento de enchente no VALE DO ITAJAÍ – SC</a:t>
            </a:r>
            <a:endParaRPr lang="en-US" sz="1000" dirty="0"/>
          </a:p>
        </p:txBody>
      </p:sp>
      <p:sp>
        <p:nvSpPr>
          <p:cNvPr id="24" name="Shape 20"/>
          <p:cNvSpPr/>
          <p:nvPr/>
        </p:nvSpPr>
        <p:spPr>
          <a:xfrm>
            <a:off x="8010144" y="2560320"/>
            <a:ext cx="3520440" cy="960120"/>
          </a:xfrm>
          <a:prstGeom prst="roundRect">
            <a:avLst>
              <a:gd name="adj" fmla="val 7619"/>
            </a:avLst>
          </a:prstGeom>
          <a:solidFill>
            <a:srgbClr val="0E3F8C"/>
          </a:solidFill>
          <a:ln w="9525">
            <a:solidFill>
              <a:srgbClr val="2B5BA8"/>
            </a:solidFill>
            <a:prstDash val="solid"/>
          </a:ln>
        </p:spPr>
      </p:sp>
      <p:sp>
        <p:nvSpPr>
          <p:cNvPr id="25" name="Text 21"/>
          <p:cNvSpPr txBox="1"/>
          <p:nvPr/>
        </p:nvSpPr>
        <p:spPr>
          <a:xfrm>
            <a:off x="8147304" y="256032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06</a:t>
            </a:r>
            <a:endParaRPr lang="en-US" sz="2000" dirty="0"/>
          </a:p>
        </p:txBody>
      </p:sp>
      <p:sp>
        <p:nvSpPr>
          <p:cNvPr id="26" name="Text 22"/>
          <p:cNvSpPr txBox="1"/>
          <p:nvPr/>
        </p:nvSpPr>
        <p:spPr>
          <a:xfrm>
            <a:off x="8741664" y="261518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2008</a:t>
            </a:r>
            <a:endParaRPr lang="en-US" sz="1000" dirty="0"/>
          </a:p>
          <a:p>
            <a:pPr indent="0" marL="0">
              <a:buNone/>
            </a:pPr>
            <a:r>
              <a:rPr lang="en-US" sz="1100" dirty="0">
                <a:solidFill>
                  <a:srgbClr val="FFFFFF"/>
                </a:solidFill>
              </a:rPr>
              <a:t>Contratos de “Córrego Limpo” – SABESP</a:t>
            </a:r>
            <a:endParaRPr lang="en-US" sz="1000" dirty="0"/>
          </a:p>
        </p:txBody>
      </p:sp>
      <p:sp>
        <p:nvSpPr>
          <p:cNvPr id="27" name="Shape 23"/>
          <p:cNvSpPr/>
          <p:nvPr/>
        </p:nvSpPr>
        <p:spPr>
          <a:xfrm>
            <a:off x="640080" y="3657600"/>
            <a:ext cx="3520440" cy="960120"/>
          </a:xfrm>
          <a:prstGeom prst="roundRect">
            <a:avLst>
              <a:gd name="adj" fmla="val 7619"/>
            </a:avLst>
          </a:prstGeom>
          <a:solidFill>
            <a:srgbClr val="0E3F8C"/>
          </a:solidFill>
          <a:ln w="9525">
            <a:solidFill>
              <a:srgbClr val="2B5BA8"/>
            </a:solidFill>
            <a:prstDash val="solid"/>
          </a:ln>
        </p:spPr>
      </p:sp>
      <p:sp>
        <p:nvSpPr>
          <p:cNvPr id="28" name="Text 24"/>
          <p:cNvSpPr txBox="1"/>
          <p:nvPr/>
        </p:nvSpPr>
        <p:spPr>
          <a:xfrm>
            <a:off x="777240" y="365760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07</a:t>
            </a:r>
            <a:endParaRPr lang="en-US" sz="2000" dirty="0"/>
          </a:p>
        </p:txBody>
      </p:sp>
      <p:sp>
        <p:nvSpPr>
          <p:cNvPr id="29" name="Text 25"/>
          <p:cNvSpPr txBox="1"/>
          <p:nvPr/>
        </p:nvSpPr>
        <p:spPr>
          <a:xfrm>
            <a:off x="1371600" y="371246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2009 / 2010</a:t>
            </a:r>
            <a:endParaRPr lang="en-US" sz="1000" dirty="0"/>
          </a:p>
          <a:p>
            <a:pPr indent="0" marL="0">
              <a:buNone/>
            </a:pPr>
            <a:r>
              <a:rPr lang="en-US" sz="1100" dirty="0">
                <a:solidFill>
                  <a:srgbClr val="FFFFFF"/>
                </a:solidFill>
              </a:rPr>
              <a:t>Atendimento de enchente no Jardim Romano (Pantanal) – PMSP</a:t>
            </a:r>
            <a:endParaRPr lang="en-US" sz="1000" dirty="0"/>
          </a:p>
        </p:txBody>
      </p:sp>
      <p:sp>
        <p:nvSpPr>
          <p:cNvPr id="30" name="Shape 26"/>
          <p:cNvSpPr/>
          <p:nvPr/>
        </p:nvSpPr>
        <p:spPr>
          <a:xfrm>
            <a:off x="4325112" y="3657600"/>
            <a:ext cx="3520440" cy="960120"/>
          </a:xfrm>
          <a:prstGeom prst="roundRect">
            <a:avLst>
              <a:gd name="adj" fmla="val 7619"/>
            </a:avLst>
          </a:prstGeom>
          <a:solidFill>
            <a:srgbClr val="0E3F8C"/>
          </a:solidFill>
          <a:ln w="9525">
            <a:solidFill>
              <a:srgbClr val="2B5BA8"/>
            </a:solidFill>
            <a:prstDash val="solid"/>
          </a:ln>
        </p:spPr>
      </p:sp>
      <p:sp>
        <p:nvSpPr>
          <p:cNvPr id="31" name="Text 27"/>
          <p:cNvSpPr txBox="1"/>
          <p:nvPr/>
        </p:nvSpPr>
        <p:spPr>
          <a:xfrm>
            <a:off x="4462272" y="365760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08</a:t>
            </a:r>
            <a:endParaRPr lang="en-US" sz="2000" dirty="0"/>
          </a:p>
        </p:txBody>
      </p:sp>
      <p:sp>
        <p:nvSpPr>
          <p:cNvPr id="32" name="Text 28"/>
          <p:cNvSpPr txBox="1"/>
          <p:nvPr/>
        </p:nvSpPr>
        <p:spPr>
          <a:xfrm>
            <a:off x="5056632" y="371246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2010</a:t>
            </a:r>
            <a:endParaRPr lang="en-US" sz="1000" dirty="0"/>
          </a:p>
          <a:p>
            <a:pPr indent="0" marL="0">
              <a:buNone/>
            </a:pPr>
            <a:r>
              <a:rPr lang="en-US" sz="1100" dirty="0">
                <a:solidFill>
                  <a:srgbClr val="FFFFFF"/>
                </a:solidFill>
              </a:rPr>
              <a:t>Contrato de “Performance” para Desobstrução de rede de esgotos – SABESP</a:t>
            </a:r>
            <a:endParaRPr lang="en-US" sz="1000" dirty="0"/>
          </a:p>
        </p:txBody>
      </p:sp>
      <p:sp>
        <p:nvSpPr>
          <p:cNvPr id="33" name="Shape 29"/>
          <p:cNvSpPr/>
          <p:nvPr/>
        </p:nvSpPr>
        <p:spPr>
          <a:xfrm>
            <a:off x="8010144" y="3657600"/>
            <a:ext cx="3520440" cy="960120"/>
          </a:xfrm>
          <a:prstGeom prst="roundRect">
            <a:avLst>
              <a:gd name="adj" fmla="val 7619"/>
            </a:avLst>
          </a:prstGeom>
          <a:solidFill>
            <a:srgbClr val="0E3F8C"/>
          </a:solidFill>
          <a:ln w="9525">
            <a:solidFill>
              <a:srgbClr val="2B5BA8"/>
            </a:solidFill>
            <a:prstDash val="solid"/>
          </a:ln>
        </p:spPr>
      </p:sp>
      <p:sp>
        <p:nvSpPr>
          <p:cNvPr id="34" name="Text 30"/>
          <p:cNvSpPr txBox="1"/>
          <p:nvPr/>
        </p:nvSpPr>
        <p:spPr>
          <a:xfrm>
            <a:off x="8147304" y="365760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09</a:t>
            </a:r>
            <a:endParaRPr lang="en-US" sz="2000" dirty="0"/>
          </a:p>
        </p:txBody>
      </p:sp>
      <p:sp>
        <p:nvSpPr>
          <p:cNvPr id="35" name="Text 31"/>
          <p:cNvSpPr txBox="1"/>
          <p:nvPr/>
        </p:nvSpPr>
        <p:spPr>
          <a:xfrm>
            <a:off x="8741664" y="371246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2016</a:t>
            </a:r>
            <a:endParaRPr lang="en-US" sz="1000" dirty="0"/>
          </a:p>
          <a:p>
            <a:pPr indent="0" marL="0">
              <a:buNone/>
            </a:pPr>
            <a:r>
              <a:rPr lang="en-US" sz="1100" dirty="0">
                <a:solidFill>
                  <a:srgbClr val="FFFFFF"/>
                </a:solidFill>
              </a:rPr>
              <a:t>Desassoreamento do Interceptor Oceânico – Rio de Janeiro</a:t>
            </a:r>
            <a:endParaRPr lang="en-US" sz="1000" dirty="0"/>
          </a:p>
        </p:txBody>
      </p:sp>
      <p:sp>
        <p:nvSpPr>
          <p:cNvPr id="36" name="Shape 32"/>
          <p:cNvSpPr/>
          <p:nvPr/>
        </p:nvSpPr>
        <p:spPr>
          <a:xfrm>
            <a:off x="640080" y="4754880"/>
            <a:ext cx="3520440" cy="960120"/>
          </a:xfrm>
          <a:prstGeom prst="roundRect">
            <a:avLst>
              <a:gd name="adj" fmla="val 7619"/>
            </a:avLst>
          </a:prstGeom>
          <a:solidFill>
            <a:srgbClr val="0E3F8C"/>
          </a:solidFill>
          <a:ln w="9525">
            <a:solidFill>
              <a:srgbClr val="2B5BA8"/>
            </a:solidFill>
            <a:prstDash val="solid"/>
          </a:ln>
        </p:spPr>
      </p:sp>
      <p:sp>
        <p:nvSpPr>
          <p:cNvPr id="37" name="Text 33"/>
          <p:cNvSpPr txBox="1"/>
          <p:nvPr/>
        </p:nvSpPr>
        <p:spPr>
          <a:xfrm>
            <a:off x="777240" y="475488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10</a:t>
            </a:r>
            <a:endParaRPr lang="en-US" sz="2000" dirty="0"/>
          </a:p>
        </p:txBody>
      </p:sp>
      <p:sp>
        <p:nvSpPr>
          <p:cNvPr id="38" name="Text 34"/>
          <p:cNvSpPr txBox="1"/>
          <p:nvPr/>
        </p:nvSpPr>
        <p:spPr>
          <a:xfrm>
            <a:off x="1371600" y="480974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2018</a:t>
            </a:r>
            <a:endParaRPr lang="en-US" sz="1000" dirty="0"/>
          </a:p>
          <a:p>
            <a:pPr indent="0" marL="0">
              <a:buNone/>
            </a:pPr>
            <a:r>
              <a:rPr lang="en-US" sz="1100" dirty="0">
                <a:solidFill>
                  <a:srgbClr val="FFFFFF"/>
                </a:solidFill>
              </a:rPr>
              <a:t>Desassoreamento de Interceptor da Lagoa da Pampulha – BH</a:t>
            </a:r>
            <a:endParaRPr lang="en-US" sz="1000" dirty="0"/>
          </a:p>
        </p:txBody>
      </p:sp>
      <p:sp>
        <p:nvSpPr>
          <p:cNvPr id="39" name="Shape 35"/>
          <p:cNvSpPr/>
          <p:nvPr/>
        </p:nvSpPr>
        <p:spPr>
          <a:xfrm>
            <a:off x="4325112" y="4754880"/>
            <a:ext cx="3520440" cy="960120"/>
          </a:xfrm>
          <a:prstGeom prst="roundRect">
            <a:avLst>
              <a:gd name="adj" fmla="val 7619"/>
            </a:avLst>
          </a:prstGeom>
          <a:solidFill>
            <a:srgbClr val="0E3F8C"/>
          </a:solidFill>
          <a:ln w="9525">
            <a:solidFill>
              <a:srgbClr val="2B5BA8"/>
            </a:solidFill>
            <a:prstDash val="solid"/>
          </a:ln>
        </p:spPr>
      </p:sp>
      <p:sp>
        <p:nvSpPr>
          <p:cNvPr id="40" name="Text 36"/>
          <p:cNvSpPr txBox="1"/>
          <p:nvPr/>
        </p:nvSpPr>
        <p:spPr>
          <a:xfrm>
            <a:off x="4462272" y="475488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11</a:t>
            </a:r>
            <a:endParaRPr lang="en-US" sz="2000" dirty="0"/>
          </a:p>
        </p:txBody>
      </p:sp>
      <p:sp>
        <p:nvSpPr>
          <p:cNvPr id="41" name="Text 37"/>
          <p:cNvSpPr txBox="1"/>
          <p:nvPr/>
        </p:nvSpPr>
        <p:spPr>
          <a:xfrm>
            <a:off x="5056632" y="480974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2024</a:t>
            </a:r>
            <a:endParaRPr lang="en-US" sz="1000" dirty="0"/>
          </a:p>
          <a:p>
            <a:pPr indent="0" marL="0">
              <a:buNone/>
            </a:pPr>
            <a:r>
              <a:rPr lang="en-US" sz="1100" dirty="0">
                <a:solidFill>
                  <a:srgbClr val="FFFFFF"/>
                </a:solidFill>
              </a:rPr>
              <a:t>Reciclagem de resíduos sólidos - PMSP</a:t>
            </a:r>
            <a:endParaRPr lang="en-US" sz="1000" dirty="0"/>
          </a:p>
        </p:txBody>
      </p:sp>
      <p:sp>
        <p:nvSpPr>
          <p:cNvPr id="42" name="Shape 38"/>
          <p:cNvSpPr/>
          <p:nvPr/>
        </p:nvSpPr>
        <p:spPr>
          <a:xfrm>
            <a:off x="8010144" y="4754880"/>
            <a:ext cx="3520440" cy="960120"/>
          </a:xfrm>
          <a:prstGeom prst="roundRect">
            <a:avLst>
              <a:gd name="adj" fmla="val 7619"/>
            </a:avLst>
          </a:prstGeom>
          <a:solidFill>
            <a:srgbClr val="0E3F8C"/>
          </a:solidFill>
          <a:ln w="9525">
            <a:solidFill>
              <a:srgbClr val="2B5BA8"/>
            </a:solidFill>
            <a:prstDash val="solid"/>
          </a:ln>
        </p:spPr>
      </p:sp>
      <p:sp>
        <p:nvSpPr>
          <p:cNvPr id="43" name="Text 39"/>
          <p:cNvSpPr txBox="1"/>
          <p:nvPr/>
        </p:nvSpPr>
        <p:spPr>
          <a:xfrm>
            <a:off x="8147304" y="4754880"/>
            <a:ext cx="548640" cy="960120"/>
          </a:xfrm>
          <a:prstGeom prst="rect">
            <a:avLst/>
          </a:prstGeom>
          <a:noFill/>
          <a:ln/>
        </p:spPr>
        <p:txBody>
          <a:bodyPr wrap="square" lIns="0" tIns="0" rIns="0" bIns="0" rtlCol="0" anchor="ctr"/>
          <a:lstStyle/>
          <a:p>
            <a:pPr indent="0" marL="0">
              <a:buNone/>
            </a:pPr>
            <a:r>
              <a:rPr lang="en-US" sz="2000" b="1" dirty="0">
                <a:solidFill>
                  <a:srgbClr val="38D4FF"/>
                </a:solidFill>
              </a:rPr>
              <a:t>12</a:t>
            </a:r>
            <a:endParaRPr lang="en-US" sz="2000" dirty="0"/>
          </a:p>
        </p:txBody>
      </p:sp>
      <p:sp>
        <p:nvSpPr>
          <p:cNvPr id="44" name="Text 40"/>
          <p:cNvSpPr txBox="1"/>
          <p:nvPr/>
        </p:nvSpPr>
        <p:spPr>
          <a:xfrm>
            <a:off x="8741664" y="4809744"/>
            <a:ext cx="2651760" cy="850392"/>
          </a:xfrm>
          <a:prstGeom prst="rect">
            <a:avLst/>
          </a:prstGeom>
          <a:noFill/>
          <a:ln/>
        </p:spPr>
        <p:txBody>
          <a:bodyPr wrap="square" lIns="0" tIns="0" rIns="0" bIns="0" rtlCol="0" anchor="ctr"/>
          <a:lstStyle/>
          <a:p>
            <a:pPr indent="0" marL="0">
              <a:buNone/>
            </a:pPr>
            <a:r>
              <a:rPr lang="en-US" sz="1000" b="1" dirty="0">
                <a:solidFill>
                  <a:srgbClr val="38D4FF"/>
                </a:solidFill>
              </a:rPr>
              <a:t>2025</a:t>
            </a:r>
            <a:endParaRPr lang="en-US" sz="1000" dirty="0"/>
          </a:p>
          <a:p>
            <a:pPr indent="0" marL="0">
              <a:buNone/>
            </a:pPr>
            <a:r>
              <a:rPr lang="en-US" sz="1100" dirty="0">
                <a:solidFill>
                  <a:srgbClr val="FFFFFF"/>
                </a:solidFill>
              </a:rPr>
              <a:t>Desassoreamento de Interceptor – Belém / PA</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Desobstrução de emissário submarino do Guarujá – SABESP</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01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1998</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1998, rompeu o emissário submarino da Sabesp no Guarujá, que levava o esgoto da região para alto mar, gerando sérios problemas ambientais. A tubulação constituinte do emissário encheu de areia (1.100 a 2.800 metros), obstruindo a passagem do efluente. A Norte Sul montou um equipamento de hidrojato sobre barco que, com o apoio de mergulhadores, efetuou a desobstrução do trecho, permitindo a rápida recuperação do emissário.</a:t>
            </a:r>
            <a:endParaRPr lang="en-US" sz="1700" dirty="0"/>
          </a:p>
        </p:txBody>
      </p:sp>
      <p:sp>
        <p:nvSpPr>
          <p:cNvPr id="12" name="Shape 8"/>
          <p:cNvSpPr/>
          <p:nvPr/>
        </p:nvSpPr>
        <p:spPr>
          <a:xfrm>
            <a:off x="6400800" y="1890846"/>
            <a:ext cx="5166360" cy="3624948"/>
          </a:xfrm>
          <a:prstGeom prst="roundRect">
            <a:avLst>
              <a:gd name="adj" fmla="val 2523"/>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guaruja.jpg">    </p:cNvPr>
          <p:cNvPicPr>
            <a:picLocks noChangeAspect="1"/>
          </p:cNvPicPr>
          <p:nvPr/>
        </p:nvPicPr>
        <p:blipFill>
          <a:blip r:embed="rId3"/>
          <a:stretch>
            <a:fillRect/>
          </a:stretch>
        </p:blipFill>
        <p:spPr>
          <a:xfrm>
            <a:off x="6505058" y="1963998"/>
            <a:ext cx="4957844" cy="347864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Desassoreamento do poço úmido da ETE Parque Novo Mundo</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02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2000</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dezembro de 2000, a ETE Parque Novo Mundo da Sabesp, praticamente ficou paralisada devido à queda da grade de resíduos grandes e assoreamento das bombas de recalque do poço de entrada da estação, tendo a Norte Sul utilizado método de desassoreamento de poços de grande diâmetro e profundidade, com reciclagem dos líquidos e separação dos sólidos, restabelecendo a operação da ETE. Tal metodologia foi aplicada em diversas ETEs, com poços com essas características.</a:t>
            </a:r>
            <a:endParaRPr lang="en-US" sz="1700" dirty="0"/>
          </a:p>
        </p:txBody>
      </p:sp>
      <p:sp>
        <p:nvSpPr>
          <p:cNvPr id="12" name="Shape 8"/>
          <p:cNvSpPr/>
          <p:nvPr/>
        </p:nvSpPr>
        <p:spPr>
          <a:xfrm>
            <a:off x="6400800" y="1587278"/>
            <a:ext cx="2648246" cy="4232085"/>
          </a:xfrm>
          <a:prstGeom prst="roundRect">
            <a:avLst>
              <a:gd name="adj" fmla="val 3453"/>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ete2.jpg">    </p:cNvPr>
          <p:cNvPicPr>
            <a:picLocks noChangeAspect="1"/>
          </p:cNvPicPr>
          <p:nvPr/>
        </p:nvPicPr>
        <p:blipFill>
          <a:blip r:embed="rId3"/>
          <a:stretch>
            <a:fillRect/>
          </a:stretch>
        </p:blipFill>
        <p:spPr>
          <a:xfrm>
            <a:off x="6473952" y="1704180"/>
            <a:ext cx="2501942" cy="3998280"/>
          </a:xfrm>
          <a:prstGeom prst="rect">
            <a:avLst/>
          </a:prstGeom>
        </p:spPr>
      </p:pic>
      <p:sp>
        <p:nvSpPr>
          <p:cNvPr id="14" name="Shape 9"/>
          <p:cNvSpPr/>
          <p:nvPr/>
        </p:nvSpPr>
        <p:spPr>
          <a:xfrm>
            <a:off x="9231926" y="1587278"/>
            <a:ext cx="2335234" cy="4232085"/>
          </a:xfrm>
          <a:prstGeom prst="roundRect">
            <a:avLst>
              <a:gd name="adj" fmla="val 3916"/>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ete1.jpg">    </p:cNvPr>
          <p:cNvPicPr>
            <a:picLocks noChangeAspect="1"/>
          </p:cNvPicPr>
          <p:nvPr/>
        </p:nvPicPr>
        <p:blipFill>
          <a:blip r:embed="rId4"/>
          <a:stretch>
            <a:fillRect/>
          </a:stretch>
        </p:blipFill>
        <p:spPr>
          <a:xfrm>
            <a:off x="9305078" y="1719849"/>
            <a:ext cx="2188930" cy="39669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Contratos de micro drenagem – PMSP</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03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2002</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600" dirty="0">
                <a:solidFill>
                  <a:srgbClr val="0A3377"/>
                </a:solidFill>
              </a:rPr>
              <a:t>Em 2002, a PMSP solicitou à ABEMI (Associação Brasileira de Engenharia Industrial), Diretoria de Hidrojato e Vácuo (exercida pela Norte Sul) um projeto de serviços integrados de manutenção do sistema de micro drenagem envolvendo os serviços de limpeza dos dispositivos (bocas de lobo, ramais, poços de visita e galerias), inspeção por televisionamento, relatórios de diagnóstico e prognóstico, cadastro georreferenciado e sistema informatizado de gestão, que incorporou a experiência internacional; tal projeto foi implantado através de contratos em toda a área geográfica do município entre 2002 e 2005, obtendo grandes resultados na diminuição dos alagamentos na época.</a:t>
            </a:r>
            <a:endParaRPr lang="en-US" sz="1600" dirty="0"/>
          </a:p>
        </p:txBody>
      </p:sp>
      <p:sp>
        <p:nvSpPr>
          <p:cNvPr id="12" name="Shape 8"/>
          <p:cNvSpPr/>
          <p:nvPr/>
        </p:nvSpPr>
        <p:spPr>
          <a:xfrm>
            <a:off x="6400800" y="1496385"/>
            <a:ext cx="2129704" cy="1744616"/>
          </a:xfrm>
          <a:prstGeom prst="roundRect">
            <a:avLst>
              <a:gd name="adj" fmla="val 5241"/>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micro2.jpg">    </p:cNvPr>
          <p:cNvPicPr>
            <a:picLocks noChangeAspect="1"/>
          </p:cNvPicPr>
          <p:nvPr/>
        </p:nvPicPr>
        <p:blipFill>
          <a:blip r:embed="rId3"/>
          <a:stretch>
            <a:fillRect/>
          </a:stretch>
        </p:blipFill>
        <p:spPr>
          <a:xfrm>
            <a:off x="6490099" y="1569537"/>
            <a:ext cx="1951106" cy="1598312"/>
          </a:xfrm>
          <a:prstGeom prst="rect">
            <a:avLst/>
          </a:prstGeom>
        </p:spPr>
      </p:pic>
      <p:sp>
        <p:nvSpPr>
          <p:cNvPr id="14" name="Shape 9"/>
          <p:cNvSpPr/>
          <p:nvPr/>
        </p:nvSpPr>
        <p:spPr>
          <a:xfrm>
            <a:off x="8713384" y="1496385"/>
            <a:ext cx="2853776" cy="1744616"/>
          </a:xfrm>
          <a:prstGeom prst="roundRect">
            <a:avLst>
              <a:gd name="adj" fmla="val 5241"/>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micro1.jpg">    </p:cNvPr>
          <p:cNvPicPr>
            <a:picLocks noChangeAspect="1"/>
          </p:cNvPicPr>
          <p:nvPr/>
        </p:nvPicPr>
        <p:blipFill>
          <a:blip r:embed="rId4"/>
          <a:stretch>
            <a:fillRect/>
          </a:stretch>
        </p:blipFill>
        <p:spPr>
          <a:xfrm>
            <a:off x="8833043" y="1569537"/>
            <a:ext cx="2614457" cy="1598312"/>
          </a:xfrm>
          <a:prstGeom prst="rect">
            <a:avLst/>
          </a:prstGeom>
        </p:spPr>
      </p:pic>
      <p:sp>
        <p:nvSpPr>
          <p:cNvPr id="16" name="Shape 10"/>
          <p:cNvSpPr/>
          <p:nvPr/>
        </p:nvSpPr>
        <p:spPr>
          <a:xfrm>
            <a:off x="6400800" y="3423881"/>
            <a:ext cx="5166360" cy="2486374"/>
          </a:xfrm>
          <a:prstGeom prst="roundRect">
            <a:avLst>
              <a:gd name="adj" fmla="val 3678"/>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7" name="Image 4" descr="/tmp/claude-0/-home-user-norte-sul-portfolio/b828416d-028b-56b8-943d-a9bc67fc20c3/scratchpad/pptx_out/pj/micro3.jpg">    </p:cNvPr>
          <p:cNvPicPr>
            <a:picLocks noChangeAspect="1"/>
          </p:cNvPicPr>
          <p:nvPr/>
        </p:nvPicPr>
        <p:blipFill>
          <a:blip r:embed="rId5"/>
          <a:stretch>
            <a:fillRect/>
          </a:stretch>
        </p:blipFill>
        <p:spPr>
          <a:xfrm>
            <a:off x="6552800" y="3497033"/>
            <a:ext cx="4862359" cy="23400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Desidratação de resíduos sólidos - PMSP</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04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2005</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400" dirty="0">
                <a:solidFill>
                  <a:srgbClr val="0A3377"/>
                </a:solidFill>
              </a:rPr>
              <a:t>Até 2005, os resíduos sólidos + líquidos existentes no sistema de drenagem da PMSP, coletados pelos caminhões combinados hidro/sugadores, eram descartados diretamente nos aterros sanitários licenciados pela PMSP, causando inúmeros problemas nas bancadas dos aterros; em 2005, após vários acidentes, os aterros sanitários proibiram o descarregamento de material com grau de umidade superior a 40%, levando à paralisação temporária dos serviços. A Norte Sul desenvolveu emergencialmente um sistema de desidratação dos resíduos em baias que drenavam o líquido, encaminhado para descarte em local adequado, restando os sólidos encaminhados aos aterros sanitários, com dispositivo de controle de odores. Tal solução, licenciada pela Cetesb, aplicada por outros prestadores de serviço, permitiu a continuidade dos serviços de limpeza do sistema de drenagem da PMSP.</a:t>
            </a:r>
            <a:endParaRPr lang="en-US" sz="1400" dirty="0"/>
          </a:p>
        </p:txBody>
      </p:sp>
      <p:sp>
        <p:nvSpPr>
          <p:cNvPr id="12" name="Shape 8"/>
          <p:cNvSpPr/>
          <p:nvPr/>
        </p:nvSpPr>
        <p:spPr>
          <a:xfrm>
            <a:off x="6864166" y="1417320"/>
            <a:ext cx="4239627" cy="2004330"/>
          </a:xfrm>
          <a:prstGeom prst="roundRect">
            <a:avLst>
              <a:gd name="adj" fmla="val 4562"/>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desid1.jpg">    </p:cNvPr>
          <p:cNvPicPr>
            <a:picLocks noChangeAspect="1"/>
          </p:cNvPicPr>
          <p:nvPr/>
        </p:nvPicPr>
        <p:blipFill>
          <a:blip r:embed="rId3"/>
          <a:stretch>
            <a:fillRect/>
          </a:stretch>
        </p:blipFill>
        <p:spPr>
          <a:xfrm>
            <a:off x="7018900" y="1490472"/>
            <a:ext cx="3930160" cy="1858026"/>
          </a:xfrm>
          <a:prstGeom prst="rect">
            <a:avLst/>
          </a:prstGeom>
        </p:spPr>
      </p:pic>
      <p:sp>
        <p:nvSpPr>
          <p:cNvPr id="14" name="Shape 9"/>
          <p:cNvSpPr/>
          <p:nvPr/>
        </p:nvSpPr>
        <p:spPr>
          <a:xfrm>
            <a:off x="6864166" y="3604530"/>
            <a:ext cx="4239627" cy="2384790"/>
          </a:xfrm>
          <a:prstGeom prst="roundRect">
            <a:avLst>
              <a:gd name="adj" fmla="val 383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desid2.jpg">    </p:cNvPr>
          <p:cNvPicPr>
            <a:picLocks noChangeAspect="1"/>
          </p:cNvPicPr>
          <p:nvPr/>
        </p:nvPicPr>
        <p:blipFill>
          <a:blip r:embed="rId4"/>
          <a:stretch>
            <a:fillRect/>
          </a:stretch>
        </p:blipFill>
        <p:spPr>
          <a:xfrm>
            <a:off x="6994214" y="3677682"/>
            <a:ext cx="3979531" cy="223848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Atendimento de enchente no VALE DO ITAJAÍ – SC</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05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2008</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novembro de 2008, chuvas intensas no Vale do rio Itajaí inundaram 60 cidades, causando grande destruição, em Blumenau e Ilhota. A Norte Sul enviou uma força-tarefa com 4 equipamentos sob o comando de 1 engenheiro, que ficou 3 meses atuando na recuperação da maioria das cidades atingidas.</a:t>
            </a:r>
            <a:endParaRPr lang="en-US" sz="1700" dirty="0"/>
          </a:p>
        </p:txBody>
      </p:sp>
      <p:sp>
        <p:nvSpPr>
          <p:cNvPr id="12" name="Shape 8"/>
          <p:cNvSpPr/>
          <p:nvPr/>
        </p:nvSpPr>
        <p:spPr>
          <a:xfrm>
            <a:off x="6400800" y="1972524"/>
            <a:ext cx="5166360" cy="3461591"/>
          </a:xfrm>
          <a:prstGeom prst="roundRect">
            <a:avLst>
              <a:gd name="adj" fmla="val 2642"/>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itajai.jpg">    </p:cNvPr>
          <p:cNvPicPr>
            <a:picLocks noChangeAspect="1"/>
          </p:cNvPicPr>
          <p:nvPr/>
        </p:nvPicPr>
        <p:blipFill>
          <a:blip r:embed="rId3"/>
          <a:stretch>
            <a:fillRect/>
          </a:stretch>
        </p:blipFill>
        <p:spPr>
          <a:xfrm>
            <a:off x="6509978" y="2045676"/>
            <a:ext cx="4948004" cy="33152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Contratos de “Córrego Limpo” – SABESP</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06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2008</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A partir de 2008, a Sabesp em conjunto com a PMSP, com apoio da Diretoria de Hidrojato e Vácuo da ABEMI, desenvolveu e contratou os serviços de diagnóstico dos pontos de extravasamento do sistema de esgoto para os corpos d’água, de modo a diminuir a poluição, juntando num mesmo contrato a experiência positiva de integração dos serviços operacionais com os serviços de engenharia.</a:t>
            </a:r>
            <a:endParaRPr lang="en-US" sz="1700" dirty="0"/>
          </a:p>
        </p:txBody>
      </p:sp>
      <p:sp>
        <p:nvSpPr>
          <p:cNvPr id="12" name="Shape 8"/>
          <p:cNvSpPr/>
          <p:nvPr/>
        </p:nvSpPr>
        <p:spPr>
          <a:xfrm>
            <a:off x="7497558" y="1417320"/>
            <a:ext cx="2972843" cy="2392210"/>
          </a:xfrm>
          <a:prstGeom prst="roundRect">
            <a:avLst>
              <a:gd name="adj" fmla="val 3822"/>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corrego1.jpg">    </p:cNvPr>
          <p:cNvPicPr>
            <a:picLocks noChangeAspect="1"/>
          </p:cNvPicPr>
          <p:nvPr/>
        </p:nvPicPr>
        <p:blipFill>
          <a:blip r:embed="rId3"/>
          <a:stretch>
            <a:fillRect/>
          </a:stretch>
        </p:blipFill>
        <p:spPr>
          <a:xfrm>
            <a:off x="7588466" y="1490472"/>
            <a:ext cx="2791029" cy="2245906"/>
          </a:xfrm>
          <a:prstGeom prst="rect">
            <a:avLst/>
          </a:prstGeom>
        </p:spPr>
      </p:pic>
      <p:sp>
        <p:nvSpPr>
          <p:cNvPr id="14" name="Shape 9"/>
          <p:cNvSpPr/>
          <p:nvPr/>
        </p:nvSpPr>
        <p:spPr>
          <a:xfrm>
            <a:off x="7497558" y="3992410"/>
            <a:ext cx="2972843" cy="1996910"/>
          </a:xfrm>
          <a:prstGeom prst="roundRect">
            <a:avLst>
              <a:gd name="adj" fmla="val 4579"/>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corrego2.jpg">    </p:cNvPr>
          <p:cNvPicPr>
            <a:picLocks noChangeAspect="1"/>
          </p:cNvPicPr>
          <p:nvPr/>
        </p:nvPicPr>
        <p:blipFill>
          <a:blip r:embed="rId4"/>
          <a:stretch>
            <a:fillRect/>
          </a:stretch>
        </p:blipFill>
        <p:spPr>
          <a:xfrm>
            <a:off x="7606461" y="4065562"/>
            <a:ext cx="2755038" cy="18506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400" b="1" dirty="0">
                <a:solidFill>
                  <a:srgbClr val="0A3377"/>
                </a:solidFill>
              </a:rPr>
              <a:t>Atendimento de enchente no Jardim Romano (Pantanal) – PMSP</a:t>
            </a:r>
            <a:endParaRPr lang="en-US" sz="24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07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2009 / 2010</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Entre novembro de 2009 e março de 2010, chuvas intensas nas cabeceiras do rio Tietê inundaram o Jardim Romano, conhecido por Pantanal, ocupação com moradias na várzea do rio, penalizando uma população de 10.000 pessoas. A partir de dezembro, a Norte Sul deslocou equipamentos de limpeza e bombas, permitindo condições mínimas de circulação de pessoas.</a:t>
            </a:r>
            <a:endParaRPr lang="en-US" sz="1700" dirty="0"/>
          </a:p>
        </p:txBody>
      </p:sp>
      <p:sp>
        <p:nvSpPr>
          <p:cNvPr id="12" name="Shape 8"/>
          <p:cNvSpPr/>
          <p:nvPr/>
        </p:nvSpPr>
        <p:spPr>
          <a:xfrm>
            <a:off x="6400800" y="2066649"/>
            <a:ext cx="5166360" cy="3273343"/>
          </a:xfrm>
          <a:prstGeom prst="roundRect">
            <a:avLst>
              <a:gd name="adj" fmla="val 2793"/>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romano.jpg">    </p:cNvPr>
          <p:cNvPicPr>
            <a:picLocks noChangeAspect="1"/>
          </p:cNvPicPr>
          <p:nvPr/>
        </p:nvPicPr>
        <p:blipFill>
          <a:blip r:embed="rId3"/>
          <a:stretch>
            <a:fillRect/>
          </a:stretch>
        </p:blipFill>
        <p:spPr>
          <a:xfrm>
            <a:off x="6516257" y="2139801"/>
            <a:ext cx="4935446" cy="312703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100" b="1" dirty="0">
                <a:solidFill>
                  <a:srgbClr val="0A3377"/>
                </a:solidFill>
              </a:rPr>
              <a:t>Contrato de “Performance” para Desobstrução de rede de esgotos – SABESP</a:t>
            </a:r>
            <a:endParaRPr lang="en-US" sz="21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08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2010</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500" dirty="0">
                <a:solidFill>
                  <a:srgbClr val="0A3377"/>
                </a:solidFill>
              </a:rPr>
              <a:t>Em 2010, a Sabesp sofria com crescimento geométrico das obstruções nas redes de esgotos; com apoio da Diretoria de Hidrojato e Vácuo da ABEMI, a Sabesp desenvolveu modelagem inovadora, através de contratos de performance, para os serviços de desobstrução das redes coletoras de esgoto, associando os serviços de diagnóstico, prognóstico, televisionamento, intervenções pontuais e lavagens preventivas, à diminuição das obstruções, resultando em grande diminuição da quantidade de desobstruções, invertendo a curva ascendente. Tal modelo foi estendido para outros contratos de manutenção (“globais”), cujo conceito de “ganha-ganha” acabou sendo desvirtuado para “soma zero”, beneficiando apenas a Sabesp, em detrimento das contratadas.</a:t>
            </a:r>
            <a:endParaRPr lang="en-US" sz="1500" dirty="0"/>
          </a:p>
        </p:txBody>
      </p:sp>
      <p:sp>
        <p:nvSpPr>
          <p:cNvPr id="12" name="Shape 8"/>
          <p:cNvSpPr/>
          <p:nvPr/>
        </p:nvSpPr>
        <p:spPr>
          <a:xfrm>
            <a:off x="7121588" y="1417320"/>
            <a:ext cx="3724784" cy="2294948"/>
          </a:xfrm>
          <a:prstGeom prst="roundRect">
            <a:avLst>
              <a:gd name="adj" fmla="val 398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perf1.jpg">    </p:cNvPr>
          <p:cNvPicPr>
            <a:picLocks noChangeAspect="1"/>
          </p:cNvPicPr>
          <p:nvPr/>
        </p:nvPicPr>
        <p:blipFill>
          <a:blip r:embed="rId3"/>
          <a:stretch>
            <a:fillRect/>
          </a:stretch>
        </p:blipFill>
        <p:spPr>
          <a:xfrm>
            <a:off x="7240316" y="1490472"/>
            <a:ext cx="3487328" cy="2148644"/>
          </a:xfrm>
          <a:prstGeom prst="rect">
            <a:avLst/>
          </a:prstGeom>
        </p:spPr>
      </p:pic>
      <p:sp>
        <p:nvSpPr>
          <p:cNvPr id="14" name="Shape 9"/>
          <p:cNvSpPr/>
          <p:nvPr/>
        </p:nvSpPr>
        <p:spPr>
          <a:xfrm>
            <a:off x="7121588" y="3895148"/>
            <a:ext cx="3724784" cy="2094172"/>
          </a:xfrm>
          <a:prstGeom prst="roundRect">
            <a:avLst>
              <a:gd name="adj" fmla="val 4366"/>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perf2.jpg">    </p:cNvPr>
          <p:cNvPicPr>
            <a:picLocks noChangeAspect="1"/>
          </p:cNvPicPr>
          <p:nvPr/>
        </p:nvPicPr>
        <p:blipFill>
          <a:blip r:embed="rId4"/>
          <a:stretch>
            <a:fillRect/>
          </a:stretch>
        </p:blipFill>
        <p:spPr>
          <a:xfrm>
            <a:off x="7251699" y="3968300"/>
            <a:ext cx="3464562" cy="194786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400" b="1" dirty="0">
                <a:solidFill>
                  <a:srgbClr val="0A3377"/>
                </a:solidFill>
              </a:rPr>
              <a:t>Desassoreamento do Interceptor Oceânico – Rio de Janeiro</a:t>
            </a:r>
            <a:endParaRPr lang="en-US" sz="24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09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2016</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2016, a CEDAE ficou pressionada a diminuir a poluição da baía da Guanabara, onde transcorreriam as competições aquáticas da Olimpíada do Rio de Janeiro, devido ao extravasamento de esgoto em virtude do assoreamento do Interceptor Oceânico. A Norte Sul efetuou o desassoreamento com o equipamento “Limpeza Total”, em 2 períodos, tanto na parte 1 (centro até Botafogo) como 2 (Leme até Ipanema).</a:t>
            </a:r>
            <a:endParaRPr lang="en-US" sz="1700" dirty="0"/>
          </a:p>
        </p:txBody>
      </p:sp>
      <p:sp>
        <p:nvSpPr>
          <p:cNvPr id="12" name="Shape 8"/>
          <p:cNvSpPr/>
          <p:nvPr/>
        </p:nvSpPr>
        <p:spPr>
          <a:xfrm>
            <a:off x="6400800" y="1592692"/>
            <a:ext cx="5166360" cy="3873785"/>
          </a:xfrm>
          <a:prstGeom prst="roundRect">
            <a:avLst>
              <a:gd name="adj" fmla="val 2360"/>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rio.jpg">    </p:cNvPr>
          <p:cNvPicPr>
            <a:picLocks noChangeAspect="1"/>
          </p:cNvPicPr>
          <p:nvPr/>
        </p:nvPicPr>
        <p:blipFill>
          <a:blip r:embed="rId3"/>
          <a:stretch>
            <a:fillRect/>
          </a:stretch>
        </p:blipFill>
        <p:spPr>
          <a:xfrm>
            <a:off x="6498361" y="1665844"/>
            <a:ext cx="4971238" cy="3727481"/>
          </a:xfrm>
          <a:prstGeom prst="rect">
            <a:avLst/>
          </a:prstGeom>
        </p:spPr>
      </p:pic>
      <p:sp>
        <p:nvSpPr>
          <p:cNvPr id="14" name="Text 9"/>
          <p:cNvSpPr txBox="1"/>
          <p:nvPr/>
        </p:nvSpPr>
        <p:spPr>
          <a:xfrm>
            <a:off x="6400800" y="5539628"/>
            <a:ext cx="5166360" cy="274320"/>
          </a:xfrm>
          <a:prstGeom prst="rect">
            <a:avLst/>
          </a:prstGeom>
          <a:noFill/>
          <a:ln/>
        </p:spPr>
        <p:txBody>
          <a:bodyPr wrap="square" lIns="0" tIns="0" rIns="0" bIns="0" rtlCol="0" anchor="ctr"/>
          <a:lstStyle/>
          <a:p>
            <a:pPr algn="ctr" indent="0" marL="0">
              <a:buNone/>
            </a:pPr>
            <a:r>
              <a:rPr lang="en-US" sz="1000" i="1" dirty="0">
                <a:solidFill>
                  <a:srgbClr val="5B6B88"/>
                </a:solidFill>
              </a:rPr>
              <a:t>Botafogo, Rio de Janeiro</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400" b="1" dirty="0">
                <a:solidFill>
                  <a:srgbClr val="0A3377"/>
                </a:solidFill>
              </a:rPr>
              <a:t>Desassoreamento de Interceptor da Lagoa da Pampulha – BH</a:t>
            </a:r>
            <a:endParaRPr lang="en-US" sz="24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10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2018</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meados de 2018, o interceptor que circula a lagoa da Pampulha, local simbólico de Belo Horizonte entrou em colapso, pressionando a Copasa que contratou a Norte Sul para o desassoreamento do interceptor, com o equipamento “Limpeza Total”, restabelecendo a operação.</a:t>
            </a:r>
            <a:endParaRPr lang="en-US" sz="1700" dirty="0"/>
          </a:p>
        </p:txBody>
      </p:sp>
      <p:sp>
        <p:nvSpPr>
          <p:cNvPr id="12" name="Shape 8"/>
          <p:cNvSpPr/>
          <p:nvPr/>
        </p:nvSpPr>
        <p:spPr>
          <a:xfrm>
            <a:off x="6400800" y="1807464"/>
            <a:ext cx="5166360" cy="3444240"/>
          </a:xfrm>
          <a:prstGeom prst="roundRect">
            <a:avLst>
              <a:gd name="adj" fmla="val 2655"/>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pampulha.jpg">    </p:cNvPr>
          <p:cNvPicPr>
            <a:picLocks noChangeAspect="1"/>
          </p:cNvPicPr>
          <p:nvPr/>
        </p:nvPicPr>
        <p:blipFill>
          <a:blip r:embed="rId3"/>
          <a:stretch>
            <a:fillRect/>
          </a:stretch>
        </p:blipFill>
        <p:spPr>
          <a:xfrm>
            <a:off x="6510528" y="1880616"/>
            <a:ext cx="4946904" cy="3297936"/>
          </a:xfrm>
          <a:prstGeom prst="rect">
            <a:avLst/>
          </a:prstGeom>
        </p:spPr>
      </p:pic>
      <p:sp>
        <p:nvSpPr>
          <p:cNvPr id="14" name="Text 9"/>
          <p:cNvSpPr txBox="1"/>
          <p:nvPr/>
        </p:nvSpPr>
        <p:spPr>
          <a:xfrm>
            <a:off x="6400800" y="5324856"/>
            <a:ext cx="5166360" cy="274320"/>
          </a:xfrm>
          <a:prstGeom prst="rect">
            <a:avLst/>
          </a:prstGeom>
          <a:noFill/>
          <a:ln/>
        </p:spPr>
        <p:txBody>
          <a:bodyPr wrap="square" lIns="0" tIns="0" rIns="0" bIns="0" rtlCol="0" anchor="ctr"/>
          <a:lstStyle/>
          <a:p>
            <a:pPr algn="ctr" indent="0" marL="0">
              <a:buNone/>
            </a:pPr>
            <a:r>
              <a:rPr lang="en-US" sz="1000" i="1" dirty="0">
                <a:solidFill>
                  <a:srgbClr val="5B6B88"/>
                </a:solidFill>
              </a:rPr>
              <a:t>Lagoa da Pampulha, Belo Horizonte</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Reciclagem de resíduos sólidos - PMSP</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11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2024</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2024, com o esgotamento da capacidade de recebimento de resíduos dos aterros sanitários, a Norte Sul desenvolveu um projeto pioneiro de reciclagem dos resíduos coletados do sistema de drenagem, destinando o material constituído de areia e pedriscos, após cloração, para utilização como areia para construções não estruturais, como sub-base de asfalto. Tal projeto está em fase de desenvolvimento de escala industrial.</a:t>
            </a:r>
            <a:endParaRPr lang="en-US" sz="1700" dirty="0"/>
          </a:p>
        </p:txBody>
      </p:sp>
      <p:sp>
        <p:nvSpPr>
          <p:cNvPr id="12" name="Shape 8"/>
          <p:cNvSpPr/>
          <p:nvPr/>
        </p:nvSpPr>
        <p:spPr>
          <a:xfrm>
            <a:off x="7332325" y="1417320"/>
            <a:ext cx="3303310" cy="2064569"/>
          </a:xfrm>
          <a:prstGeom prst="roundRect">
            <a:avLst>
              <a:gd name="adj" fmla="val 4429"/>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recic1.jpg">    </p:cNvPr>
          <p:cNvPicPr>
            <a:picLocks noChangeAspect="1"/>
          </p:cNvPicPr>
          <p:nvPr/>
        </p:nvPicPr>
        <p:blipFill>
          <a:blip r:embed="rId3"/>
          <a:stretch>
            <a:fillRect/>
          </a:stretch>
        </p:blipFill>
        <p:spPr>
          <a:xfrm>
            <a:off x="7449368" y="1490472"/>
            <a:ext cx="3069223" cy="1918265"/>
          </a:xfrm>
          <a:prstGeom prst="rect">
            <a:avLst/>
          </a:prstGeom>
        </p:spPr>
      </p:pic>
      <p:sp>
        <p:nvSpPr>
          <p:cNvPr id="14" name="Shape 9"/>
          <p:cNvSpPr/>
          <p:nvPr/>
        </p:nvSpPr>
        <p:spPr>
          <a:xfrm>
            <a:off x="7332325" y="3664769"/>
            <a:ext cx="3303310" cy="2324551"/>
          </a:xfrm>
          <a:prstGeom prst="roundRect">
            <a:avLst>
              <a:gd name="adj" fmla="val 393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recic2.jpg">    </p:cNvPr>
          <p:cNvPicPr>
            <a:picLocks noChangeAspect="1"/>
          </p:cNvPicPr>
          <p:nvPr/>
        </p:nvPicPr>
        <p:blipFill>
          <a:blip r:embed="rId4"/>
          <a:stretch>
            <a:fillRect/>
          </a:stretch>
        </p:blipFill>
        <p:spPr>
          <a:xfrm>
            <a:off x="7436278" y="3737921"/>
            <a:ext cx="3095404" cy="21782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6FB"/>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822960"/>
          </a:xfrm>
          <a:prstGeom prst="rect">
            <a:avLst/>
          </a:prstGeom>
          <a:noFill/>
          <a:ln/>
        </p:spPr>
        <p:txBody>
          <a:bodyPr wrap="square" lIns="0" tIns="0" rIns="0" bIns="0" rtlCol="0" anchor="t"/>
          <a:lstStyle/>
          <a:p>
            <a:pPr indent="0" marL="0">
              <a:buNone/>
            </a:pPr>
            <a:r>
              <a:rPr lang="en-US" sz="2600" b="1" dirty="0">
                <a:solidFill>
                  <a:srgbClr val="0A3377"/>
                </a:solidFill>
              </a:rPr>
              <a:t>Desassoreamento de Interceptor – Belém / PA</a:t>
            </a:r>
            <a:endParaRPr lang="en-US" sz="2600" dirty="0"/>
          </a:p>
        </p:txBody>
      </p:sp>
      <p:sp>
        <p:nvSpPr>
          <p:cNvPr id="3" name="Text 1"/>
          <p:cNvSpPr txBox="1"/>
          <p:nvPr/>
        </p:nvSpPr>
        <p:spPr>
          <a:xfrm>
            <a:off x="640080" y="411480"/>
            <a:ext cx="7315200" cy="228600"/>
          </a:xfrm>
          <a:prstGeom prst="rect">
            <a:avLst/>
          </a:prstGeom>
          <a:noFill/>
          <a:ln/>
        </p:spPr>
        <p:txBody>
          <a:bodyPr wrap="square" lIns="0" tIns="0" rIns="0" bIns="0" rtlCol="0" anchor="ctr"/>
          <a:lstStyle/>
          <a:p>
            <a:pPr indent="0" marL="0">
              <a:buNone/>
            </a:pPr>
            <a:r>
              <a:rPr lang="en-US" sz="900" b="1" spc="300" kern="0" dirty="0">
                <a:solidFill>
                  <a:srgbClr val="38D4FF"/>
                </a:solidFill>
              </a:rPr>
              <a:t>PROJETO 12 DE 12</a:t>
            </a:r>
            <a:endParaRPr lang="en-US" sz="900" dirty="0"/>
          </a:p>
        </p:txBody>
      </p:sp>
      <p:sp>
        <p:nvSpPr>
          <p:cNvPr id="4" name="Shape 2"/>
          <p:cNvSpPr/>
          <p:nvPr/>
        </p:nvSpPr>
        <p:spPr>
          <a:xfrm>
            <a:off x="0" y="6291072"/>
            <a:ext cx="12191695" cy="566928"/>
          </a:xfrm>
          <a:prstGeom prst="rect">
            <a:avLst/>
          </a:prstGeom>
          <a:solidFill>
            <a:srgbClr val="FFFFFF"/>
          </a:solidFill>
          <a:ln w="9525">
            <a:solidFill>
              <a:srgbClr val="C9D6EA"/>
            </a:solidFill>
            <a:prstDash val="solid"/>
          </a:ln>
        </p:spPr>
      </p:sp>
      <p:pic>
        <p:nvPicPr>
          <p:cNvPr id="5" name="Image 0" descr="/tmp/claude-0/-home-user-norte-sul-portfolio/b828416d-028b-56b8-943d-a9bc67fc20c3/scratchpad/pptx_out/logo_met.png">    </p:cNvPr>
          <p:cNvPicPr>
            <a:picLocks noChangeAspect="1"/>
          </p:cNvPicPr>
          <p:nvPr/>
        </p:nvPicPr>
        <p:blipFill>
          <a:blip r:embed="rId1"/>
          <a:stretch>
            <a:fillRect/>
          </a:stretch>
        </p:blipFill>
        <p:spPr>
          <a:xfrm>
            <a:off x="502920" y="6382512"/>
            <a:ext cx="548640" cy="384048"/>
          </a:xfrm>
          <a:prstGeom prst="rect">
            <a:avLst/>
          </a:prstGeom>
        </p:spPr>
      </p:pic>
      <p:sp>
        <p:nvSpPr>
          <p:cNvPr id="6" name="Shape 3"/>
          <p:cNvSpPr/>
          <p:nvPr/>
        </p:nvSpPr>
        <p:spPr>
          <a:xfrm>
            <a:off x="1188720" y="6419088"/>
            <a:ext cx="0" cy="310896"/>
          </a:xfrm>
          <a:prstGeom prst="line">
            <a:avLst/>
          </a:prstGeom>
          <a:noFill/>
          <a:ln w="9525">
            <a:solidFill>
              <a:srgbClr val="C9D6EA"/>
            </a:solidFill>
            <a:prstDash val="solid"/>
          </a:ln>
        </p:spPr>
      </p:sp>
      <p:pic>
        <p:nvPicPr>
          <p:cNvPr id="7" name="Image 1" descr="/tmp/claude-0/-home-user-norte-sul-portfolio/b828416d-028b-56b8-943d-a9bc67fc20c3/scratchpad/pptx_out/logo_ns.png">    </p:cNvPr>
          <p:cNvPicPr>
            <a:picLocks noChangeAspect="1"/>
          </p:cNvPicPr>
          <p:nvPr/>
        </p:nvPicPr>
        <p:blipFill>
          <a:blip r:embed="rId2"/>
          <a:stretch>
            <a:fillRect/>
          </a:stretch>
        </p:blipFill>
        <p:spPr>
          <a:xfrm>
            <a:off x="1325880" y="6382512"/>
            <a:ext cx="610819" cy="384048"/>
          </a:xfrm>
          <a:prstGeom prst="rect">
            <a:avLst/>
          </a:prstGeom>
        </p:spPr>
      </p:pic>
      <p:sp>
        <p:nvSpPr>
          <p:cNvPr id="8" name="Text 4"/>
          <p:cNvSpPr txBox="1"/>
          <p:nvPr/>
        </p:nvSpPr>
        <p:spPr>
          <a:xfrm>
            <a:off x="9265615" y="6364224"/>
            <a:ext cx="2423160" cy="420624"/>
          </a:xfrm>
          <a:prstGeom prst="rect">
            <a:avLst/>
          </a:prstGeom>
          <a:noFill/>
          <a:ln/>
        </p:spPr>
        <p:txBody>
          <a:bodyPr wrap="square" lIns="0" tIns="0" rIns="0" bIns="0" rtlCol="0" anchor="ctr"/>
          <a:lstStyle/>
          <a:p>
            <a:pPr algn="r" indent="0" marL="0">
              <a:buNone/>
            </a:pPr>
            <a:r>
              <a:rPr lang="en-US" sz="1000" b="1" dirty="0">
                <a:solidFill>
                  <a:srgbClr val="0A3377"/>
                </a:solidFill>
              </a:rPr>
              <a:t>Principais Projetos</a:t>
            </a:r>
            <a:endParaRPr lang="en-US" sz="1000" dirty="0"/>
          </a:p>
          <a:p>
            <a:pPr algn="r" indent="0" marL="0">
              <a:buNone/>
            </a:pPr>
            <a:r>
              <a:rPr lang="en-US" sz="800" dirty="0">
                <a:solidFill>
                  <a:srgbClr val="5B6B88"/>
                </a:solidFill>
              </a:rPr>
              <a:t>www.nortesultec.com.br</a:t>
            </a:r>
            <a:endParaRPr lang="en-US" sz="1000" dirty="0"/>
          </a:p>
        </p:txBody>
      </p:sp>
      <p:sp>
        <p:nvSpPr>
          <p:cNvPr id="9" name="Text 5"/>
          <p:cNvSpPr txBox="1"/>
          <p:nvPr/>
        </p:nvSpPr>
        <p:spPr>
          <a:xfrm>
            <a:off x="640080" y="1463040"/>
            <a:ext cx="5394960" cy="548640"/>
          </a:xfrm>
          <a:prstGeom prst="rect">
            <a:avLst/>
          </a:prstGeom>
          <a:noFill/>
          <a:ln/>
        </p:spPr>
        <p:txBody>
          <a:bodyPr wrap="square" lIns="0" tIns="0" rIns="0" bIns="0" rtlCol="0" anchor="ctr"/>
          <a:lstStyle/>
          <a:p>
            <a:pPr indent="0" marL="0">
              <a:buNone/>
            </a:pPr>
            <a:r>
              <a:rPr lang="en-US" sz="3000" b="1" dirty="0">
                <a:solidFill>
                  <a:srgbClr val="38D4FF"/>
                </a:solidFill>
              </a:rPr>
              <a:t>2025</a:t>
            </a:r>
            <a:endParaRPr lang="en-US" sz="3000" dirty="0"/>
          </a:p>
        </p:txBody>
      </p:sp>
      <p:sp>
        <p:nvSpPr>
          <p:cNvPr id="10" name="Shape 6"/>
          <p:cNvSpPr/>
          <p:nvPr/>
        </p:nvSpPr>
        <p:spPr>
          <a:xfrm>
            <a:off x="640080" y="2103120"/>
            <a:ext cx="822960" cy="45720"/>
          </a:xfrm>
          <a:prstGeom prst="rect">
            <a:avLst/>
          </a:prstGeom>
          <a:solidFill>
            <a:srgbClr val="0A3377"/>
          </a:solidFill>
          <a:ln w="12700">
            <a:solidFill>
              <a:srgbClr val="0A3377"/>
            </a:solidFill>
            <a:prstDash val="solid"/>
          </a:ln>
        </p:spPr>
      </p:sp>
      <p:sp>
        <p:nvSpPr>
          <p:cNvPr id="11" name="Text 7"/>
          <p:cNvSpPr txBox="1"/>
          <p:nvPr/>
        </p:nvSpPr>
        <p:spPr>
          <a:xfrm>
            <a:off x="640080" y="2331720"/>
            <a:ext cx="5394960" cy="3703320"/>
          </a:xfrm>
          <a:prstGeom prst="rect">
            <a:avLst/>
          </a:prstGeom>
          <a:noFill/>
          <a:ln/>
        </p:spPr>
        <p:txBody>
          <a:bodyPr wrap="square" lIns="0" tIns="0" rIns="0" bIns="0" rtlCol="0" anchor="t"/>
          <a:lstStyle/>
          <a:p>
            <a:pPr indent="0" marL="0">
              <a:lnSpc>
                <a:spcPct val="112000"/>
              </a:lnSpc>
              <a:buNone/>
            </a:pPr>
            <a:r>
              <a:rPr lang="en-US" sz="1700" dirty="0">
                <a:solidFill>
                  <a:srgbClr val="0A3377"/>
                </a:solidFill>
              </a:rPr>
              <a:t>Em 2025, com a proximidade da COP 30, a AEGEA ficou pressionada a restabelecer o funcionamento do interceptor principal da cidade, tendo contratado a Norte Sul para a execução do desassoreamento e inspeção com sonar do trecho de 3,8 km.</a:t>
            </a:r>
            <a:endParaRPr lang="en-US" sz="1700" dirty="0"/>
          </a:p>
        </p:txBody>
      </p:sp>
      <p:sp>
        <p:nvSpPr>
          <p:cNvPr id="12" name="Shape 8"/>
          <p:cNvSpPr/>
          <p:nvPr/>
        </p:nvSpPr>
        <p:spPr>
          <a:xfrm>
            <a:off x="7428697" y="1417320"/>
            <a:ext cx="3110566" cy="3075050"/>
          </a:xfrm>
          <a:prstGeom prst="roundRect">
            <a:avLst>
              <a:gd name="adj" fmla="val 2974"/>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3" name="Image 2" descr="/tmp/claude-0/-home-user-norte-sul-portfolio/b828416d-028b-56b8-943d-a9bc67fc20c3/scratchpad/pptx_out/pj/belem1.jpg">    </p:cNvPr>
          <p:cNvPicPr>
            <a:picLocks noChangeAspect="1"/>
          </p:cNvPicPr>
          <p:nvPr/>
        </p:nvPicPr>
        <p:blipFill>
          <a:blip r:embed="rId3"/>
          <a:stretch>
            <a:fillRect/>
          </a:stretch>
        </p:blipFill>
        <p:spPr>
          <a:xfrm>
            <a:off x="7502694" y="1490472"/>
            <a:ext cx="2962572" cy="2928746"/>
          </a:xfrm>
          <a:prstGeom prst="rect">
            <a:avLst/>
          </a:prstGeom>
        </p:spPr>
      </p:pic>
      <p:sp>
        <p:nvSpPr>
          <p:cNvPr id="14" name="Shape 9"/>
          <p:cNvSpPr/>
          <p:nvPr/>
        </p:nvSpPr>
        <p:spPr>
          <a:xfrm>
            <a:off x="7428697" y="4675250"/>
            <a:ext cx="3110566" cy="1314070"/>
          </a:xfrm>
          <a:prstGeom prst="roundRect">
            <a:avLst>
              <a:gd name="adj" fmla="val 6959"/>
            </a:avLst>
          </a:prstGeom>
          <a:solidFill>
            <a:srgbClr val="FFFFFF"/>
          </a:solidFill>
          <a:ln w="9525">
            <a:solidFill>
              <a:srgbClr val="C9D6EA"/>
            </a:solidFill>
            <a:prstDash val="solid"/>
          </a:ln>
          <a:effectLst>
            <a:outerShdw sx="100000" sy="100000" kx="0" ky="0" algn="bl" rotWithShape="0" blurRad="101600" dist="19050" dir="5400000">
              <a:srgbClr val="0A3377">
                <a:alpha val="12000"/>
              </a:srgbClr>
            </a:outerShdw>
          </a:effectLst>
        </p:spPr>
      </p:sp>
      <p:pic>
        <p:nvPicPr>
          <p:cNvPr id="15" name="Image 3" descr="/tmp/claude-0/-home-user-norte-sul-portfolio/b828416d-028b-56b8-943d-a9bc67fc20c3/scratchpad/pptx_out/pj/belem2.jpg">    </p:cNvPr>
          <p:cNvPicPr>
            <a:picLocks noChangeAspect="1"/>
          </p:cNvPicPr>
          <p:nvPr/>
        </p:nvPicPr>
        <p:blipFill>
          <a:blip r:embed="rId4"/>
          <a:stretch>
            <a:fillRect/>
          </a:stretch>
        </p:blipFill>
        <p:spPr>
          <a:xfrm>
            <a:off x="7601857" y="4748402"/>
            <a:ext cx="2764246" cy="116776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8D4FF"/>
        </a:solidFill>
      </p:bgPr>
    </p:bg>
    <p:spTree>
      <p:nvGrpSpPr>
        <p:cNvPr id="1" name=""/>
        <p:cNvGrpSpPr/>
        <p:nvPr/>
      </p:nvGrpSpPr>
      <p:grpSpPr>
        <a:xfrm>
          <a:off x="0" y="0"/>
          <a:ext cx="0" cy="0"/>
          <a:chOff x="0" y="0"/>
          <a:chExt cx="0" cy="0"/>
        </a:xfrm>
      </p:grpSpPr>
      <p:pic>
        <p:nvPicPr>
          <p:cNvPr id="2" name="Image 0" descr="/tmp/claude-0/-home-user-norte-sul-portfolio/b828416d-028b-56b8-943d-a9bc67fc20c3/scratchpad/pptx_out/logo_ns.png">    </p:cNvPr>
          <p:cNvPicPr>
            <a:picLocks noChangeAspect="1"/>
          </p:cNvPicPr>
          <p:nvPr/>
        </p:nvPicPr>
        <p:blipFill>
          <a:blip r:embed="rId1"/>
          <a:stretch>
            <a:fillRect/>
          </a:stretch>
        </p:blipFill>
        <p:spPr>
          <a:xfrm>
            <a:off x="2743200" y="2103120"/>
            <a:ext cx="3200400" cy="2011680"/>
          </a:xfrm>
          <a:prstGeom prst="rect">
            <a:avLst/>
          </a:prstGeom>
        </p:spPr>
      </p:pic>
      <p:sp>
        <p:nvSpPr>
          <p:cNvPr id="3" name="Shape 0"/>
          <p:cNvSpPr/>
          <p:nvPr/>
        </p:nvSpPr>
        <p:spPr>
          <a:xfrm>
            <a:off x="6099048" y="1920240"/>
            <a:ext cx="0" cy="2377440"/>
          </a:xfrm>
          <a:prstGeom prst="line">
            <a:avLst/>
          </a:prstGeom>
          <a:noFill/>
          <a:ln w="12700">
            <a:solidFill>
              <a:srgbClr val="0A3377"/>
            </a:solidFill>
            <a:prstDash val="solid"/>
          </a:ln>
        </p:spPr>
      </p:sp>
      <p:pic>
        <p:nvPicPr>
          <p:cNvPr id="4" name="Image 1" descr="/tmp/claude-0/-home-user-norte-sul-portfolio/b828416d-028b-56b8-943d-a9bc67fc20c3/scratchpad/pptx_out/logo_met.png">    </p:cNvPr>
          <p:cNvPicPr>
            <a:picLocks noChangeAspect="1"/>
          </p:cNvPicPr>
          <p:nvPr/>
        </p:nvPicPr>
        <p:blipFill>
          <a:blip r:embed="rId2"/>
          <a:stretch>
            <a:fillRect/>
          </a:stretch>
        </p:blipFill>
        <p:spPr>
          <a:xfrm>
            <a:off x="6492240" y="1874520"/>
            <a:ext cx="2926080" cy="2046166"/>
          </a:xfrm>
          <a:prstGeom prst="rect">
            <a:avLst/>
          </a:prstGeom>
        </p:spPr>
      </p:pic>
    </p:spTree>
  </p:cSld>
  <p:clrMapOvr>
    <a:masterClrMapping/>
  </p:clrMapOvr>
</p:sld>
</file>

<file path=ppt/theme/theme1.xml><?xml version="1.0" encoding="utf-8"?>
<a:theme xmlns:a="http://schemas.openxmlformats.org/drawingml/2006/main" name="Gestão Performance">
  <a:themeElements>
    <a:clrScheme name="Gestão Performance">
      <a:dk1>
        <a:srgbClr val="05204E"/>
      </a:dk1>
      <a:lt1>
        <a:srgbClr val="FFFFFF"/>
      </a:lt1>
      <a:dk2>
        <a:srgbClr val="0A3377"/>
      </a:dk2>
      <a:lt2>
        <a:srgbClr val="F3F6FB"/>
      </a:lt2>
      <a:accent1>
        <a:srgbClr val="38D4FF"/>
      </a:accent1>
      <a:accent2>
        <a:srgbClr val="0A3377"/>
      </a:accent2>
      <a:accent3>
        <a:srgbClr val="0E3F8C"/>
      </a:accent3>
      <a:accent4>
        <a:srgbClr val="5B6B88"/>
      </a:accent4>
      <a:accent5>
        <a:srgbClr val="CFE6FF"/>
      </a:accent5>
      <a:accent6>
        <a:srgbClr val="C9D6EA"/>
      </a:accent6>
      <a:hlink>
        <a:srgbClr val="0563C1"/>
      </a:hlink>
      <a:folHlink>
        <a:srgbClr val="954F72"/>
      </a:folHlink>
    </a:clrScheme>
    <a:fontScheme name="Gestão Performan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Norte Sul Hidrotecnologia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2026-10-20T13:15:51Z</dcterms:created>
  <dcterms:modified xsi:type="dcterms:W3CDTF">2026-10-20T13:15:51Z</dcterms:modified>
</cp:coreProperties>
</file>