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</p:sldIdLst>
  <p:notesMasterIdLst>
    <p:notesMasterId r:id="rId6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notesMaster" Target="notesMasters/notesMaster1.xml"/><Relationship Id="rId64" Type="http://schemas.openxmlformats.org/officeDocument/2006/relationships/presProps" Target="presProps.xml"/><Relationship Id="rId65" Type="http://schemas.openxmlformats.org/officeDocument/2006/relationships/viewProps" Target="viewProps.xml"/><Relationship Id="rId66" Type="http://schemas.openxmlformats.org/officeDocument/2006/relationships/theme" Target="theme/theme1.xml"/><Relationship Id="rId6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jp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jpg"/><Relationship Id="rId4" Type="http://schemas.openxmlformats.org/officeDocument/2006/relationships/image" Target="../media/image-6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jpg"/><Relationship Id="rId4" Type="http://schemas.openxmlformats.org/officeDocument/2006/relationships/image" Target="../media/image-9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jpg"/><Relationship Id="rId4" Type="http://schemas.openxmlformats.org/officeDocument/2006/relationships/image" Target="../media/image-10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jpg"/><Relationship Id="rId4" Type="http://schemas.openxmlformats.org/officeDocument/2006/relationships/image" Target="../media/image-12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jpg"/><Relationship Id="rId4" Type="http://schemas.openxmlformats.org/officeDocument/2006/relationships/image" Target="../media/image-13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jpg"/><Relationship Id="rId4" Type="http://schemas.openxmlformats.org/officeDocument/2006/relationships/image" Target="../media/image-14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jpg"/><Relationship Id="rId4" Type="http://schemas.openxmlformats.org/officeDocument/2006/relationships/image" Target="../media/image-17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jp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jpg"/><Relationship Id="rId4" Type="http://schemas.openxmlformats.org/officeDocument/2006/relationships/image" Target="../media/image-20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jpg"/><Relationship Id="rId4" Type="http://schemas.openxmlformats.org/officeDocument/2006/relationships/image" Target="../media/image-21-4.jpg"/><Relationship Id="rId5" Type="http://schemas.openxmlformats.org/officeDocument/2006/relationships/image" Target="../media/image-21-5.jpg"/><Relationship Id="rId6" Type="http://schemas.openxmlformats.org/officeDocument/2006/relationships/image" Target="../media/image-21-6.jpg"/><Relationship Id="rId7" Type="http://schemas.openxmlformats.org/officeDocument/2006/relationships/image" Target="../media/image-21-7.jpg"/><Relationship Id="rId8" Type="http://schemas.openxmlformats.org/officeDocument/2006/relationships/image" Target="../media/image-21-8.jpg"/><Relationship Id="rId9" Type="http://schemas.openxmlformats.org/officeDocument/2006/relationships/image" Target="../media/image-21-9.jp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jpg"/><Relationship Id="rId4" Type="http://schemas.openxmlformats.org/officeDocument/2006/relationships/image" Target="../media/image-22-4.jpg"/><Relationship Id="rId5" Type="http://schemas.openxmlformats.org/officeDocument/2006/relationships/image" Target="../media/image-22-5.jpg"/><Relationship Id="rId6" Type="http://schemas.openxmlformats.org/officeDocument/2006/relationships/image" Target="../media/image-22-6.jpg"/><Relationship Id="rId7" Type="http://schemas.openxmlformats.org/officeDocument/2006/relationships/image" Target="../media/image-22-7.jpg"/><Relationship Id="rId8" Type="http://schemas.openxmlformats.org/officeDocument/2006/relationships/image" Target="../media/image-22-8.jp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jpg"/><Relationship Id="rId4" Type="http://schemas.openxmlformats.org/officeDocument/2006/relationships/image" Target="../media/image-23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jpg"/><Relationship Id="rId4" Type="http://schemas.openxmlformats.org/officeDocument/2006/relationships/image" Target="../media/image-26-4.jpg"/><Relationship Id="rId5" Type="http://schemas.openxmlformats.org/officeDocument/2006/relationships/image" Target="../media/image-26-5.jpg"/><Relationship Id="rId6" Type="http://schemas.openxmlformats.org/officeDocument/2006/relationships/image" Target="../media/image-26-6.jpg"/><Relationship Id="rId7" Type="http://schemas.openxmlformats.org/officeDocument/2006/relationships/image" Target="../media/image-26-7.jpg"/><Relationship Id="rId8" Type="http://schemas.openxmlformats.org/officeDocument/2006/relationships/image" Target="../media/image-26-8.jpg"/><Relationship Id="rId9" Type="http://schemas.openxmlformats.org/officeDocument/2006/relationships/image" Target="../media/image-26-9.jp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jpg"/><Relationship Id="rId4" Type="http://schemas.openxmlformats.org/officeDocument/2006/relationships/image" Target="../media/image-27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image" Target="../media/image-28-2.jp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jpg"/><Relationship Id="rId4" Type="http://schemas.openxmlformats.org/officeDocument/2006/relationships/image" Target="../media/image-30-4.jpg"/><Relationship Id="rId5" Type="http://schemas.openxmlformats.org/officeDocument/2006/relationships/image" Target="../media/image-30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image" Target="../media/image-31-2.jp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502920"/>
            <a:ext cx="4663440" cy="5212080"/>
          </a:xfrm>
          <a:prstGeom prst="roundRect">
            <a:avLst>
              <a:gd name="adj" fmla="val 6863"/>
            </a:avLst>
          </a:prstGeom>
          <a:solidFill>
            <a:srgbClr val="0E3F8C"/>
          </a:solidFill>
          <a:ln w="12700">
            <a:solidFill>
              <a:srgbClr val="0E3F8C"/>
            </a:solidFill>
            <a:prstDash val="solid"/>
          </a:ln>
        </p:spPr>
      </p:sp>
      <p:pic>
        <p:nvPicPr>
          <p:cNvPr id="3" name="Image 0" descr="/tmp/claude-0/-home-user-norte-sul-portfolio/b828416d-028b-56b8-943d-a9bc67fc20c3/scratchpad/pptx_out/cropped/pl/capa_4.8x5.4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640080"/>
            <a:ext cx="4389120" cy="4937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822960"/>
            <a:ext cx="6035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Planejamento Estratégico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93192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6FF"/>
                </a:solidFill>
              </a:rPr>
              <a:t>2025 - 2030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4864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CFE6FF"/>
                </a:solidFill>
              </a:rPr>
              <a:t>Norte Sul Hidrotecnologia · Metropolitana Ambiental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8" name="Image 1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10" name="Image 2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Planejamento Estratégico 2025 - 2030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Linha do Tempo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4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6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Planejamento Estratégico 2025 - 2030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822960" y="3611880"/>
            <a:ext cx="10607040" cy="0"/>
          </a:xfrm>
          <a:prstGeom prst="line">
            <a:avLst/>
          </a:prstGeom>
          <a:noFill/>
          <a:ln w="38100">
            <a:solidFill>
              <a:srgbClr val="38D4FF"/>
            </a:solidFill>
            <a:prstDash val="solid"/>
            <a:tailEnd type="triangle"/>
          </a:ln>
        </p:spPr>
      </p:sp>
      <p:sp>
        <p:nvSpPr>
          <p:cNvPr id="9" name="Shape 5"/>
          <p:cNvSpPr/>
          <p:nvPr/>
        </p:nvSpPr>
        <p:spPr>
          <a:xfrm>
            <a:off x="804672" y="345643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8D4FF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60120" y="2697480"/>
            <a:ext cx="0" cy="758952"/>
          </a:xfrm>
          <a:prstGeom prst="line">
            <a:avLst/>
          </a:prstGeom>
          <a:noFill/>
          <a:ln w="12700">
            <a:solidFill>
              <a:srgbClr val="5C86C4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20040" y="14173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D4FF"/>
                </a:solidFill>
              </a:rPr>
              <a:t>1985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182880" y="1810512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Limpeza Industrial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2048256" y="345643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8D4F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203704" y="3767328"/>
            <a:ext cx="0" cy="758952"/>
          </a:xfrm>
          <a:prstGeom prst="line">
            <a:avLst/>
          </a:prstGeom>
          <a:noFill/>
          <a:ln w="12700">
            <a:solidFill>
              <a:srgbClr val="5C86C4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1563624" y="45262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D4FF"/>
                </a:solidFill>
              </a:rPr>
              <a:t>1990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1426464" y="493776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Limpeza Esgotos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291840" y="345643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8D4F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447288" y="2697480"/>
            <a:ext cx="0" cy="758952"/>
          </a:xfrm>
          <a:prstGeom prst="line">
            <a:avLst/>
          </a:prstGeom>
          <a:noFill/>
          <a:ln w="12700">
            <a:solidFill>
              <a:srgbClr val="5C86C4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2807208" y="14173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D4FF"/>
                </a:solidFill>
              </a:rPr>
              <a:t>1995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2670048" y="1810512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Limpeza Esgotos + Drenagem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4535424" y="345643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8D4F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690872" y="3767328"/>
            <a:ext cx="0" cy="758952"/>
          </a:xfrm>
          <a:prstGeom prst="line">
            <a:avLst/>
          </a:prstGeom>
          <a:noFill/>
          <a:ln w="12700">
            <a:solidFill>
              <a:srgbClr val="5C86C4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050792" y="45262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D4FF"/>
                </a:solidFill>
              </a:rPr>
              <a:t>2000</a:t>
            </a:r>
            <a:endParaRPr lang="en-US" sz="1800" dirty="0"/>
          </a:p>
        </p:txBody>
      </p:sp>
      <p:sp>
        <p:nvSpPr>
          <p:cNvPr id="24" name="Text 20"/>
          <p:cNvSpPr txBox="1"/>
          <p:nvPr/>
        </p:nvSpPr>
        <p:spPr>
          <a:xfrm>
            <a:off x="3913632" y="493776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Limpeza Esgotos + Drenagem + TV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5779008" y="345643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8D4FF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934456" y="2697480"/>
            <a:ext cx="0" cy="758952"/>
          </a:xfrm>
          <a:prstGeom prst="line">
            <a:avLst/>
          </a:prstGeom>
          <a:noFill/>
          <a:ln w="12700">
            <a:solidFill>
              <a:srgbClr val="5C86C4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5294376" y="14173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D4FF"/>
                </a:solidFill>
              </a:rPr>
              <a:t>2002</a:t>
            </a:r>
            <a:endParaRPr lang="en-US" sz="1800" dirty="0"/>
          </a:p>
        </p:txBody>
      </p:sp>
      <p:sp>
        <p:nvSpPr>
          <p:cNvPr id="28" name="Text 24"/>
          <p:cNvSpPr txBox="1"/>
          <p:nvPr/>
        </p:nvSpPr>
        <p:spPr>
          <a:xfrm>
            <a:off x="5157216" y="1810512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Limpeza Esgotos + Drenagem + Engenharia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7022592" y="3456432"/>
            <a:ext cx="310896" cy="310896"/>
          </a:xfrm>
          <a:prstGeom prst="ellipse">
            <a:avLst/>
          </a:prstGeom>
          <a:solidFill>
            <a:srgbClr val="38D4FF"/>
          </a:solidFill>
          <a:ln w="25400">
            <a:solidFill>
              <a:srgbClr val="38D4FF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7178040" y="3767328"/>
            <a:ext cx="0" cy="758952"/>
          </a:xfrm>
          <a:prstGeom prst="line">
            <a:avLst/>
          </a:prstGeom>
          <a:noFill/>
          <a:ln w="12700">
            <a:solidFill>
              <a:srgbClr val="5C86C4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6537960" y="45262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D4FF"/>
                </a:solidFill>
              </a:rPr>
              <a:t>2011</a:t>
            </a:r>
            <a:endParaRPr lang="en-US" sz="1800" dirty="0"/>
          </a:p>
        </p:txBody>
      </p:sp>
      <p:sp>
        <p:nvSpPr>
          <p:cNvPr id="32" name="Text 28"/>
          <p:cNvSpPr txBox="1"/>
          <p:nvPr/>
        </p:nvSpPr>
        <p:spPr>
          <a:xfrm>
            <a:off x="6400800" y="493776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Limpeza Esgotos + Drenagem + Engenharia Performance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8266176" y="3456432"/>
            <a:ext cx="310896" cy="310896"/>
          </a:xfrm>
          <a:prstGeom prst="ellipse">
            <a:avLst/>
          </a:prstGeom>
          <a:solidFill>
            <a:srgbClr val="38D4FF"/>
          </a:solidFill>
          <a:ln w="25400">
            <a:solidFill>
              <a:srgbClr val="38D4FF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8421624" y="2697480"/>
            <a:ext cx="0" cy="758952"/>
          </a:xfrm>
          <a:prstGeom prst="line">
            <a:avLst/>
          </a:prstGeom>
          <a:noFill/>
          <a:ln w="12700">
            <a:solidFill>
              <a:srgbClr val="5C86C4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7781544" y="14173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D4FF"/>
                </a:solidFill>
              </a:rPr>
              <a:t>2017</a:t>
            </a:r>
            <a:endParaRPr lang="en-US" sz="1800" dirty="0"/>
          </a:p>
        </p:txBody>
      </p:sp>
      <p:sp>
        <p:nvSpPr>
          <p:cNvPr id="36" name="Text 32"/>
          <p:cNvSpPr txBox="1"/>
          <p:nvPr/>
        </p:nvSpPr>
        <p:spPr>
          <a:xfrm>
            <a:off x="7644384" y="1810512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Gestão Ambiental Esgotos + Drenagem + Performance</a:t>
            </a:r>
            <a:endParaRPr lang="en-US" sz="1050" dirty="0"/>
          </a:p>
        </p:txBody>
      </p:sp>
      <p:sp>
        <p:nvSpPr>
          <p:cNvPr id="37" name="Shape 33"/>
          <p:cNvSpPr/>
          <p:nvPr/>
        </p:nvSpPr>
        <p:spPr>
          <a:xfrm>
            <a:off x="9509760" y="3456432"/>
            <a:ext cx="310896" cy="310896"/>
          </a:xfrm>
          <a:prstGeom prst="ellipse">
            <a:avLst/>
          </a:prstGeom>
          <a:solidFill>
            <a:srgbClr val="38D4FF"/>
          </a:solidFill>
          <a:ln w="25400">
            <a:solidFill>
              <a:srgbClr val="38D4FF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9665208" y="3767328"/>
            <a:ext cx="0" cy="758952"/>
          </a:xfrm>
          <a:prstGeom prst="line">
            <a:avLst/>
          </a:prstGeom>
          <a:noFill/>
          <a:ln w="12700">
            <a:solidFill>
              <a:srgbClr val="5C86C4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9025128" y="45262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D4FF"/>
                </a:solidFill>
              </a:rPr>
              <a:t>2018</a:t>
            </a:r>
            <a:endParaRPr lang="en-US" sz="1800" dirty="0"/>
          </a:p>
        </p:txBody>
      </p:sp>
      <p:sp>
        <p:nvSpPr>
          <p:cNvPr id="40" name="Text 36"/>
          <p:cNvSpPr txBox="1"/>
          <p:nvPr/>
        </p:nvSpPr>
        <p:spPr>
          <a:xfrm>
            <a:off x="8887968" y="493776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 Metropolitana Ambiental Controle de Perdas d’água</a:t>
            </a:r>
            <a:endParaRPr lang="en-US" sz="1050" dirty="0"/>
          </a:p>
        </p:txBody>
      </p:sp>
      <p:sp>
        <p:nvSpPr>
          <p:cNvPr id="41" name="Shape 37"/>
          <p:cNvSpPr/>
          <p:nvPr/>
        </p:nvSpPr>
        <p:spPr>
          <a:xfrm>
            <a:off x="10753344" y="3456432"/>
            <a:ext cx="310896" cy="310896"/>
          </a:xfrm>
          <a:prstGeom prst="ellipse">
            <a:avLst/>
          </a:prstGeom>
          <a:solidFill>
            <a:srgbClr val="38D4FF"/>
          </a:solidFill>
          <a:ln w="25400">
            <a:solidFill>
              <a:srgbClr val="38D4FF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10908792" y="2697480"/>
            <a:ext cx="0" cy="758952"/>
          </a:xfrm>
          <a:prstGeom prst="line">
            <a:avLst/>
          </a:prstGeom>
          <a:noFill/>
          <a:ln w="12700">
            <a:solidFill>
              <a:srgbClr val="5C86C4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10268712" y="14173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D4FF"/>
                </a:solidFill>
              </a:rPr>
              <a:t>2025</a:t>
            </a:r>
            <a:endParaRPr lang="en-US" sz="1800" dirty="0"/>
          </a:p>
        </p:txBody>
      </p:sp>
      <p:sp>
        <p:nvSpPr>
          <p:cNvPr id="44" name="Text 40"/>
          <p:cNvSpPr txBox="1"/>
          <p:nvPr/>
        </p:nvSpPr>
        <p:spPr>
          <a:xfrm>
            <a:off x="10131552" y="1810512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Parceria na Operação e Manutenção de Esgotos e Drenagem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377"/>
                </a:solidFill>
              </a:rPr>
              <a:t>A empresa – quem somos?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QUEM SOMOS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Planejamento Estratégico 2025 - 2030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160520" y="1371600"/>
            <a:ext cx="388620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10" name="Image 2" descr="/tmp/claude-0/-home-user-norte-sul-portfolio/b828416d-028b-56b8-943d-a9bc67fc20c3/scratchpad/pptx_out/cropped/pl/aperto_4.09x3.14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672" y="1444752"/>
            <a:ext cx="3739896" cy="2871216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1371600"/>
            <a:ext cx="3291840" cy="1417320"/>
          </a:xfrm>
          <a:prstGeom prst="roundRect">
            <a:avLst>
              <a:gd name="adj" fmla="val 6452"/>
            </a:avLst>
          </a:prstGeom>
          <a:solidFill>
            <a:srgbClr val="0A3377"/>
          </a:solidFill>
          <a:ln w="12700">
            <a:solidFill>
              <a:srgbClr val="0A3377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868680" y="1371600"/>
            <a:ext cx="2834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Nortesul Manutenção (1985/90)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640080" y="2926080"/>
            <a:ext cx="3291840" cy="1417320"/>
          </a:xfrm>
          <a:prstGeom prst="roundRect">
            <a:avLst>
              <a:gd name="adj" fmla="val 6452"/>
            </a:avLst>
          </a:prstGeom>
          <a:solidFill>
            <a:srgbClr val="0A3377"/>
          </a:solidFill>
          <a:ln w="12700">
            <a:solidFill>
              <a:srgbClr val="0A3377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868680" y="2926080"/>
            <a:ext cx="2834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Norte Sul Hidrotecnologia (1990)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8275320" y="1371600"/>
            <a:ext cx="3291840" cy="1417320"/>
          </a:xfrm>
          <a:prstGeom prst="roundRect">
            <a:avLst>
              <a:gd name="adj" fmla="val 6452"/>
            </a:avLst>
          </a:prstGeom>
          <a:solidFill>
            <a:srgbClr val="0A3377"/>
          </a:solidFill>
          <a:ln w="12700">
            <a:solidFill>
              <a:srgbClr val="0A337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8503920" y="1371600"/>
            <a:ext cx="2834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Hydrotec (1997/2024)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8275320" y="2926080"/>
            <a:ext cx="3291840" cy="1417320"/>
          </a:xfrm>
          <a:prstGeom prst="roundRect">
            <a:avLst>
              <a:gd name="adj" fmla="val 6452"/>
            </a:avLst>
          </a:prstGeom>
          <a:solidFill>
            <a:srgbClr val="0A3377"/>
          </a:solidFill>
          <a:ln w="12700">
            <a:solidFill>
              <a:srgbClr val="0A3377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8503920" y="2926080"/>
            <a:ext cx="2834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Metropolitana (2018)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640080" y="4709160"/>
            <a:ext cx="54864" cy="114300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68680" y="4709160"/>
            <a:ext cx="10698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3377"/>
                </a:solidFill>
              </a:rPr>
              <a:t>Empresas aliadas que operam integradas no ramo de operação e manutenção de sistemas operacionais urbanos de água, esgotos e drenagem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3377"/>
                </a:solidFill>
              </a:rPr>
              <a:t>Tudo começou desse jeito - 1985!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LINHA DO TEMPO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Planejamento Estratégico 2025 - 2030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3262399" y="1828800"/>
            <a:ext cx="5682442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10" name="Image 2" descr="/tmp/claude-0/-home-user-norte-sul-portfolio/b828416d-028b-56b8-943d-a9bc67fc20c3/scratchpad/pptx_out/pl/s04_3a171690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9821" y="1892808"/>
            <a:ext cx="5507597" cy="40325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3377"/>
                </a:solidFill>
              </a:rPr>
              <a:t>Primeiro (e único) equipamento - 1985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LINHA DO TEMPO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Planejamento Estratégico 2025 - 2030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2030004" y="1828800"/>
            <a:ext cx="8147232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10" name="Image 2" descr="/tmp/claude-0/-home-user-norte-sul-portfolio/b828416d-028b-56b8-943d-a9bc67fc20c3/scratchpad/pptx_out/pl/s05_c279eab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346" y="1892808"/>
            <a:ext cx="7896548" cy="40325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3377"/>
                </a:solidFill>
              </a:rPr>
              <a:t>A partir de 1988 a luta pela melhoria contínua começou a dar resultado e ficou deste jeito...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LINHA DO TEMPO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Planejamento Estratégico 2025 - 2030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2142997"/>
            <a:ext cx="5097817" cy="3532125"/>
          </a:xfrm>
          <a:prstGeom prst="roundRect">
            <a:avLst>
              <a:gd name="adj" fmla="val 2589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10" name="Image 2" descr="/tmp/claude-0/-home-user-norte-sul-portfolio/b828416d-028b-56b8-943d-a9bc67fc20c3/scratchpad/pptx_out/pl/s06_7aa79645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461" y="2207005"/>
            <a:ext cx="4913055" cy="3404109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966497" y="2142997"/>
            <a:ext cx="5600663" cy="3532125"/>
          </a:xfrm>
          <a:prstGeom prst="roundRect">
            <a:avLst>
              <a:gd name="adj" fmla="val 2589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12" name="Image 3" descr="/tmp/claude-0/-home-user-norte-sul-portfolio/b828416d-028b-56b8-943d-a9bc67fc20c3/scratchpad/pptx_out/pl/s06_afa1390e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7990" y="2207005"/>
            <a:ext cx="5397676" cy="34041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3377"/>
                </a:solidFill>
              </a:rPr>
              <a:t>Frota de 3 hidrojatos para desobstrução de esgotos - 1988!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LINHA DO TEMPO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Planejamento Estratégico 2025 - 2030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2605564" y="1828800"/>
            <a:ext cx="6996112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10" name="Image 2" descr="/tmp/claude-0/-home-user-norte-sul-portfolio/b828416d-028b-56b8-943d-a9bc67fc20c3/scratchpad/pptx_out/pl/s07_f48a27e1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3196" y="1892808"/>
            <a:ext cx="6780848" cy="40325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3377"/>
                </a:solidFill>
              </a:rPr>
              <a:t>Em 1996 o primeiro caminhão novo, combinado para serviços de drenagem na PMSP...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LINHA DO TEMPO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Planejamento Estratégico 2025 - 2030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2969136" y="1828800"/>
            <a:ext cx="6268968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10" name="Image 2" descr="/tmp/claude-0/-home-user-norte-sul-portfolio/b828416d-028b-56b8-943d-a9bc67fc20c3/scratchpad/pptx_out/pl/s08_9d3c9438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5582" y="1892808"/>
            <a:ext cx="6076076" cy="40325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LINHA DO TEMPO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Planejamento Estratégico 2025 - 2030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68580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3377"/>
                </a:solidFill>
              </a:rPr>
              <a:t>Em 2000 o primeiro canteiro em São Miguel, para serviços de drenagem na PMSP e desobstrução na Sabesp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640080" y="1920240"/>
            <a:ext cx="530352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11" name="Image 2" descr="/tmp/claude-0/-home-user-norte-sul-portfolio/b828416d-028b-56b8-943d-a9bc67fc20c3/scratchpad/pptx_out/pl/s09_c07435ed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208485"/>
            <a:ext cx="5157216" cy="344687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263640" y="68580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3377"/>
                </a:solidFill>
              </a:rPr>
              <a:t>Em 2003 novo canteiro em São Miguel, para atender contrato de microdrenagem na PMSP e desobstrução na Sabesp</a:t>
            </a:r>
            <a:endParaRPr lang="en-US" sz="1700" dirty="0"/>
          </a:p>
        </p:txBody>
      </p:sp>
      <p:sp>
        <p:nvSpPr>
          <p:cNvPr id="13" name="Shape 8"/>
          <p:cNvSpPr/>
          <p:nvPr/>
        </p:nvSpPr>
        <p:spPr>
          <a:xfrm>
            <a:off x="6263640" y="1920240"/>
            <a:ext cx="530352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14" name="Image 3" descr="/tmp/claude-0/-home-user-norte-sul-portfolio/b828416d-028b-56b8-943d-a9bc67fc20c3/scratchpad/pptx_out/pl/s09_639ce8ce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2894691"/>
            <a:ext cx="5157216" cy="207445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3377"/>
                </a:solidFill>
              </a:rPr>
              <a:t>A partir de 2002 serviços operacionais de drenagem , televisionamento e diagnóstico na PMSP passam a incorporar conteúdo de engenharia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LINHA DO TEMPO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Planejamento Estratégico 2025 - 2030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2128419"/>
            <a:ext cx="5284173" cy="3561282"/>
          </a:xfrm>
          <a:prstGeom prst="roundRect">
            <a:avLst>
              <a:gd name="adj" fmla="val 2568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10" name="Image 2" descr="/tmp/claude-0/-home-user-norte-sul-portfolio/b828416d-028b-56b8-943d-a9bc67fc20c3/scratchpad/pptx_out/pl/s10_7e01cd19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054" y="2192427"/>
            <a:ext cx="5094225" cy="3433266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152853" y="2128419"/>
            <a:ext cx="5414307" cy="3561282"/>
          </a:xfrm>
          <a:prstGeom prst="roundRect">
            <a:avLst>
              <a:gd name="adj" fmla="val 2568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12" name="Image 3" descr="/tmp/claude-0/-home-user-norte-sul-portfolio/b828416d-028b-56b8-943d-a9bc67fc20c3/scratchpad/pptx_out/pl/s10_a1a4b1f6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0166" y="2192427"/>
            <a:ext cx="5219681" cy="343326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3377"/>
                </a:solidFill>
              </a:rPr>
              <a:t>Em 2008 novo canteiro em São Miguel, para atender contrato de microdrenagem na PMSP e desobstrução na Sabesp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LINHA DO TEMPO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Planejamento Estratégico 2025 - 2030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3332403" y="1828800"/>
            <a:ext cx="5542433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10" name="Image 2" descr="/tmp/claude-0/-home-user-norte-sul-portfolio/b828416d-028b-56b8-943d-a9bc67fc20c3/scratchpad/pptx_out/pl/s11_7a0a3d91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7672" y="1892808"/>
            <a:ext cx="5371897" cy="403250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3377"/>
                </a:solidFill>
              </a:rPr>
              <a:t>O canteiro no Itaim Paulista foi adaptado para receber a administração, manutenção e veículos/equipamentos atuando em SP-ZL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LINHA DO TEMPO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Planejamento Estratégico 2025 - 2030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2018130"/>
            <a:ext cx="5025689" cy="3781860"/>
          </a:xfrm>
          <a:prstGeom prst="roundRect">
            <a:avLst>
              <a:gd name="adj" fmla="val 2418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10" name="Image 2" descr="/tmp/claude-0/-home-user-norte-sul-portfolio/b828416d-028b-56b8-943d-a9bc67fc20c3/scratchpad/pptx_out/pl/s12_1113433f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40" y="2082138"/>
            <a:ext cx="4855570" cy="365384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894369" y="2018130"/>
            <a:ext cx="5672791" cy="3781860"/>
          </a:xfrm>
          <a:prstGeom prst="roundRect">
            <a:avLst>
              <a:gd name="adj" fmla="val 2418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12" name="Image 3" descr="/tmp/claude-0/-home-user-norte-sul-portfolio/b828416d-028b-56b8-943d-a9bc67fc20c3/scratchpad/pptx_out/pl/s12_a1defbfa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0381" y="2082138"/>
            <a:ext cx="5480767" cy="365384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3377"/>
                </a:solidFill>
              </a:rPr>
              <a:t>A partir de 2010 serviços operacionais de desobstrução , televisionamento e diagnóstico na Sabesp passam a incorporar conteúdo de engenharia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LINHA DO TEMPO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Planejamento Estratégico 2025 - 2030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2405781"/>
            <a:ext cx="5349240" cy="3006558"/>
          </a:xfrm>
          <a:prstGeom prst="roundRect">
            <a:avLst>
              <a:gd name="adj" fmla="val 3041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10" name="Image 2" descr="/tmp/claude-0/-home-user-norte-sul-portfolio/b828416d-028b-56b8-943d-a9bc67fc20c3/scratchpad/pptx_out/pl/s13_d9ad7a68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962" y="2469789"/>
            <a:ext cx="5121475" cy="2878542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217920" y="2405781"/>
            <a:ext cx="5349240" cy="3006558"/>
          </a:xfrm>
          <a:prstGeom prst="roundRect">
            <a:avLst>
              <a:gd name="adj" fmla="val 3041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12" name="Image 3" descr="/tmp/claude-0/-home-user-norte-sul-portfolio/b828416d-028b-56b8-943d-a9bc67fc20c3/scratchpad/pptx_out/pl/s13_440573ad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1802" y="2469789"/>
            <a:ext cx="5121475" cy="287854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3377"/>
                </a:solidFill>
              </a:rPr>
              <a:t>A partir de 2016 os serviços operacionais de desobstrução , televisionamento e diagnóstico na Sabesp passam a incorporar conteúdo de engenharia com performance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LINHA DO TEMPO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Planejamento Estratégico 2025 - 2030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2405781"/>
            <a:ext cx="5349240" cy="3006558"/>
          </a:xfrm>
          <a:prstGeom prst="roundRect">
            <a:avLst>
              <a:gd name="adj" fmla="val 3041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10" name="Image 2" descr="/tmp/claude-0/-home-user-norte-sul-portfolio/b828416d-028b-56b8-943d-a9bc67fc20c3/scratchpad/pptx_out/pl/s14_7f521cea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962" y="2469789"/>
            <a:ext cx="5121475" cy="2878542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217920" y="2405781"/>
            <a:ext cx="5349240" cy="3006558"/>
          </a:xfrm>
          <a:prstGeom prst="roundRect">
            <a:avLst>
              <a:gd name="adj" fmla="val 3041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12" name="Image 3" descr="/tmp/claude-0/-home-user-norte-sul-portfolio/b828416d-028b-56b8-943d-a9bc67fc20c3/scratchpad/pptx_out/pl/s14_18a5b251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1802" y="2469789"/>
            <a:ext cx="5121475" cy="287854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LINHA DO TEMPO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Planejamento Estratégico 2025 - 2030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914400"/>
            <a:ext cx="10927080" cy="1463040"/>
          </a:xfrm>
          <a:prstGeom prst="roundRect">
            <a:avLst>
              <a:gd name="adj" fmla="val 7500"/>
            </a:avLst>
          </a:prstGeom>
          <a:solidFill>
            <a:srgbClr val="0E3F8C"/>
          </a:solidFill>
          <a:ln w="12700">
            <a:solidFill>
              <a:srgbClr val="0E3F8C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914400" y="91440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770"/>
              </a:spcAft>
              <a:buNone/>
            </a:pPr>
            <a:r>
              <a:rPr lang="en-US" sz="2200" b="1" dirty="0">
                <a:solidFill>
                  <a:srgbClr val="FFFFFF"/>
                </a:solidFill>
              </a:rPr>
              <a:t>Em </a:t>
            </a:r>
            <a:r>
              <a:rPr lang="en-US" sz="2200" b="1" dirty="0">
                <a:solidFill>
                  <a:srgbClr val="FFFFFF"/>
                </a:solidFill>
              </a:rPr>
              <a:t>2018 Norte Sul assume a gestão da Metropolitana Ambiental</a:t>
            </a:r>
            <a:endParaRPr lang="en-US" sz="2200" dirty="0"/>
          </a:p>
          <a:p>
            <a:pPr algn="l" indent="0" marL="0">
              <a:spcAft>
                <a:spcPts val="770"/>
              </a:spcAft>
              <a:buNone/>
            </a:pPr>
            <a:r>
              <a:rPr lang="en-US" sz="2200" b="1" dirty="0">
                <a:solidFill>
                  <a:srgbClr val="FFFFFF"/>
                </a:solidFill>
              </a:rPr>
              <a:t>com opção de compra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2697480"/>
            <a:ext cx="10424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FFFFFF"/>
                </a:solidFill>
              </a:rPr>
              <a:t>Em </a:t>
            </a:r>
            <a:r>
              <a:rPr lang="en-US" sz="2000" b="1" dirty="0">
                <a:solidFill>
                  <a:srgbClr val="FFFFFF"/>
                </a:solidFill>
              </a:rPr>
              <a:t>2020 acionistas da Norte Sul assumem controle total da Metropolitana</a:t>
            </a:r>
            <a:endParaRPr lang="en-US" sz="2000" dirty="0"/>
          </a:p>
          <a:p>
            <a:pPr algn="l" marL="177800" indent="-177800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FFFFFF"/>
                </a:solidFill>
              </a:rPr>
              <a:t>que passa a ser o braço operacional de obras de MND</a:t>
            </a:r>
            <a:endParaRPr lang="en-US" sz="2000" dirty="0"/>
          </a:p>
          <a:p>
            <a:pPr algn="l" marL="177800" indent="-177800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FFFFFF"/>
                </a:solidFill>
              </a:rPr>
              <a:t>Metropolitana </a:t>
            </a:r>
            <a:r>
              <a:rPr lang="en-US" sz="2000" b="1" dirty="0">
                <a:solidFill>
                  <a:srgbClr val="FFFFFF"/>
                </a:solidFill>
              </a:rPr>
              <a:t>passou a ocupar a unidade de Hortolândia com </a:t>
            </a:r>
            <a:r>
              <a:rPr lang="en-US" sz="2000" b="1" dirty="0">
                <a:solidFill>
                  <a:srgbClr val="FFFFFF"/>
                </a:solidFill>
              </a:rPr>
              <a:t>canteiros onde </a:t>
            </a:r>
            <a:r>
              <a:rPr lang="en-US" sz="2000" b="1" dirty="0">
                <a:solidFill>
                  <a:srgbClr val="FFFFFF"/>
                </a:solidFill>
              </a:rPr>
              <a:t>faz obras de MND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3377"/>
                </a:solidFill>
              </a:rPr>
              <a:t>Canteiro no Itaim Paulista com configuração atual (2024)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UNIDADES E CANTEIROS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Planejamento Estratégico 2025 - 2030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1371600"/>
            <a:ext cx="749808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10" name="Image 2" descr="/tmp/claude-0/-home-user-norte-sul-portfolio/b828416d-028b-56b8-943d-a9bc67fc20c3/scratchpad/pptx_out/pl/s16_ee49ec04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749226"/>
            <a:ext cx="7351776" cy="3771029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8366760" y="1371600"/>
            <a:ext cx="3200400" cy="4526280"/>
          </a:xfrm>
          <a:prstGeom prst="roundRect">
            <a:avLst>
              <a:gd name="adj" fmla="val 3429"/>
            </a:avLst>
          </a:prstGeom>
          <a:solidFill>
            <a:srgbClr val="0A3377"/>
          </a:solidFill>
          <a:ln w="12700">
            <a:solidFill>
              <a:srgbClr val="0A3377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8641080" y="1554480"/>
            <a:ext cx="2743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8D4FF"/>
                </a:solidFill>
              </a:rPr>
              <a:t>Unidades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São Paulo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Hortolândia</a:t>
            </a:r>
            <a:endParaRPr lang="en-US" sz="16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600" b="1" dirty="0">
                <a:solidFill>
                  <a:srgbClr val="38D4FF"/>
                </a:solidFill>
              </a:rPr>
              <a:t>Canteiros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Itaquera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Artur Alvim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Rio de Janeiro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Campinas (4)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Uberlândia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Goiânia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Itaquaquecetuba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Mogi das Cruzes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A3377"/>
                </a:solidFill>
              </a:rPr>
              <a:t>Canteiro Jaime Wright - 2026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UNIDADES E CANTEIROS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Planejamento Estratégico 2025 - 2030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2466777"/>
            <a:ext cx="5960564" cy="2884565"/>
          </a:xfrm>
          <a:prstGeom prst="roundRect">
            <a:avLst>
              <a:gd name="adj" fmla="val 3170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10" name="Image 2" descr="/tmp/claude-0/-home-user-norte-sul-portfolio/b828416d-028b-56b8-943d-a9bc67fc20c3/scratchpad/pptx_out/pl/s17_40892f14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344" y="2530785"/>
            <a:ext cx="5696036" cy="2756549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829244" y="2466777"/>
            <a:ext cx="4737916" cy="2884565"/>
          </a:xfrm>
          <a:prstGeom prst="roundRect">
            <a:avLst>
              <a:gd name="adj" fmla="val 3170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12" name="Image 3" descr="/tmp/claude-0/-home-user-norte-sul-portfolio/b828416d-028b-56b8-943d-a9bc67fc20c3/scratchpad/pptx_out/pl/s17_94cf6c1c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378" y="2530785"/>
            <a:ext cx="4527649" cy="275654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0A3377"/>
                </a:solidFill>
              </a:rPr>
              <a:t>Conhecer o cliente e entregar solução que resolva sua necessidade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NOSSO JEITO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Planejamento Estratégico 2025 - 2030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1371600"/>
            <a:ext cx="1092708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10" name="Image 2" descr="/tmp/claude-0/-home-user-norte-sul-portfolio/b828416d-028b-56b8-943d-a9bc67fc20c3/scratchpad/pptx_out/cropped/pl/cliente_11.79x4.79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444752"/>
            <a:ext cx="10780776" cy="437997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D4FF"/>
                </a:solidFill>
              </a:rPr>
              <a:t>FOCO DA NORTE SUL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5577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GESTÃO AMBIENTAL DA OPERAÇÃO E MANUTENÇÃO DOS SISTEMAS DE ESGOTO E DRENAGEM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0" y="548640"/>
            <a:ext cx="4983480" cy="5349240"/>
          </a:xfrm>
          <a:prstGeom prst="roundRect">
            <a:avLst>
              <a:gd name="adj" fmla="val 2202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5" name="Image 0" descr="/tmp/claude-0/-home-user-norte-sul-portfolio/b828416d-028b-56b8-943d-a9bc67fc20c3/scratchpad/pptx_out/cropped/pl/foco_ns_5.29x5.69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621792"/>
            <a:ext cx="4837176" cy="520293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9" name="Image 2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Planejamento Estratégico 2025 - 2030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377"/>
                </a:solidFill>
              </a:rPr>
              <a:t>Serviços Técnicos e de Gestão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NORTE SUL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Planejamento Estratégico 2025 - 2030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1371600"/>
            <a:ext cx="630936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10" name="Image 2" descr="/tmp/claude-0/-home-user-norte-sul-portfolio/b828416d-028b-56b8-943d-a9bc67fc20c3/scratchpad/pptx_out/cropped/pl/modelagem_6.74x4.79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444752"/>
            <a:ext cx="6163056" cy="4379976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7178040" y="1371600"/>
            <a:ext cx="4389120" cy="45262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12" name="Image 3" descr="/tmp/claude-0/-home-user-norte-sul-portfolio/b828416d-028b-56b8-943d-a9bc67fc20c3/scratchpad/pptx_out/cropped/pl/tablet_4.64x4.79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1444752"/>
            <a:ext cx="4242816" cy="437997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SERVIÇOS TÉCNICOS E DE GESTÃO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Planejamento Estratégico 2025 - 2030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777240"/>
            <a:ext cx="10927080" cy="963778"/>
          </a:xfrm>
          <a:prstGeom prst="roundRect">
            <a:avLst>
              <a:gd name="adj" fmla="val 7590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40080" y="886968"/>
            <a:ext cx="54864" cy="744322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14400" y="777240"/>
            <a:ext cx="6035040" cy="963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377"/>
                </a:solidFill>
              </a:rPr>
              <a:t>SISTEMA INFORMATIZADO DE GERENCIAMENTO DA INFRAESTRUTURA URBANA SIGIURB</a:t>
            </a:r>
            <a:endParaRPr lang="en-US" sz="1500" dirty="0"/>
          </a:p>
        </p:txBody>
      </p:sp>
      <p:pic>
        <p:nvPicPr>
          <p:cNvPr id="12" name="Image 2" descr="/tmp/claude-0/-home-user-norte-sul-portfolio/b828416d-028b-56b8-943d-a9bc67fc20c3/scratchpad/pptx_out/pl/s21_7159fce1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3117" y="868680"/>
            <a:ext cx="1622603" cy="78089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40080" y="1850746"/>
            <a:ext cx="10927080" cy="963778"/>
          </a:xfrm>
          <a:prstGeom prst="roundRect">
            <a:avLst>
              <a:gd name="adj" fmla="val 7590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640080" y="1960474"/>
            <a:ext cx="54864" cy="744322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914400" y="1850746"/>
            <a:ext cx="6035040" cy="963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377"/>
                </a:solidFill>
              </a:rPr>
              <a:t>INSPEÇÃO POR TV</a:t>
            </a:r>
            <a:endParaRPr lang="en-US" sz="1500" dirty="0"/>
          </a:p>
        </p:txBody>
      </p:sp>
      <p:pic>
        <p:nvPicPr>
          <p:cNvPr id="16" name="Image 3" descr="/tmp/claude-0/-home-user-norte-sul-portfolio/b828416d-028b-56b8-943d-a9bc67fc20c3/scratchpad/pptx_out/pl/s21_132e85d2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8295" y="1942186"/>
            <a:ext cx="1267425" cy="780898"/>
          </a:xfrm>
          <a:prstGeom prst="rect">
            <a:avLst/>
          </a:prstGeom>
        </p:spPr>
      </p:pic>
      <p:pic>
        <p:nvPicPr>
          <p:cNvPr id="17" name="Image 4" descr="/tmp/claude-0/-home-user-norte-sul-portfolio/b828416d-028b-56b8-943d-a9bc67fc20c3/scratchpad/pptx_out/pl/s21_64b60b39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3772" y="1942186"/>
            <a:ext cx="1277362" cy="780898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640080" y="2924251"/>
            <a:ext cx="10927080" cy="963778"/>
          </a:xfrm>
          <a:prstGeom prst="roundRect">
            <a:avLst>
              <a:gd name="adj" fmla="val 7590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>
            <a:off x="640080" y="3033979"/>
            <a:ext cx="54864" cy="744322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20" name="Text 13"/>
          <p:cNvSpPr txBox="1"/>
          <p:nvPr/>
        </p:nvSpPr>
        <p:spPr>
          <a:xfrm>
            <a:off x="914400" y="2924251"/>
            <a:ext cx="6035040" cy="963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377"/>
                </a:solidFill>
              </a:rPr>
              <a:t>TESTE DE FUMAÇA</a:t>
            </a:r>
            <a:endParaRPr lang="en-US" sz="1500" dirty="0"/>
          </a:p>
        </p:txBody>
      </p:sp>
      <p:pic>
        <p:nvPicPr>
          <p:cNvPr id="21" name="Image 5" descr="/tmp/claude-0/-home-user-norte-sul-portfolio/b828416d-028b-56b8-943d-a9bc67fc20c3/scratchpad/pptx_out/pl/s21_2c125b67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7411" y="3015691"/>
            <a:ext cx="1508309" cy="780898"/>
          </a:xfrm>
          <a:prstGeom prst="rect">
            <a:avLst/>
          </a:prstGeom>
        </p:spPr>
      </p:pic>
      <p:pic>
        <p:nvPicPr>
          <p:cNvPr id="22" name="Image 6" descr="/tmp/claude-0/-home-user-norte-sul-portfolio/b828416d-028b-56b8-943d-a9bc67fc20c3/scratchpad/pptx_out/pl/s21_38094f89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1919" y="3015691"/>
            <a:ext cx="978332" cy="780898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640080" y="3997757"/>
            <a:ext cx="10927080" cy="963778"/>
          </a:xfrm>
          <a:prstGeom prst="roundRect">
            <a:avLst>
              <a:gd name="adj" fmla="val 7590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4" name="Shape 15"/>
          <p:cNvSpPr/>
          <p:nvPr/>
        </p:nvSpPr>
        <p:spPr>
          <a:xfrm>
            <a:off x="640080" y="4107485"/>
            <a:ext cx="54864" cy="744322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25" name="Text 16"/>
          <p:cNvSpPr txBox="1"/>
          <p:nvPr/>
        </p:nvSpPr>
        <p:spPr>
          <a:xfrm>
            <a:off x="914400" y="3997757"/>
            <a:ext cx="6035040" cy="963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377"/>
                </a:solidFill>
              </a:rPr>
              <a:t>DIAGNÓSTICO E PROGNÓSTICO</a:t>
            </a:r>
            <a:endParaRPr lang="en-US" sz="1500" dirty="0"/>
          </a:p>
        </p:txBody>
      </p:sp>
      <p:pic>
        <p:nvPicPr>
          <p:cNvPr id="26" name="Image 7" descr="/tmp/claude-0/-home-user-norte-sul-portfolio/b828416d-028b-56b8-943d-a9bc67fc20c3/scratchpad/pptx_out/pl/s21_d6543b2b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60405" y="4089197"/>
            <a:ext cx="615315" cy="780898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640080" y="5071262"/>
            <a:ext cx="10927080" cy="963778"/>
          </a:xfrm>
          <a:prstGeom prst="roundRect">
            <a:avLst>
              <a:gd name="adj" fmla="val 7590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8" name="Shape 18"/>
          <p:cNvSpPr/>
          <p:nvPr/>
        </p:nvSpPr>
        <p:spPr>
          <a:xfrm>
            <a:off x="640080" y="5180990"/>
            <a:ext cx="54864" cy="744322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29" name="Text 19"/>
          <p:cNvSpPr txBox="1"/>
          <p:nvPr/>
        </p:nvSpPr>
        <p:spPr>
          <a:xfrm>
            <a:off x="914400" y="5071262"/>
            <a:ext cx="6035040" cy="963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377"/>
                </a:solidFill>
              </a:rPr>
              <a:t>CONTROLE POLUIÇÃO E AUMENTO DA RECEITA</a:t>
            </a:r>
            <a:endParaRPr lang="en-US" sz="1500" dirty="0"/>
          </a:p>
        </p:txBody>
      </p:sp>
      <p:pic>
        <p:nvPicPr>
          <p:cNvPr id="30" name="Image 8" descr="/tmp/claude-0/-home-user-norte-sul-portfolio/b828416d-028b-56b8-943d-a9bc67fc20c3/scratchpad/pptx_out/pl/s21_9677eead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10226" y="5162702"/>
            <a:ext cx="665494" cy="78089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SERVIÇOS TÉCNICOS E DE GESTÃO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Planejamento Estratégico 2025 - 2030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777240"/>
            <a:ext cx="10927080" cy="1232154"/>
          </a:xfrm>
          <a:prstGeom prst="roundRect">
            <a:avLst>
              <a:gd name="adj" fmla="val 5937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40080" y="886968"/>
            <a:ext cx="54864" cy="1012698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14400" y="777240"/>
            <a:ext cx="6035040" cy="1232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377"/>
                </a:solidFill>
              </a:rPr>
              <a:t>CADASTRAMENTO –CADASTRO TÉCNICO</a:t>
            </a:r>
            <a:endParaRPr lang="en-US" sz="1500" dirty="0"/>
          </a:p>
        </p:txBody>
      </p:sp>
      <p:pic>
        <p:nvPicPr>
          <p:cNvPr id="12" name="Image 2" descr="/tmp/claude-0/-home-user-norte-sul-portfolio/b828416d-028b-56b8-943d-a9bc67fc20c3/scratchpad/pptx_out/pl/s22_ceeab01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954439"/>
            <a:ext cx="2377440" cy="877756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40080" y="2119122"/>
            <a:ext cx="10927080" cy="1232154"/>
          </a:xfrm>
          <a:prstGeom prst="roundRect">
            <a:avLst>
              <a:gd name="adj" fmla="val 5937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640080" y="2228850"/>
            <a:ext cx="54864" cy="1012698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914400" y="2119122"/>
            <a:ext cx="6035040" cy="1232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377"/>
                </a:solidFill>
              </a:rPr>
              <a:t>INSPEÇÃO VISUAL</a:t>
            </a:r>
            <a:endParaRPr lang="en-US" sz="1500" dirty="0"/>
          </a:p>
        </p:txBody>
      </p:sp>
      <p:pic>
        <p:nvPicPr>
          <p:cNvPr id="16" name="Image 3" descr="/tmp/claude-0/-home-user-norte-sul-portfolio/b828416d-028b-56b8-943d-a9bc67fc20c3/scratchpad/pptx_out/pl/s22_5354713a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4840" y="2210562"/>
            <a:ext cx="1280880" cy="1049274"/>
          </a:xfrm>
          <a:prstGeom prst="rect">
            <a:avLst/>
          </a:prstGeom>
        </p:spPr>
      </p:pic>
      <p:pic>
        <p:nvPicPr>
          <p:cNvPr id="17" name="Image 4" descr="/tmp/claude-0/-home-user-norte-sul-portfolio/b828416d-028b-56b8-943d-a9bc67fc20c3/scratchpad/pptx_out/pl/s22_b360ea61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8223" y="2210562"/>
            <a:ext cx="1509458" cy="1049274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640080" y="3461004"/>
            <a:ext cx="10927080" cy="1232154"/>
          </a:xfrm>
          <a:prstGeom prst="roundRect">
            <a:avLst>
              <a:gd name="adj" fmla="val 5937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>
            <a:off x="640080" y="3570732"/>
            <a:ext cx="54864" cy="1012698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20" name="Text 13"/>
          <p:cNvSpPr txBox="1"/>
          <p:nvPr/>
        </p:nvSpPr>
        <p:spPr>
          <a:xfrm>
            <a:off x="914400" y="3461004"/>
            <a:ext cx="6035040" cy="1232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377"/>
                </a:solidFill>
              </a:rPr>
              <a:t>TESTE DE CORANTE</a:t>
            </a:r>
            <a:endParaRPr lang="en-US" sz="1500" dirty="0"/>
          </a:p>
        </p:txBody>
      </p:sp>
      <p:pic>
        <p:nvPicPr>
          <p:cNvPr id="21" name="Image 5" descr="/tmp/claude-0/-home-user-norte-sul-portfolio/b828416d-028b-56b8-943d-a9bc67fc20c3/scratchpad/pptx_out/pl/s22_10a17564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13643" y="3552444"/>
            <a:ext cx="1562077" cy="1049274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640080" y="4802886"/>
            <a:ext cx="10927080" cy="1232154"/>
          </a:xfrm>
          <a:prstGeom prst="roundRect">
            <a:avLst>
              <a:gd name="adj" fmla="val 5937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640080" y="4912614"/>
            <a:ext cx="54864" cy="1012698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24" name="Text 16"/>
          <p:cNvSpPr txBox="1"/>
          <p:nvPr/>
        </p:nvSpPr>
        <p:spPr>
          <a:xfrm>
            <a:off x="914400" y="4802886"/>
            <a:ext cx="6035040" cy="1232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377"/>
                </a:solidFill>
              </a:rPr>
              <a:t>RASTREADOR E MONITORAMENTO ONLINE EM TEMPO REAL</a:t>
            </a:r>
            <a:endParaRPr lang="en-US" sz="1500" dirty="0"/>
          </a:p>
        </p:txBody>
      </p:sp>
      <p:pic>
        <p:nvPicPr>
          <p:cNvPr id="25" name="Image 6" descr="/tmp/claude-0/-home-user-norte-sul-portfolio/b828416d-028b-56b8-943d-a9bc67fc20c3/scratchpad/pptx_out/pl/s22_4a0b6252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6873" y="4894326"/>
            <a:ext cx="1778847" cy="1049274"/>
          </a:xfrm>
          <a:prstGeom prst="rect">
            <a:avLst/>
          </a:prstGeom>
        </p:spPr>
      </p:pic>
      <p:pic>
        <p:nvPicPr>
          <p:cNvPr id="26" name="Image 7" descr="/tmp/claude-0/-home-user-norte-sul-portfolio/b828416d-028b-56b8-943d-a9bc67fc20c3/scratchpad/pptx_out/pl/s22_9da4c546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91493" y="4894326"/>
            <a:ext cx="1868220" cy="104927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377"/>
                </a:solidFill>
              </a:rPr>
              <a:t>Serviços Operacionais no Sistema de Esgotos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NORTE SUL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Planejamento Estratégico 2025 - 2030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1371600"/>
            <a:ext cx="694944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10" name="Image 2" descr="/tmp/claude-0/-home-user-norte-sul-portfolio/b828416d-028b-56b8-943d-a9bc67fc20c3/scratchpad/pptx_out/cropped/pl/esg_cam_7.44x4.79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444752"/>
            <a:ext cx="6803136" cy="4379976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7818120" y="1371600"/>
            <a:ext cx="3749040" cy="452628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12" name="Image 3" descr="/tmp/claude-0/-home-user-norte-sul-portfolio/b828416d-028b-56b8-943d-a9bc67fc20c3/scratchpad/pptx_out/cropped/pl/esg_pv_3.94x4.79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1272" y="1444752"/>
            <a:ext cx="3602736" cy="437997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377"/>
                </a:solidFill>
              </a:rPr>
              <a:t>Serviços Operacionais no Sistema de Esgotos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SERVIÇOS OPERACIONAIS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Planejamento Estratégico 2025 - 2030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1371600"/>
            <a:ext cx="51206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38"/>
              </a:spcAft>
              <a:buSzPct val="100000"/>
              <a:buChar char="•"/>
            </a:pPr>
            <a:r>
              <a:rPr lang="en-US" sz="1750" b="1" dirty="0">
                <a:solidFill>
                  <a:srgbClr val="0A3377"/>
                </a:solidFill>
              </a:rPr>
              <a:t>Desobstrução de Coletor com </a:t>
            </a:r>
            <a:r>
              <a:rPr lang="en-US" sz="1750" b="1" dirty="0">
                <a:solidFill>
                  <a:srgbClr val="0A3377"/>
                </a:solidFill>
              </a:rPr>
              <a:t>Hidrojato</a:t>
            </a:r>
            <a:r>
              <a:rPr lang="en-US" sz="1750" b="1" dirty="0">
                <a:solidFill>
                  <a:srgbClr val="0A3377"/>
                </a:solidFill>
              </a:rPr>
              <a:t>;</a:t>
            </a:r>
            <a:endParaRPr lang="en-US" sz="1750" dirty="0"/>
          </a:p>
          <a:p>
            <a:pPr algn="l" marL="177800" indent="-177800">
              <a:spcAft>
                <a:spcPts val="438"/>
              </a:spcAft>
              <a:buSzPct val="100000"/>
              <a:buChar char="•"/>
            </a:pPr>
            <a:r>
              <a:rPr lang="en-US" sz="1750" b="1" dirty="0">
                <a:solidFill>
                  <a:srgbClr val="0A3377"/>
                </a:solidFill>
              </a:rPr>
              <a:t>Lavagem preventiva de rede </a:t>
            </a:r>
            <a:r>
              <a:rPr lang="en-US" sz="1750" b="1" dirty="0">
                <a:solidFill>
                  <a:srgbClr val="0A3377"/>
                </a:solidFill>
              </a:rPr>
              <a:t>coletora;</a:t>
            </a:r>
            <a:endParaRPr lang="en-US" sz="1750" dirty="0"/>
          </a:p>
          <a:p>
            <a:pPr algn="l" marL="177800" indent="-177800">
              <a:spcAft>
                <a:spcPts val="438"/>
              </a:spcAft>
              <a:buSzPct val="100000"/>
              <a:buChar char="•"/>
            </a:pPr>
            <a:r>
              <a:rPr lang="en-US" sz="1750" b="1" dirty="0">
                <a:solidFill>
                  <a:srgbClr val="0A3377"/>
                </a:solidFill>
              </a:rPr>
              <a:t>Limpeza</a:t>
            </a:r>
            <a:r>
              <a:rPr lang="en-US" sz="1750" b="1" dirty="0">
                <a:solidFill>
                  <a:srgbClr val="0A3377"/>
                </a:solidFill>
              </a:rPr>
              <a:t> </a:t>
            </a:r>
            <a:r>
              <a:rPr lang="en-US" sz="1750" b="1" dirty="0">
                <a:solidFill>
                  <a:srgbClr val="0A3377"/>
                </a:solidFill>
              </a:rPr>
              <a:t>de Poço de </a:t>
            </a:r>
            <a:r>
              <a:rPr lang="en-US" sz="1750" b="1" dirty="0">
                <a:solidFill>
                  <a:srgbClr val="0A3377"/>
                </a:solidFill>
              </a:rPr>
              <a:t>Visita;</a:t>
            </a:r>
            <a:endParaRPr lang="en-US" sz="1750" dirty="0"/>
          </a:p>
          <a:p>
            <a:pPr algn="l" marL="177800" indent="-177800">
              <a:spcAft>
                <a:spcPts val="438"/>
              </a:spcAft>
              <a:buSzPct val="100000"/>
              <a:buChar char="•"/>
            </a:pPr>
            <a:r>
              <a:rPr lang="en-US" sz="1750" b="1" dirty="0">
                <a:solidFill>
                  <a:srgbClr val="0A3377"/>
                </a:solidFill>
              </a:rPr>
              <a:t>Desobstrução de Ramal </a:t>
            </a:r>
            <a:r>
              <a:rPr lang="en-US" sz="1750" b="1" dirty="0">
                <a:solidFill>
                  <a:srgbClr val="0A3377"/>
                </a:solidFill>
              </a:rPr>
              <a:t>Domiciliar;</a:t>
            </a:r>
            <a:endParaRPr lang="en-US" sz="1750" dirty="0"/>
          </a:p>
          <a:p>
            <a:pPr algn="l" marL="177800" indent="-177800">
              <a:spcAft>
                <a:spcPts val="438"/>
              </a:spcAft>
              <a:buSzPct val="100000"/>
              <a:buChar char="•"/>
            </a:pPr>
            <a:r>
              <a:rPr lang="en-US" sz="1750" b="1" dirty="0">
                <a:solidFill>
                  <a:srgbClr val="0A3377"/>
                </a:solidFill>
              </a:rPr>
              <a:t>Limpeza de poço de sucção de Estação Elevatória de </a:t>
            </a:r>
            <a:r>
              <a:rPr lang="en-US" sz="1750" b="1" dirty="0">
                <a:solidFill>
                  <a:srgbClr val="0A3377"/>
                </a:solidFill>
              </a:rPr>
              <a:t>Esgotos</a:t>
            </a:r>
            <a:endParaRPr lang="en-US" sz="1750" dirty="0"/>
          </a:p>
          <a:p>
            <a:pPr algn="l" marL="177800" indent="-177800">
              <a:spcAft>
                <a:spcPts val="438"/>
              </a:spcAft>
              <a:buSzPct val="100000"/>
              <a:buChar char="•"/>
            </a:pPr>
            <a:r>
              <a:rPr lang="en-US" sz="1750" b="1" dirty="0">
                <a:solidFill>
                  <a:srgbClr val="0A3377"/>
                </a:solidFill>
              </a:rPr>
              <a:t>Limpeza de cestos de retenção e inspeção eletromecânica de Estação </a:t>
            </a:r>
            <a:r>
              <a:rPr lang="en-US" sz="1750" b="1" dirty="0">
                <a:solidFill>
                  <a:srgbClr val="0A3377"/>
                </a:solidFill>
              </a:rPr>
              <a:t>Elevatória </a:t>
            </a:r>
            <a:r>
              <a:rPr lang="en-US" sz="1750" b="1" dirty="0">
                <a:solidFill>
                  <a:srgbClr val="0A3377"/>
                </a:solidFill>
              </a:rPr>
              <a:t>de </a:t>
            </a:r>
            <a:r>
              <a:rPr lang="en-US" sz="1750" b="1" dirty="0">
                <a:solidFill>
                  <a:srgbClr val="0A3377"/>
                </a:solidFill>
              </a:rPr>
              <a:t>Esgotos;</a:t>
            </a:r>
            <a:endParaRPr lang="en-US" sz="1750" dirty="0"/>
          </a:p>
          <a:p>
            <a:pPr algn="l" marL="177800" indent="-177800">
              <a:spcAft>
                <a:spcPts val="438"/>
              </a:spcAft>
              <a:buSzPct val="100000"/>
              <a:buChar char="•"/>
            </a:pPr>
            <a:r>
              <a:rPr lang="en-US" sz="1750" b="1" dirty="0">
                <a:solidFill>
                  <a:srgbClr val="0A3377"/>
                </a:solidFill>
              </a:rPr>
              <a:t>Limpeza de Lagoas e Estações de Tratamento de </a:t>
            </a:r>
            <a:r>
              <a:rPr lang="en-US" sz="1750" b="1" dirty="0">
                <a:solidFill>
                  <a:srgbClr val="0A3377"/>
                </a:solidFill>
              </a:rPr>
              <a:t>Esgotos;</a:t>
            </a:r>
            <a:endParaRPr lang="en-US" sz="1750" dirty="0"/>
          </a:p>
          <a:p>
            <a:pPr algn="l" marL="177800" indent="-177800">
              <a:spcAft>
                <a:spcPts val="438"/>
              </a:spcAft>
              <a:buSzPct val="100000"/>
              <a:buChar char="•"/>
            </a:pPr>
            <a:r>
              <a:rPr lang="en-US" sz="1750" b="1" dirty="0">
                <a:solidFill>
                  <a:srgbClr val="0A3377"/>
                </a:solidFill>
              </a:rPr>
              <a:t>Limpeza </a:t>
            </a:r>
            <a:r>
              <a:rPr lang="en-US" sz="1750" b="1" dirty="0">
                <a:solidFill>
                  <a:srgbClr val="0A3377"/>
                </a:solidFill>
              </a:rPr>
              <a:t>de Coletores Tronco e </a:t>
            </a:r>
            <a:r>
              <a:rPr lang="en-US" sz="1750" b="1" dirty="0">
                <a:solidFill>
                  <a:srgbClr val="0A3377"/>
                </a:solidFill>
              </a:rPr>
              <a:t>Interceptores;</a:t>
            </a:r>
            <a:endParaRPr lang="en-US" sz="1750" dirty="0"/>
          </a:p>
          <a:p>
            <a:pPr algn="l" marL="177800" indent="-177800">
              <a:spcAft>
                <a:spcPts val="438"/>
              </a:spcAft>
              <a:buSzPct val="100000"/>
              <a:buChar char="•"/>
            </a:pPr>
            <a:r>
              <a:rPr lang="en-US" sz="1750" b="1" dirty="0">
                <a:solidFill>
                  <a:srgbClr val="0A3377"/>
                </a:solidFill>
              </a:rPr>
              <a:t>Manutenção Eletromecânica de Estações Elevatórias de </a:t>
            </a:r>
            <a:r>
              <a:rPr lang="en-US" sz="1750" b="1" dirty="0">
                <a:solidFill>
                  <a:srgbClr val="0A3377"/>
                </a:solidFill>
              </a:rPr>
              <a:t>Esgotos.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6035040" y="1371600"/>
            <a:ext cx="553212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11" name="Image 2" descr="/tmp/claude-0/-home-user-norte-sul-portfolio/b828416d-028b-56b8-943d-a9bc67fc20c3/scratchpad/pptx_out/pl/s24_18df5615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2" y="2086813"/>
            <a:ext cx="5385816" cy="309585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377"/>
                </a:solidFill>
              </a:rPr>
              <a:t>Serviços Operacionais no Sistema de Drenagem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NORTE SUL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Planejamento Estratégico 2025 - 2030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1371600"/>
            <a:ext cx="1092708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10" name="Image 2" descr="/tmp/claude-0/-home-user-norte-sul-portfolio/b828416d-028b-56b8-943d-a9bc67fc20c3/scratchpad/pptx_out/cropped/pl/drenagem_11.79x4.79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444752"/>
            <a:ext cx="10780776" cy="437997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377"/>
                </a:solidFill>
              </a:rPr>
              <a:t>Serviços Operacionais no Sistema de Drenagem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SERVIÇOS OPERACIONAIS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Planejamento Estratégico 2025 - 2030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1371600"/>
            <a:ext cx="4206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55"/>
              </a:spcAft>
              <a:buSzPct val="100000"/>
              <a:buChar char="•"/>
            </a:pPr>
            <a:r>
              <a:rPr lang="en-US" sz="1850" b="1" dirty="0">
                <a:solidFill>
                  <a:srgbClr val="0A3377"/>
                </a:solidFill>
              </a:rPr>
              <a:t>Desobstrução e lavagem preventiva de galerias, ramais, </a:t>
            </a:r>
            <a:r>
              <a:rPr lang="en-US" sz="1850" b="1" dirty="0">
                <a:solidFill>
                  <a:srgbClr val="0A3377"/>
                </a:solidFill>
              </a:rPr>
              <a:t>bl</a:t>
            </a:r>
            <a:r>
              <a:rPr lang="en-US" sz="1850" b="1" dirty="0">
                <a:solidFill>
                  <a:srgbClr val="0A3377"/>
                </a:solidFill>
              </a:rPr>
              <a:t> e </a:t>
            </a:r>
            <a:r>
              <a:rPr lang="en-US" sz="1850" b="1" dirty="0">
                <a:solidFill>
                  <a:srgbClr val="0A3377"/>
                </a:solidFill>
              </a:rPr>
              <a:t>pv</a:t>
            </a:r>
            <a:r>
              <a:rPr lang="en-US" sz="1850" b="1" dirty="0">
                <a:solidFill>
                  <a:srgbClr val="0A3377"/>
                </a:solidFill>
              </a:rPr>
              <a:t>;</a:t>
            </a:r>
            <a:endParaRPr lang="en-US" sz="1850" dirty="0"/>
          </a:p>
          <a:p>
            <a:pPr algn="l" marL="177800" indent="-177800">
              <a:spcAft>
                <a:spcPts val="555"/>
              </a:spcAft>
              <a:buSzPct val="100000"/>
              <a:buChar char="•"/>
            </a:pPr>
            <a:r>
              <a:rPr lang="en-US" sz="1850" b="1" dirty="0">
                <a:solidFill>
                  <a:srgbClr val="0A3377"/>
                </a:solidFill>
              </a:rPr>
              <a:t>Limpeza</a:t>
            </a:r>
            <a:r>
              <a:rPr lang="en-US" sz="1850" b="1" dirty="0">
                <a:solidFill>
                  <a:srgbClr val="0A3377"/>
                </a:solidFill>
              </a:rPr>
              <a:t> </a:t>
            </a:r>
            <a:r>
              <a:rPr lang="en-US" sz="1850" b="1" dirty="0">
                <a:solidFill>
                  <a:srgbClr val="0A3377"/>
                </a:solidFill>
              </a:rPr>
              <a:t>manual de bocas de lobo e </a:t>
            </a:r>
            <a:r>
              <a:rPr lang="en-US" sz="1850" b="1" dirty="0">
                <a:solidFill>
                  <a:srgbClr val="0A3377"/>
                </a:solidFill>
              </a:rPr>
              <a:t>córregos;</a:t>
            </a:r>
            <a:endParaRPr lang="en-US" sz="1850" dirty="0"/>
          </a:p>
          <a:p>
            <a:pPr algn="l" marL="177800" indent="-177800">
              <a:spcAft>
                <a:spcPts val="555"/>
              </a:spcAft>
              <a:buSzPct val="100000"/>
              <a:buChar char="•"/>
            </a:pPr>
            <a:r>
              <a:rPr lang="en-US" sz="1850" b="1" dirty="0">
                <a:solidFill>
                  <a:srgbClr val="0A3377"/>
                </a:solidFill>
              </a:rPr>
              <a:t>Limpeza manual e mecânica de </a:t>
            </a:r>
            <a:r>
              <a:rPr lang="en-US" sz="1850" b="1" dirty="0">
                <a:solidFill>
                  <a:srgbClr val="0A3377"/>
                </a:solidFill>
              </a:rPr>
              <a:t>piscinões;</a:t>
            </a:r>
            <a:endParaRPr lang="en-US" sz="1850" dirty="0"/>
          </a:p>
          <a:p>
            <a:pPr algn="l" marL="177800" indent="-177800">
              <a:spcAft>
                <a:spcPts val="555"/>
              </a:spcAft>
              <a:buSzPct val="100000"/>
              <a:buChar char="•"/>
            </a:pPr>
            <a:r>
              <a:rPr lang="en-US" sz="1850" b="1" dirty="0">
                <a:solidFill>
                  <a:srgbClr val="0A3377"/>
                </a:solidFill>
              </a:rPr>
              <a:t>Limpeza de Estação Elevatória de </a:t>
            </a:r>
            <a:r>
              <a:rPr lang="en-US" sz="1850" b="1" dirty="0">
                <a:solidFill>
                  <a:srgbClr val="0A3377"/>
                </a:solidFill>
              </a:rPr>
              <a:t>Polder</a:t>
            </a:r>
            <a:r>
              <a:rPr lang="en-US" sz="1850" b="1" dirty="0">
                <a:solidFill>
                  <a:srgbClr val="0A3377"/>
                </a:solidFill>
              </a:rPr>
              <a:t> e </a:t>
            </a:r>
            <a:r>
              <a:rPr lang="en-US" sz="1850" b="1" dirty="0">
                <a:solidFill>
                  <a:srgbClr val="0A3377"/>
                </a:solidFill>
              </a:rPr>
              <a:t>Piscinão;</a:t>
            </a:r>
            <a:endParaRPr lang="en-US" sz="1850" dirty="0"/>
          </a:p>
          <a:p>
            <a:pPr algn="l" marL="177800" indent="-177800">
              <a:spcAft>
                <a:spcPts val="555"/>
              </a:spcAft>
              <a:buSzPct val="100000"/>
              <a:buChar char="•"/>
            </a:pPr>
            <a:r>
              <a:rPr lang="en-US" sz="1850" b="1" dirty="0">
                <a:solidFill>
                  <a:srgbClr val="0A3377"/>
                </a:solidFill>
              </a:rPr>
              <a:t>Desassoreamento de Canais e </a:t>
            </a:r>
            <a:r>
              <a:rPr lang="en-US" sz="1850" b="1" dirty="0">
                <a:solidFill>
                  <a:srgbClr val="0A3377"/>
                </a:solidFill>
              </a:rPr>
              <a:t>Drenos;</a:t>
            </a:r>
            <a:endParaRPr lang="en-US" sz="1850" dirty="0"/>
          </a:p>
          <a:p>
            <a:pPr algn="l" marL="177800" indent="-177800">
              <a:spcAft>
                <a:spcPts val="555"/>
              </a:spcAft>
              <a:buSzPct val="100000"/>
              <a:buChar char="•"/>
            </a:pPr>
            <a:r>
              <a:rPr lang="en-US" sz="1850" b="1" dirty="0">
                <a:solidFill>
                  <a:srgbClr val="0A3377"/>
                </a:solidFill>
              </a:rPr>
              <a:t>Desidratação e reciclagem de resíduos em leito de </a:t>
            </a:r>
            <a:r>
              <a:rPr lang="en-US" sz="1850" b="1" dirty="0">
                <a:solidFill>
                  <a:srgbClr val="0A3377"/>
                </a:solidFill>
              </a:rPr>
              <a:t>secagem;</a:t>
            </a:r>
            <a:endParaRPr lang="en-US" sz="1850" dirty="0"/>
          </a:p>
          <a:p>
            <a:pPr algn="l" marL="177800" indent="-177800">
              <a:spcAft>
                <a:spcPts val="555"/>
              </a:spcAft>
              <a:buSzPct val="100000"/>
              <a:buChar char="•"/>
            </a:pPr>
            <a:r>
              <a:rPr lang="en-US" sz="1850" b="1" dirty="0">
                <a:solidFill>
                  <a:srgbClr val="0A3377"/>
                </a:solidFill>
              </a:rPr>
              <a:t>Atendimento </a:t>
            </a:r>
            <a:r>
              <a:rPr lang="en-US" sz="1850" b="1" dirty="0">
                <a:solidFill>
                  <a:srgbClr val="0A3377"/>
                </a:solidFill>
              </a:rPr>
              <a:t>Emergencial.</a:t>
            </a:r>
            <a:endParaRPr lang="en-US" sz="1850" dirty="0"/>
          </a:p>
        </p:txBody>
      </p:sp>
      <p:sp>
        <p:nvSpPr>
          <p:cNvPr id="10" name="Shape 6"/>
          <p:cNvSpPr/>
          <p:nvPr/>
        </p:nvSpPr>
        <p:spPr>
          <a:xfrm>
            <a:off x="5074920" y="1371600"/>
            <a:ext cx="21031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11" name="Image 2" descr="/tmp/claude-0/-home-user-norte-sul-portfolio/b828416d-028b-56b8-943d-a9bc67fc20c3/scratchpad/pptx_out/cropped/pl/s26_e5d2ee2f_2.14x1.39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72" y="1444752"/>
            <a:ext cx="1956816" cy="1271016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7315200" y="1371600"/>
            <a:ext cx="42519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13" name="Image 3" descr="/tmp/claude-0/-home-user-norte-sul-portfolio/b828416d-028b-56b8-943d-a9bc67fc20c3/scratchpad/pptx_out/cropped/pl/s26_a7acbc9d_4.49x1.39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2" y="1444752"/>
            <a:ext cx="4105656" cy="1271016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074920" y="2926080"/>
            <a:ext cx="1005840" cy="14173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15" name="Image 4" descr="/tmp/claude-0/-home-user-norte-sul-portfolio/b828416d-028b-56b8-943d-a9bc67fc20c3/scratchpad/pptx_out/cropped/pl/s26_f6bd093d_0.94x1.39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8072" y="2999232"/>
            <a:ext cx="859536" cy="127101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172200" y="2926080"/>
            <a:ext cx="1005840" cy="14173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17" name="Image 5" descr="/tmp/claude-0/-home-user-norte-sul-portfolio/b828416d-028b-56b8-943d-a9bc67fc20c3/scratchpad/pptx_out/cropped/pl/s26_55dc4e1e_0.94x1.39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5352" y="2999232"/>
            <a:ext cx="859536" cy="1271016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7315200" y="2926080"/>
            <a:ext cx="42519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19" name="Image 6" descr="/tmp/claude-0/-home-user-norte-sul-portfolio/b828416d-028b-56b8-943d-a9bc67fc20c3/scratchpad/pptx_out/cropped/pl/s26_a4ea3fc7_4.49x1.39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352" y="2999232"/>
            <a:ext cx="4105656" cy="1271016"/>
          </a:xfrm>
          <a:prstGeom prst="rect">
            <a:avLst/>
          </a:prstGeom>
        </p:spPr>
      </p:pic>
      <p:sp>
        <p:nvSpPr>
          <p:cNvPr id="20" name="Shape 11"/>
          <p:cNvSpPr/>
          <p:nvPr/>
        </p:nvSpPr>
        <p:spPr>
          <a:xfrm>
            <a:off x="5074920" y="4480560"/>
            <a:ext cx="21031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21" name="Image 7" descr="/tmp/claude-0/-home-user-norte-sul-portfolio/b828416d-028b-56b8-943d-a9bc67fc20c3/scratchpad/pptx_out/cropped/pl/s26_fce576a4_2.14x1.39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8072" y="4553712"/>
            <a:ext cx="1956816" cy="1271016"/>
          </a:xfrm>
          <a:prstGeom prst="rect">
            <a:avLst/>
          </a:prstGeom>
        </p:spPr>
      </p:pic>
      <p:sp>
        <p:nvSpPr>
          <p:cNvPr id="22" name="Shape 12"/>
          <p:cNvSpPr/>
          <p:nvPr/>
        </p:nvSpPr>
        <p:spPr>
          <a:xfrm>
            <a:off x="7315200" y="4480560"/>
            <a:ext cx="42519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23" name="Image 8" descr="/tmp/claude-0/-home-user-norte-sul-portfolio/b828416d-028b-56b8-943d-a9bc67fc20c3/scratchpad/pptx_out/cropped/pl/s26_60837686_4.49x1.39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88352" y="4553712"/>
            <a:ext cx="4105656" cy="127101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377"/>
                </a:solidFill>
              </a:rPr>
              <a:t>Outros Serviços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SERVIÇOS OPERACIONAIS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Planejamento Estratégico 2025 - 2030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1371600"/>
            <a:ext cx="51206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100"/>
              </a:spcAft>
              <a:buSzPct val="100000"/>
              <a:buChar char="•"/>
            </a:pPr>
            <a:r>
              <a:rPr lang="en-US" sz="2200" b="1" dirty="0">
                <a:solidFill>
                  <a:srgbClr val="0A3377"/>
                </a:solidFill>
              </a:rPr>
              <a:t>Interferências entre Sistemas (ESGOTOS X DRENAGEM X EFLUENTES);</a:t>
            </a:r>
            <a:endParaRPr lang="en-US" sz="2200" dirty="0"/>
          </a:p>
          <a:p>
            <a:pPr algn="l" marL="177800" indent="-177800">
              <a:spcAft>
                <a:spcPts val="1100"/>
              </a:spcAft>
              <a:buSzPct val="100000"/>
              <a:buChar char="•"/>
            </a:pPr>
            <a:r>
              <a:rPr lang="en-US" sz="2200" b="1" dirty="0">
                <a:solidFill>
                  <a:srgbClr val="0A3377"/>
                </a:solidFill>
              </a:rPr>
              <a:t>Palestras e cursos de treinamento;</a:t>
            </a:r>
            <a:endParaRPr lang="en-US" sz="2200" dirty="0"/>
          </a:p>
          <a:p>
            <a:pPr algn="l" indent="0" marL="0">
              <a:spcAft>
                <a:spcPts val="1100"/>
              </a:spcAft>
              <a:buNone/>
            </a:pPr>
            <a:r>
              <a:rPr lang="en-US" sz="2200" b="1" dirty="0">
                <a:solidFill>
                  <a:srgbClr val="0A3377"/>
                </a:solidFill>
              </a:rPr>
              <a:t>Estudos Especiais:</a:t>
            </a:r>
            <a:endParaRPr lang="en-US" sz="2200" dirty="0"/>
          </a:p>
          <a:p>
            <a:pPr algn="l" marL="177800" indent="-177800">
              <a:spcAft>
                <a:spcPts val="1100"/>
              </a:spcAft>
              <a:buSzPct val="100000"/>
              <a:buChar char="•"/>
            </a:pPr>
            <a:r>
              <a:rPr lang="en-US" sz="2200" b="1" dirty="0">
                <a:solidFill>
                  <a:srgbClr val="0A3377"/>
                </a:solidFill>
              </a:rPr>
              <a:t>SABESP/ CÓRREGO LIMPO;</a:t>
            </a:r>
            <a:endParaRPr lang="en-US" sz="2200" dirty="0"/>
          </a:p>
          <a:p>
            <a:pPr algn="l" marL="177800" indent="-177800">
              <a:spcAft>
                <a:spcPts val="1100"/>
              </a:spcAft>
              <a:buSzPct val="100000"/>
              <a:buChar char="•"/>
            </a:pPr>
            <a:r>
              <a:rPr lang="en-US" sz="2200" b="1" dirty="0">
                <a:solidFill>
                  <a:srgbClr val="0A3377"/>
                </a:solidFill>
              </a:rPr>
              <a:t>Planejamento e Gestão.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6035040" y="1371600"/>
            <a:ext cx="2743200" cy="4526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11" name="Image 2" descr="/tmp/claude-0/-home-user-norte-sul-portfolio/b828416d-028b-56b8-943d-a9bc67fc20c3/scratchpad/pptx_out/pl/s27_a7c14e79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2" y="2589895"/>
            <a:ext cx="2596896" cy="208969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915400" y="1371600"/>
            <a:ext cx="2651760" cy="45262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13" name="Image 3" descr="/tmp/claude-0/-home-user-norte-sul-portfolio/b828416d-028b-56b8-943d-a9bc67fc20c3/scratchpad/pptx_out/cropped/pl/treino_2.74x4.79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8552" y="1444752"/>
            <a:ext cx="2505456" cy="437997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D4FF"/>
                </a:solidFill>
              </a:rPr>
              <a:t>FOCO DA METROPOLITANA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5577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Obras de recuperação das redes de água e esgotos através de MND (métodos não destrutivos) para melhoria operacional, principalmente redução de perdas físicas de água.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583680" y="548640"/>
            <a:ext cx="4983480" cy="5349240"/>
          </a:xfrm>
          <a:prstGeom prst="roundRect">
            <a:avLst>
              <a:gd name="adj" fmla="val 2202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5" name="Image 0" descr="/tmp/claude-0/-home-user-norte-sul-portfolio/b828416d-028b-56b8-943d-a9bc67fc20c3/scratchpad/pptx_out/cropped/pl/mnd_5.29x5.69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621792"/>
            <a:ext cx="4837176" cy="520293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9" name="Image 2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Planejamento Estratégico 2025 - 2030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377"/>
                </a:solidFill>
              </a:rPr>
              <a:t>Serviços de obra e infra estrutura Metropolitana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METROPOLITANA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Planejamento Estratégico 2025 - 2030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1371600"/>
            <a:ext cx="1092708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10" name="Image 2" descr="/tmp/claude-0/-home-user-norte-sul-portfolio/b828416d-028b-56b8-943d-a9bc67fc20c3/scratchpad/pptx_out/cropped/pl/projetos_11.79x4.79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444752"/>
            <a:ext cx="10780776" cy="437997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377"/>
                </a:solidFill>
              </a:rPr>
              <a:t>Serviços de obra e infra estrutura Metropolitana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METROPOLITANA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Planejamento Estratégico 2025 - 2030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1371600"/>
            <a:ext cx="44805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75"/>
              </a:spcAft>
              <a:buSzPct val="100000"/>
              <a:buChar char="•"/>
            </a:pPr>
            <a:r>
              <a:rPr lang="en-US" sz="2150" b="1" dirty="0">
                <a:solidFill>
                  <a:srgbClr val="0A3377"/>
                </a:solidFill>
              </a:rPr>
              <a:t>Troca de rede através de MND;</a:t>
            </a:r>
            <a:endParaRPr lang="en-US" sz="2150" dirty="0"/>
          </a:p>
          <a:p>
            <a:pPr algn="l" marL="177800" indent="-177800">
              <a:spcAft>
                <a:spcPts val="1075"/>
              </a:spcAft>
              <a:buSzPct val="100000"/>
              <a:buChar char="•"/>
            </a:pPr>
            <a:r>
              <a:rPr lang="en-US" sz="2150" b="1" dirty="0">
                <a:solidFill>
                  <a:srgbClr val="0A3377"/>
                </a:solidFill>
              </a:rPr>
              <a:t>Reparo e execução de rede de </a:t>
            </a:r>
            <a:r>
              <a:rPr lang="en-US" sz="2150" b="1" dirty="0">
                <a:solidFill>
                  <a:srgbClr val="0A3377"/>
                </a:solidFill>
              </a:rPr>
              <a:t>esgoto;</a:t>
            </a:r>
            <a:endParaRPr lang="en-US" sz="2150" dirty="0"/>
          </a:p>
          <a:p>
            <a:pPr algn="l" marL="177800" indent="-177800">
              <a:spcAft>
                <a:spcPts val="1075"/>
              </a:spcAft>
              <a:buSzPct val="100000"/>
              <a:buChar char="•"/>
            </a:pPr>
            <a:r>
              <a:rPr lang="en-US" sz="2150" b="1" dirty="0">
                <a:solidFill>
                  <a:srgbClr val="0A3377"/>
                </a:solidFill>
              </a:rPr>
              <a:t>Reparo e execução de rede de </a:t>
            </a:r>
            <a:r>
              <a:rPr lang="en-US" sz="2150" b="1" dirty="0">
                <a:solidFill>
                  <a:srgbClr val="0A3377"/>
                </a:solidFill>
              </a:rPr>
              <a:t>água;</a:t>
            </a:r>
            <a:endParaRPr lang="en-US" sz="2150" dirty="0"/>
          </a:p>
          <a:p>
            <a:pPr algn="l" marL="177800" indent="-177800">
              <a:spcAft>
                <a:spcPts val="1075"/>
              </a:spcAft>
              <a:buSzPct val="100000"/>
              <a:buChar char="•"/>
            </a:pPr>
            <a:r>
              <a:rPr lang="en-US" sz="2150" b="1" dirty="0">
                <a:solidFill>
                  <a:srgbClr val="0A3377"/>
                </a:solidFill>
              </a:rPr>
              <a:t>Execução e reabilitação de </a:t>
            </a:r>
            <a:r>
              <a:rPr lang="en-US" sz="2150" b="1" dirty="0">
                <a:solidFill>
                  <a:srgbClr val="0A3377"/>
                </a:solidFill>
              </a:rPr>
              <a:t>PVs</a:t>
            </a:r>
            <a:r>
              <a:rPr lang="en-US" sz="2150" b="1" dirty="0">
                <a:solidFill>
                  <a:srgbClr val="0A3377"/>
                </a:solidFill>
              </a:rPr>
              <a:t>;</a:t>
            </a:r>
            <a:endParaRPr lang="en-US" sz="2150" dirty="0"/>
          </a:p>
          <a:p>
            <a:pPr algn="l" marL="177800" indent="-177800">
              <a:spcAft>
                <a:spcPts val="1075"/>
              </a:spcAft>
              <a:buSzPct val="100000"/>
              <a:buChar char="•"/>
            </a:pPr>
            <a:r>
              <a:rPr lang="en-US" sz="2150" b="1" dirty="0">
                <a:solidFill>
                  <a:srgbClr val="0A3377"/>
                </a:solidFill>
              </a:rPr>
              <a:t>Reparo pontual de redes através de </a:t>
            </a:r>
            <a:r>
              <a:rPr lang="en-US" sz="2150" b="1" dirty="0">
                <a:solidFill>
                  <a:srgbClr val="0A3377"/>
                </a:solidFill>
              </a:rPr>
              <a:t>MND;</a:t>
            </a:r>
            <a:endParaRPr lang="en-US" sz="2150" dirty="0"/>
          </a:p>
          <a:p>
            <a:pPr algn="l" marL="177800" indent="-177800">
              <a:spcAft>
                <a:spcPts val="1075"/>
              </a:spcAft>
              <a:buSzPct val="100000"/>
              <a:buChar char="•"/>
            </a:pPr>
            <a:r>
              <a:rPr lang="en-US" sz="2150" b="1" dirty="0">
                <a:solidFill>
                  <a:srgbClr val="0A3377"/>
                </a:solidFill>
              </a:rPr>
              <a:t>Construção de </a:t>
            </a:r>
            <a:r>
              <a:rPr lang="en-US" sz="2150" b="1" dirty="0">
                <a:solidFill>
                  <a:srgbClr val="0A3377"/>
                </a:solidFill>
              </a:rPr>
              <a:t>VRPs</a:t>
            </a:r>
            <a:r>
              <a:rPr lang="en-US" sz="2150" b="1" dirty="0">
                <a:solidFill>
                  <a:srgbClr val="0A3377"/>
                </a:solidFill>
              </a:rPr>
              <a:t>.</a:t>
            </a:r>
            <a:endParaRPr lang="en-US" sz="2150" dirty="0"/>
          </a:p>
        </p:txBody>
      </p:sp>
      <p:sp>
        <p:nvSpPr>
          <p:cNvPr id="10" name="Shape 6"/>
          <p:cNvSpPr/>
          <p:nvPr/>
        </p:nvSpPr>
        <p:spPr>
          <a:xfrm>
            <a:off x="5349240" y="1371600"/>
            <a:ext cx="62179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11" name="Image 2" descr="/tmp/claude-0/-home-user-norte-sul-portfolio/b828416d-028b-56b8-943d-a9bc67fc20c3/scratchpad/pptx_out/pl/s30_b082c7e0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200" y="1444752"/>
            <a:ext cx="4078001" cy="1453896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349240" y="3108960"/>
            <a:ext cx="62179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13" name="Image 3" descr="/tmp/claude-0/-home-user-norte-sul-portfolio/b828416d-028b-56b8-943d-a9bc67fc20c3/scratchpad/pptx_out/pl/s30_211dc611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801" y="3182112"/>
            <a:ext cx="2778797" cy="1316736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349240" y="4709160"/>
            <a:ext cx="62179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15" name="Image 4" descr="/tmp/claude-0/-home-user-norte-sul-portfolio/b828416d-028b-56b8-943d-a9bc67fc20c3/scratchpad/pptx_out/pl/s30_bf1665eb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7749" y="4782312"/>
            <a:ext cx="4380902" cy="104241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D4FF"/>
                </a:solidFill>
              </a:rPr>
              <a:t>PLANEJAMENTO ESTRATÉGICO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5303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Você sabe onde sua empresa quer chegar?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309360" y="548640"/>
            <a:ext cx="5257800" cy="5349240"/>
          </a:xfrm>
          <a:prstGeom prst="roundRect">
            <a:avLst>
              <a:gd name="adj" fmla="val 2087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5" name="Image 0" descr="/tmp/claude-0/-home-user-norte-sul-portfolio/b828416d-028b-56b8-943d-a9bc67fc20c3/scratchpad/pptx_out/cropped/pl/estrategia_5.59x5.69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621792"/>
            <a:ext cx="5111496" cy="520293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9" name="Image 2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Planejamento Estratégico 2025 - 2030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377"/>
                </a:solidFill>
              </a:rPr>
              <a:t>Planejamento Estratégico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PLANEJAMENTO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Planejamento Estratégico 2025 - 2030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155448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749808" y="1554480"/>
            <a:ext cx="33009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68680" y="1783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8D4FF"/>
                </a:solidFill>
              </a:rPr>
              <a:t>1ª FASE</a:t>
            </a:r>
            <a:endParaRPr lang="en-US" sz="30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228600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A3377"/>
                </a:solidFill>
              </a:rPr>
              <a:t>ONDE ESTAMOS</a:t>
            </a:r>
            <a:endParaRPr lang="en-US" sz="3000" dirty="0"/>
          </a:p>
        </p:txBody>
      </p:sp>
      <p:sp>
        <p:nvSpPr>
          <p:cNvPr id="13" name="Text 9"/>
          <p:cNvSpPr txBox="1"/>
          <p:nvPr/>
        </p:nvSpPr>
        <p:spPr>
          <a:xfrm>
            <a:off x="868680" y="379476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rgbClr val="5B6B88"/>
                </a:solidFill>
              </a:rPr>
              <a:t>Fotografia do momento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4096512" y="310896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D4FF"/>
                </a:solidFill>
              </a:rPr>
              <a:t>→</a:t>
            </a:r>
            <a:endParaRPr lang="en-US" sz="2400" dirty="0"/>
          </a:p>
        </p:txBody>
      </p:sp>
      <p:sp>
        <p:nvSpPr>
          <p:cNvPr id="15" name="Shape 11"/>
          <p:cNvSpPr/>
          <p:nvPr/>
        </p:nvSpPr>
        <p:spPr>
          <a:xfrm>
            <a:off x="4343400" y="155448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453128" y="1554480"/>
            <a:ext cx="33009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572000" y="1783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8D4FF"/>
                </a:solidFill>
              </a:rPr>
              <a:t>2ª FASE</a:t>
            </a:r>
            <a:endParaRPr lang="en-US" sz="3000" dirty="0"/>
          </a:p>
        </p:txBody>
      </p:sp>
      <p:sp>
        <p:nvSpPr>
          <p:cNvPr id="18" name="Text 14"/>
          <p:cNvSpPr txBox="1"/>
          <p:nvPr/>
        </p:nvSpPr>
        <p:spPr>
          <a:xfrm>
            <a:off x="4572000" y="228600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A3377"/>
                </a:solidFill>
              </a:rPr>
              <a:t>PARA ONDE QUEREMOS IR</a:t>
            </a:r>
            <a:endParaRPr lang="en-US" sz="3000" dirty="0"/>
          </a:p>
        </p:txBody>
      </p:sp>
      <p:sp>
        <p:nvSpPr>
          <p:cNvPr id="19" name="Text 15"/>
          <p:cNvSpPr txBox="1"/>
          <p:nvPr/>
        </p:nvSpPr>
        <p:spPr>
          <a:xfrm>
            <a:off x="4572000" y="379476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rgbClr val="5B6B88"/>
                </a:solidFill>
              </a:rPr>
              <a:t>O estado desejado</a:t>
            </a:r>
            <a:endParaRPr lang="en-US" sz="2200" dirty="0"/>
          </a:p>
        </p:txBody>
      </p:sp>
      <p:sp>
        <p:nvSpPr>
          <p:cNvPr id="20" name="Text 16"/>
          <p:cNvSpPr txBox="1"/>
          <p:nvPr/>
        </p:nvSpPr>
        <p:spPr>
          <a:xfrm>
            <a:off x="7799832" y="310896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D4FF"/>
                </a:solidFill>
              </a:rPr>
              <a:t>→</a:t>
            </a:r>
            <a:endParaRPr lang="en-US" sz="2400" dirty="0"/>
          </a:p>
        </p:txBody>
      </p:sp>
      <p:sp>
        <p:nvSpPr>
          <p:cNvPr id="21" name="Shape 17"/>
          <p:cNvSpPr/>
          <p:nvPr/>
        </p:nvSpPr>
        <p:spPr>
          <a:xfrm>
            <a:off x="8046720" y="155448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156448" y="1554480"/>
            <a:ext cx="33009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8275320" y="1783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8D4FF"/>
                </a:solidFill>
              </a:rPr>
              <a:t>3ª FASE</a:t>
            </a:r>
            <a:endParaRPr lang="en-US" sz="3000" dirty="0"/>
          </a:p>
        </p:txBody>
      </p:sp>
      <p:sp>
        <p:nvSpPr>
          <p:cNvPr id="24" name="Text 20"/>
          <p:cNvSpPr txBox="1"/>
          <p:nvPr/>
        </p:nvSpPr>
        <p:spPr>
          <a:xfrm>
            <a:off x="8275320" y="228600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A3377"/>
                </a:solidFill>
              </a:rPr>
              <a:t>COMO CHEGAR LÁ</a:t>
            </a:r>
            <a:endParaRPr lang="en-US" sz="3000" dirty="0"/>
          </a:p>
        </p:txBody>
      </p:sp>
      <p:sp>
        <p:nvSpPr>
          <p:cNvPr id="25" name="Text 21"/>
          <p:cNvSpPr txBox="1"/>
          <p:nvPr/>
        </p:nvSpPr>
        <p:spPr>
          <a:xfrm>
            <a:off x="8275320" y="379476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rgbClr val="5B6B88"/>
                </a:solidFill>
              </a:rPr>
              <a:t>Plano tático</a:t>
            </a:r>
            <a:endParaRPr lang="en-US" sz="2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Processo Planejamento 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PLANEJAMENTO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Planejamento Estratégico 2025 - 2030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731520" y="3657600"/>
            <a:ext cx="10789920" cy="0"/>
          </a:xfrm>
          <a:prstGeom prst="line">
            <a:avLst/>
          </a:prstGeom>
          <a:noFill/>
          <a:ln w="38100">
            <a:solidFill>
              <a:srgbClr val="38D4FF"/>
            </a:solidFill>
            <a:prstDash val="solid"/>
            <a:tailEnd type="triangle"/>
          </a:ln>
        </p:spPr>
      </p:sp>
      <p:sp>
        <p:nvSpPr>
          <p:cNvPr id="10" name="Shape 6"/>
          <p:cNvSpPr/>
          <p:nvPr/>
        </p:nvSpPr>
        <p:spPr>
          <a:xfrm>
            <a:off x="1005840" y="347472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8D4F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57200" y="210312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D4FF"/>
                </a:solidFill>
              </a:rPr>
              <a:t>2009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Retomada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2423160" y="347472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8D4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874520" y="411480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D4FF"/>
                </a:solidFill>
              </a:rPr>
              <a:t>2011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Seminário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3840480" y="347472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8D4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291840" y="210312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D4FF"/>
                </a:solidFill>
              </a:rPr>
              <a:t>2012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Objetivos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5257800" y="347472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8D4F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709160" y="411480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D4FF"/>
                </a:solidFill>
              </a:rPr>
              <a:t>2013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Planos de Ação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6675120" y="347472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8D4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126480" y="210312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D4FF"/>
                </a:solidFill>
              </a:rPr>
              <a:t>2014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Metas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8092440" y="347472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8D4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543800" y="411480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D4FF"/>
                </a:solidFill>
              </a:rPr>
              <a:t>2015</a:t>
            </a:r>
            <a:endParaRPr lang="en-US" sz="2000" dirty="0"/>
          </a:p>
        </p:txBody>
      </p:sp>
      <p:sp>
        <p:nvSpPr>
          <p:cNvPr id="22" name="Shape 18"/>
          <p:cNvSpPr/>
          <p:nvPr/>
        </p:nvSpPr>
        <p:spPr>
          <a:xfrm>
            <a:off x="9509760" y="347472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8D4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8961120" y="210312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D4FF"/>
                </a:solidFill>
              </a:rPr>
              <a:t>2017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Resultados</a:t>
            </a:r>
            <a:endParaRPr lang="en-US" sz="2000" dirty="0"/>
          </a:p>
        </p:txBody>
      </p:sp>
      <p:sp>
        <p:nvSpPr>
          <p:cNvPr id="24" name="Shape 20"/>
          <p:cNvSpPr/>
          <p:nvPr/>
        </p:nvSpPr>
        <p:spPr>
          <a:xfrm>
            <a:off x="10927080" y="3474720"/>
            <a:ext cx="365760" cy="365760"/>
          </a:xfrm>
          <a:prstGeom prst="ellipse">
            <a:avLst/>
          </a:prstGeom>
          <a:solidFill>
            <a:srgbClr val="38D4FF"/>
          </a:solidFill>
          <a:ln w="25400">
            <a:solidFill>
              <a:srgbClr val="38D4F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10378440" y="411480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D4FF"/>
                </a:solidFill>
              </a:rPr>
              <a:t>2024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???</a:t>
            </a:r>
            <a:endParaRPr lang="en-US" sz="2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377"/>
                </a:solidFill>
              </a:rPr>
              <a:t>Processo PE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PLANEJAMENTO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Planejamento Estratégico 2025 - 2030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1463040" y="1325880"/>
            <a:ext cx="40233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600200" y="132588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3377"/>
                </a:solidFill>
              </a:rPr>
              <a:t>Quem somos?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577840" y="1636776"/>
            <a:ext cx="914400" cy="0"/>
          </a:xfrm>
          <a:prstGeom prst="line">
            <a:avLst/>
          </a:prstGeom>
          <a:noFill/>
          <a:ln w="12700">
            <a:solidFill>
              <a:srgbClr val="5B6B88"/>
            </a:solidFill>
            <a:prstDash val="dash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6583680" y="1325880"/>
            <a:ext cx="4206240" cy="621792"/>
          </a:xfrm>
          <a:prstGeom prst="roundRect">
            <a:avLst>
              <a:gd name="adj" fmla="val 11765"/>
            </a:avLst>
          </a:prstGeom>
          <a:solidFill>
            <a:srgbClr val="0A3377"/>
          </a:solidFill>
          <a:ln w="12700">
            <a:solidFill>
              <a:srgbClr val="0A3377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720840" y="132588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Missão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8503920" y="1874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D4FF"/>
                </a:solidFill>
              </a:rPr>
              <a:t>↓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1463040" y="2075688"/>
            <a:ext cx="40233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1600200" y="2075688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3377"/>
                </a:solidFill>
              </a:rPr>
              <a:t>Onde estamos?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577840" y="2386584"/>
            <a:ext cx="914400" cy="0"/>
          </a:xfrm>
          <a:prstGeom prst="line">
            <a:avLst/>
          </a:prstGeom>
          <a:noFill/>
          <a:ln w="12700">
            <a:solidFill>
              <a:srgbClr val="5B6B88"/>
            </a:solidFill>
            <a:prstDash val="dash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6583680" y="2075688"/>
            <a:ext cx="4206240" cy="621792"/>
          </a:xfrm>
          <a:prstGeom prst="roundRect">
            <a:avLst>
              <a:gd name="adj" fmla="val 11765"/>
            </a:avLst>
          </a:prstGeom>
          <a:solidFill>
            <a:srgbClr val="0A3377"/>
          </a:solidFill>
          <a:ln w="12700">
            <a:solidFill>
              <a:srgbClr val="0A3377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720840" y="2075688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Diagnóstico cenário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8503920" y="26243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D4FF"/>
                </a:solidFill>
              </a:rPr>
              <a:t>↓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583680" y="2825496"/>
            <a:ext cx="4206240" cy="621792"/>
          </a:xfrm>
          <a:prstGeom prst="roundRect">
            <a:avLst>
              <a:gd name="adj" fmla="val 11765"/>
            </a:avLst>
          </a:prstGeom>
          <a:solidFill>
            <a:srgbClr val="0A3377"/>
          </a:solidFill>
          <a:ln w="12700">
            <a:solidFill>
              <a:srgbClr val="0A3377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720840" y="2825496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Visão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8503920" y="33741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D4FF"/>
                </a:solidFill>
              </a:rPr>
              <a:t>↓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1463040" y="3575304"/>
            <a:ext cx="40233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1600200" y="3575304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3377"/>
                </a:solidFill>
              </a:rPr>
              <a:t>Onde queremos ir?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5577840" y="3886200"/>
            <a:ext cx="914400" cy="0"/>
          </a:xfrm>
          <a:prstGeom prst="line">
            <a:avLst/>
          </a:prstGeom>
          <a:noFill/>
          <a:ln w="12700">
            <a:solidFill>
              <a:srgbClr val="5B6B88"/>
            </a:solidFill>
            <a:prstDash val="dash"/>
            <a:tailEnd type="triangle"/>
          </a:ln>
        </p:spPr>
      </p:sp>
      <p:sp>
        <p:nvSpPr>
          <p:cNvPr id="27" name="Shape 23"/>
          <p:cNvSpPr/>
          <p:nvPr/>
        </p:nvSpPr>
        <p:spPr>
          <a:xfrm>
            <a:off x="6583680" y="3575304"/>
            <a:ext cx="4206240" cy="621792"/>
          </a:xfrm>
          <a:prstGeom prst="roundRect">
            <a:avLst>
              <a:gd name="adj" fmla="val 11765"/>
            </a:avLst>
          </a:prstGeom>
          <a:solidFill>
            <a:srgbClr val="0A3377"/>
          </a:solidFill>
          <a:ln w="12700">
            <a:solidFill>
              <a:srgbClr val="0A3377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720840" y="3575304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Objetivos estratégicos</a:t>
            </a:r>
            <a:endParaRPr lang="en-US" sz="1600" dirty="0"/>
          </a:p>
        </p:txBody>
      </p:sp>
      <p:sp>
        <p:nvSpPr>
          <p:cNvPr id="29" name="Text 25"/>
          <p:cNvSpPr txBox="1"/>
          <p:nvPr/>
        </p:nvSpPr>
        <p:spPr>
          <a:xfrm>
            <a:off x="8503920" y="41239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D4FF"/>
                </a:solidFill>
              </a:rPr>
              <a:t>↓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1463040" y="4325112"/>
            <a:ext cx="40233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1600200" y="4325112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3377"/>
                </a:solidFill>
              </a:rPr>
              <a:t>Como mediremos o desempenho alcançado?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5577840" y="4636008"/>
            <a:ext cx="914400" cy="0"/>
          </a:xfrm>
          <a:prstGeom prst="line">
            <a:avLst/>
          </a:prstGeom>
          <a:noFill/>
          <a:ln w="12700">
            <a:solidFill>
              <a:srgbClr val="5B6B88"/>
            </a:solidFill>
            <a:prstDash val="dash"/>
            <a:tailEnd type="triangle"/>
          </a:ln>
        </p:spPr>
      </p:sp>
      <p:sp>
        <p:nvSpPr>
          <p:cNvPr id="33" name="Shape 29"/>
          <p:cNvSpPr/>
          <p:nvPr/>
        </p:nvSpPr>
        <p:spPr>
          <a:xfrm>
            <a:off x="6583680" y="4325112"/>
            <a:ext cx="4206240" cy="621792"/>
          </a:xfrm>
          <a:prstGeom prst="roundRect">
            <a:avLst>
              <a:gd name="adj" fmla="val 11765"/>
            </a:avLst>
          </a:prstGeom>
          <a:solidFill>
            <a:srgbClr val="0A3377"/>
          </a:solidFill>
          <a:ln w="12700">
            <a:solidFill>
              <a:srgbClr val="0A3377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6720840" y="4325112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Indicadores de desempenho</a:t>
            </a:r>
            <a:endParaRPr lang="en-US" sz="1600" dirty="0"/>
          </a:p>
        </p:txBody>
      </p:sp>
      <p:sp>
        <p:nvSpPr>
          <p:cNvPr id="35" name="Text 31"/>
          <p:cNvSpPr txBox="1"/>
          <p:nvPr/>
        </p:nvSpPr>
        <p:spPr>
          <a:xfrm>
            <a:off x="8503920" y="48737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D4FF"/>
                </a:solidFill>
              </a:rPr>
              <a:t>↓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1463040" y="5074920"/>
            <a:ext cx="40233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1600200" y="507492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3377"/>
                </a:solidFill>
              </a:rPr>
              <a:t>Como chegaremos?</a:t>
            </a:r>
            <a:endParaRPr lang="en-US" sz="1400" dirty="0"/>
          </a:p>
        </p:txBody>
      </p:sp>
      <p:sp>
        <p:nvSpPr>
          <p:cNvPr id="38" name="Shape 34"/>
          <p:cNvSpPr/>
          <p:nvPr/>
        </p:nvSpPr>
        <p:spPr>
          <a:xfrm>
            <a:off x="5577840" y="5385816"/>
            <a:ext cx="914400" cy="0"/>
          </a:xfrm>
          <a:prstGeom prst="line">
            <a:avLst/>
          </a:prstGeom>
          <a:noFill/>
          <a:ln w="12700">
            <a:solidFill>
              <a:srgbClr val="5B6B88"/>
            </a:solidFill>
            <a:prstDash val="dash"/>
            <a:tailEnd type="triangle"/>
          </a:ln>
        </p:spPr>
      </p:sp>
      <p:sp>
        <p:nvSpPr>
          <p:cNvPr id="39" name="Shape 35"/>
          <p:cNvSpPr/>
          <p:nvPr/>
        </p:nvSpPr>
        <p:spPr>
          <a:xfrm>
            <a:off x="6583680" y="5074920"/>
            <a:ext cx="4206240" cy="621792"/>
          </a:xfrm>
          <a:prstGeom prst="roundRect">
            <a:avLst>
              <a:gd name="adj" fmla="val 11765"/>
            </a:avLst>
          </a:prstGeom>
          <a:solidFill>
            <a:srgbClr val="0A3377"/>
          </a:solidFill>
          <a:ln w="12700">
            <a:solidFill>
              <a:srgbClr val="0A3377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6720840" y="507492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Projetos</a:t>
            </a:r>
            <a:endParaRPr lang="en-US" sz="1600" dirty="0"/>
          </a:p>
        </p:txBody>
      </p:sp>
      <p:sp>
        <p:nvSpPr>
          <p:cNvPr id="41" name="Shape 37"/>
          <p:cNvSpPr/>
          <p:nvPr/>
        </p:nvSpPr>
        <p:spPr>
          <a:xfrm>
            <a:off x="5577840" y="3886200"/>
            <a:ext cx="914400" cy="-749808"/>
          </a:xfrm>
          <a:prstGeom prst="line">
            <a:avLst/>
          </a:prstGeom>
          <a:noFill/>
          <a:ln w="12700">
            <a:solidFill>
              <a:srgbClr val="5B6B88"/>
            </a:solidFill>
            <a:prstDash val="dash"/>
            <a:tailEnd type="triangle"/>
          </a:ln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377"/>
                </a:solidFill>
              </a:rPr>
              <a:t>ESG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SUSTENTABILIDADE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Planejamento Estratégico 2025 - 2030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1371600"/>
            <a:ext cx="5120640" cy="4526280"/>
          </a:xfrm>
          <a:prstGeom prst="roundRect">
            <a:avLst>
              <a:gd name="adj" fmla="val 2424"/>
            </a:avLst>
          </a:prstGeom>
          <a:solidFill>
            <a:srgbClr val="0A3377"/>
          </a:solidFill>
          <a:ln w="12700">
            <a:solidFill>
              <a:srgbClr val="0A3377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960120" y="1600200"/>
            <a:ext cx="4572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38D4FF"/>
                </a:solidFill>
              </a:rPr>
              <a:t>O que significa?</a:t>
            </a:r>
            <a:endParaRPr lang="en-US" sz="1800" dirty="0"/>
          </a:p>
          <a:p>
            <a:pPr indent="0" marL="0">
              <a:buNone/>
            </a:pPr>
            <a:r>
              <a:rPr lang="en-US" sz="3000" b="1" dirty="0">
                <a:solidFill>
                  <a:srgbClr val="38D4FF"/>
                </a:solidFill>
              </a:rPr>
              <a:t>E</a:t>
            </a:r>
            <a:r>
              <a:rPr lang="en-US" sz="2200" dirty="0">
                <a:solidFill>
                  <a:srgbClr val="FFFFFF"/>
                </a:solidFill>
              </a:rPr>
              <a:t>nvironmental – Ambiental</a:t>
            </a:r>
            <a:endParaRPr lang="en-US" sz="1800" dirty="0"/>
          </a:p>
          <a:p>
            <a:pPr indent="0" marL="0">
              <a:buNone/>
            </a:pPr>
            <a:r>
              <a:rPr lang="en-US" sz="3000" b="1" dirty="0">
                <a:solidFill>
                  <a:srgbClr val="38D4FF"/>
                </a:solidFill>
              </a:rPr>
              <a:t>S</a:t>
            </a:r>
            <a:r>
              <a:rPr lang="en-US" sz="2200" dirty="0">
                <a:solidFill>
                  <a:srgbClr val="FFFFFF"/>
                </a:solidFill>
              </a:rPr>
              <a:t>ocial – Social</a:t>
            </a:r>
            <a:endParaRPr lang="en-US" sz="1800" dirty="0"/>
          </a:p>
          <a:p>
            <a:pPr indent="0" marL="0">
              <a:buNone/>
            </a:pPr>
            <a:r>
              <a:rPr lang="en-US" sz="3000" b="1" dirty="0">
                <a:solidFill>
                  <a:srgbClr val="38D4FF"/>
                </a:solidFill>
              </a:rPr>
              <a:t>G</a:t>
            </a:r>
            <a:r>
              <a:rPr lang="en-US" sz="2200" dirty="0">
                <a:solidFill>
                  <a:srgbClr val="FFFFFF"/>
                </a:solidFill>
              </a:rPr>
              <a:t>overnance - Governança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6126480" y="1463040"/>
            <a:ext cx="54406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2080"/>
              </a:spcAft>
              <a:buSzPct val="100000"/>
              <a:buChar char="•"/>
            </a:pPr>
            <a:r>
              <a:rPr lang="en-US" sz="2600" dirty="0">
                <a:solidFill>
                  <a:srgbClr val="0A3377"/>
                </a:solidFill>
              </a:rPr>
              <a:t>É um conjunto de padrões e boas práticas que avaliam se uma empresa é sustentável, socialmente consciente e bem gerida.</a:t>
            </a:r>
            <a:endParaRPr lang="en-US" sz="2600" dirty="0"/>
          </a:p>
          <a:p>
            <a:pPr algn="l" marL="177800" indent="-177800">
              <a:spcAft>
                <a:spcPts val="2080"/>
              </a:spcAft>
              <a:buSzPct val="100000"/>
              <a:buChar char="•"/>
            </a:pPr>
            <a:r>
              <a:rPr lang="en-US" sz="2600" dirty="0">
                <a:solidFill>
                  <a:srgbClr val="0A3377"/>
                </a:solidFill>
              </a:rPr>
              <a:t>ESG = SUSTENTABILIDADE</a:t>
            </a:r>
            <a:endParaRPr lang="en-US" sz="2600" dirty="0"/>
          </a:p>
          <a:p>
            <a:pPr algn="l" marL="177800" indent="-177800">
              <a:spcAft>
                <a:spcPts val="2080"/>
              </a:spcAft>
              <a:buSzPct val="100000"/>
              <a:buChar char="•"/>
            </a:pPr>
            <a:r>
              <a:rPr lang="en-US" sz="2600" dirty="0">
                <a:solidFill>
                  <a:srgbClr val="0A3377"/>
                </a:solidFill>
              </a:rPr>
              <a:t>São sinônimos</a:t>
            </a:r>
            <a:endParaRPr lang="en-US" sz="2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377"/>
                </a:solidFill>
              </a:rPr>
              <a:t>ESG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SUSTENTABILIDADE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Planejamento Estratégico 2025 - 2030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2072488" y="1371600"/>
            <a:ext cx="804672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10" name="Image 2" descr="/tmp/claude-0/-home-user-norte-sul-portfolio/b828416d-028b-56b8-943d-a9bc67fc20c3/scratchpad/pptx_out/pl/esg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2536" y="1444752"/>
            <a:ext cx="7786624" cy="4379976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377"/>
                </a:solidFill>
              </a:rPr>
              <a:t>ESG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SUSTENTABILIDADE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Planejamento Estratégico 2025 - 2030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1371600"/>
            <a:ext cx="35661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60"/>
              </a:spcAft>
              <a:buNone/>
            </a:pPr>
            <a:r>
              <a:rPr lang="en-US" sz="2600" dirty="0">
                <a:solidFill>
                  <a:srgbClr val="0A3377"/>
                </a:solidFill>
              </a:rPr>
              <a:t>Onde surgiu o anacronismo?</a:t>
            </a:r>
            <a:endParaRPr lang="en-US" sz="2600" dirty="0"/>
          </a:p>
          <a:p>
            <a:pPr algn="l" indent="0" marL="0">
              <a:spcAft>
                <a:spcPts val="1560"/>
              </a:spcAft>
              <a:buNone/>
            </a:pPr>
            <a:r>
              <a:rPr lang="en-US" sz="2600" b="1" dirty="0">
                <a:solidFill>
                  <a:srgbClr val="0A3377"/>
                </a:solidFill>
              </a:rPr>
              <a:t>2004 Relatório das Nações Unidas</a:t>
            </a:r>
            <a:endParaRPr lang="en-US" sz="2600" dirty="0"/>
          </a:p>
        </p:txBody>
      </p:sp>
      <p:sp>
        <p:nvSpPr>
          <p:cNvPr id="10" name="Shape 6"/>
          <p:cNvSpPr/>
          <p:nvPr/>
        </p:nvSpPr>
        <p:spPr>
          <a:xfrm>
            <a:off x="4480560" y="1371600"/>
            <a:ext cx="708660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11" name="Image 2" descr="/tmp/claude-0/-home-user-norte-sul-portfolio/b828416d-028b-56b8-943d-a9bc67fc20c3/scratchpad/pptx_out/pl/s37_4cc0410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712" y="1854061"/>
            <a:ext cx="6940296" cy="3561359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377"/>
                </a:solidFill>
              </a:rPr>
              <a:t>LGPD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PROTEÇÃO DE DADOS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Planejamento Estratégico 2025 - 2030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1371600"/>
            <a:ext cx="3931920" cy="4526280"/>
          </a:xfrm>
          <a:prstGeom prst="roundRect">
            <a:avLst>
              <a:gd name="adj" fmla="val 2791"/>
            </a:avLst>
          </a:prstGeom>
          <a:solidFill>
            <a:srgbClr val="0A3377"/>
          </a:solidFill>
          <a:ln w="12700">
            <a:solidFill>
              <a:srgbClr val="0A3377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914400" y="1645920"/>
            <a:ext cx="3383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40"/>
              </a:spcAft>
              <a:buNone/>
            </a:pPr>
            <a:r>
              <a:rPr lang="en-US" sz="2400" b="1" dirty="0">
                <a:solidFill>
                  <a:srgbClr val="CFE6FF"/>
                </a:solidFill>
              </a:rPr>
              <a:t>Lei 13.709/2018</a:t>
            </a:r>
            <a:endParaRPr lang="en-US" sz="2400" dirty="0"/>
          </a:p>
          <a:p>
            <a:pPr algn="l" indent="0" marL="0">
              <a:spcAft>
                <a:spcPts val="840"/>
              </a:spcAft>
              <a:buNone/>
            </a:pPr>
            <a:r>
              <a:rPr lang="en-US" sz="2400" b="1" dirty="0">
                <a:solidFill>
                  <a:srgbClr val="CFE6FF"/>
                </a:solidFill>
              </a:rPr>
              <a:t>Lei Geral de Proteção de Dados Pessoais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48920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540"/>
              </a:spcAft>
              <a:buSzPct val="100000"/>
              <a:buChar char="•"/>
            </a:pPr>
            <a:r>
              <a:rPr lang="en-US" sz="2200" dirty="0">
                <a:solidFill>
                  <a:srgbClr val="0A3377"/>
                </a:solidFill>
              </a:rPr>
              <a:t>Alto nível de transparência e ética em suas atividades e o compromisso se estende ao tratamento dos dados pessoais</a:t>
            </a:r>
            <a:endParaRPr lang="en-US" sz="2200" dirty="0"/>
          </a:p>
          <a:p>
            <a:pPr algn="l" marL="177800" indent="-177800">
              <a:spcAft>
                <a:spcPts val="1540"/>
              </a:spcAft>
              <a:buSzPct val="100000"/>
              <a:buChar char="•"/>
            </a:pPr>
            <a:r>
              <a:rPr lang="en-US" sz="2200" dirty="0">
                <a:solidFill>
                  <a:srgbClr val="0A3377"/>
                </a:solidFill>
              </a:rPr>
              <a:t>Definir Política de Privacidade e Proteção de dados Pessoais</a:t>
            </a:r>
            <a:endParaRPr lang="en-US" sz="2200" dirty="0"/>
          </a:p>
          <a:p>
            <a:pPr algn="l" marL="177800" indent="-177800">
              <a:spcAft>
                <a:spcPts val="1540"/>
              </a:spcAft>
              <a:buSzPct val="100000"/>
              <a:buChar char="•"/>
            </a:pPr>
            <a:r>
              <a:rPr lang="en-US" sz="2200" dirty="0">
                <a:solidFill>
                  <a:srgbClr val="0A3377"/>
                </a:solidFill>
              </a:rPr>
              <a:t>Clientes / Fornecedores /Prestadores de Serviço / Parceiros de Negócios</a:t>
            </a:r>
            <a:endParaRPr lang="en-US" sz="2200" dirty="0"/>
          </a:p>
          <a:p>
            <a:pPr algn="l" marL="177800" indent="-177800">
              <a:spcAft>
                <a:spcPts val="1540"/>
              </a:spcAft>
              <a:buSzPct val="100000"/>
              <a:buChar char="•"/>
            </a:pPr>
            <a:r>
              <a:rPr lang="en-US" sz="2200" dirty="0">
                <a:solidFill>
                  <a:srgbClr val="0A3377"/>
                </a:solidFill>
              </a:rPr>
              <a:t>Candidatos a vagas de emprego / Administradores / Colaboradores</a:t>
            </a:r>
            <a:endParaRPr lang="en-US" sz="2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377"/>
                </a:solidFill>
              </a:rPr>
              <a:t>LGPD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PROTEÇÃO DE DADOS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Planejamento Estratégico 2025 - 2030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1463040"/>
            <a:ext cx="54864" cy="54864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68680" y="14630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3377"/>
                </a:solidFill>
              </a:rPr>
              <a:t>Tem seus dados pessoais, tratados pela Norte Sul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2377440"/>
            <a:ext cx="109270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40"/>
              </a:spcAft>
              <a:buNone/>
            </a:pPr>
            <a:r>
              <a:rPr lang="en-US" sz="2400" dirty="0">
                <a:solidFill>
                  <a:srgbClr val="0A3377"/>
                </a:solidFill>
              </a:rPr>
              <a:t>Contém </a:t>
            </a:r>
            <a:r>
              <a:rPr lang="en-US" sz="2400" dirty="0">
                <a:solidFill>
                  <a:srgbClr val="0A3377"/>
                </a:solidFill>
              </a:rPr>
              <a:t>informações sobre a coleta, uso, retenção, transferência, armazenamento, descarte e tratamento de seus dados pessoais, além de explicar como e para quais finalidades seus dados são coletados, utilizados, retidos, transferidos, armazenados, tratados e descartados, como a empresa protege seus dados pessoais e quais são os seus direitos em relação a esses dados pessoais.</a:t>
            </a:r>
            <a:endParaRPr lang="en-US" sz="2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377"/>
                </a:solidFill>
              </a:rPr>
              <a:t>Organograma Norte Sul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ESTRUTURA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Planejamento Estratégico 2025 - 2030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480560" y="1463040"/>
            <a:ext cx="3246120" cy="868680"/>
          </a:xfrm>
          <a:prstGeom prst="roundRect">
            <a:avLst>
              <a:gd name="adj" fmla="val 8421"/>
            </a:avLst>
          </a:prstGeom>
          <a:solidFill>
            <a:srgbClr val="0A3377"/>
          </a:solidFill>
          <a:ln w="9525">
            <a:solidFill>
              <a:srgbClr val="0A3377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572000" y="14630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Diretor Executivo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Ricardo Pera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8503920" y="251460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595360" y="25146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3377"/>
                </a:solidFill>
              </a:rPr>
              <a:t>Conselho Administrativo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103620" y="2331720"/>
            <a:ext cx="0" cy="1371600"/>
          </a:xfrm>
          <a:prstGeom prst="line">
            <a:avLst/>
          </a:prstGeom>
          <a:noFill/>
          <a:ln w="15875">
            <a:solidFill>
              <a:srgbClr val="0A337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103620" y="2880360"/>
            <a:ext cx="2400300" cy="0"/>
          </a:xfrm>
          <a:prstGeom prst="line">
            <a:avLst/>
          </a:prstGeom>
          <a:noFill/>
          <a:ln w="15875">
            <a:solidFill>
              <a:srgbClr val="0A337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783080" y="3703320"/>
            <a:ext cx="8641080" cy="0"/>
          </a:xfrm>
          <a:prstGeom prst="line">
            <a:avLst/>
          </a:prstGeom>
          <a:noFill/>
          <a:ln w="15875">
            <a:solidFill>
              <a:srgbClr val="0A337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783080" y="3703320"/>
            <a:ext cx="0" cy="411480"/>
          </a:xfrm>
          <a:prstGeom prst="line">
            <a:avLst/>
          </a:prstGeom>
          <a:noFill/>
          <a:ln w="15875">
            <a:solidFill>
              <a:srgbClr val="0A337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0080" y="411480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31520" y="41148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3377"/>
                </a:solidFill>
              </a:rPr>
              <a:t>Diretor Comercial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A3377"/>
                </a:solidFill>
              </a:rPr>
              <a:t>Júlio Pera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4663440" y="3703320"/>
            <a:ext cx="0" cy="411480"/>
          </a:xfrm>
          <a:prstGeom prst="line">
            <a:avLst/>
          </a:prstGeom>
          <a:noFill/>
          <a:ln w="15875">
            <a:solidFill>
              <a:srgbClr val="0A3377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520440" y="411480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3611880" y="41148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3377"/>
                </a:solidFill>
              </a:rPr>
              <a:t>Diretor Técnico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A3377"/>
                </a:solidFill>
              </a:rPr>
              <a:t>Juliano Santos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7543800" y="3703320"/>
            <a:ext cx="0" cy="411480"/>
          </a:xfrm>
          <a:prstGeom prst="line">
            <a:avLst/>
          </a:prstGeom>
          <a:noFill/>
          <a:ln w="15875">
            <a:solidFill>
              <a:srgbClr val="0A337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400800" y="411480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492240" y="41148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3377"/>
                </a:solidFill>
              </a:rPr>
              <a:t>Diretor Operacional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A3377"/>
                </a:solidFill>
              </a:rPr>
              <a:t>Gabriela Pedroso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10424160" y="3703320"/>
            <a:ext cx="0" cy="411480"/>
          </a:xfrm>
          <a:prstGeom prst="line">
            <a:avLst/>
          </a:prstGeom>
          <a:noFill/>
          <a:ln w="15875">
            <a:solidFill>
              <a:srgbClr val="0A3377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9281160" y="411480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9372600" y="41148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3377"/>
                </a:solidFill>
              </a:rPr>
              <a:t>Administrativo Financeiro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A3377"/>
                </a:solidFill>
              </a:rPr>
              <a:t>Ulisses Lunard</a:t>
            </a:r>
            <a:endParaRPr lang="en-US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8D4FF"/>
                </a:solidFill>
              </a:rPr>
              <a:t>MISSÃO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10881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Prover soluções que atendam ou superem as necessidades e expectativas dos clientes e o bem estar da população, através da melhoria contínua da operação e renovação da infraestrutura, utilizando as tecnologias mais adequadas de forma socioambiental e economicamente sustentável.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Planejamento Estratégico 2025 - 2030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A3377"/>
                </a:solidFill>
              </a:rPr>
              <a:t>Missão – Interpretação - Cases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MISSÃO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Planejamento Estratégico 2025 - 2030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1280160"/>
            <a:ext cx="53492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800" b="1" dirty="0">
                <a:solidFill>
                  <a:srgbClr val="0A3377"/>
                </a:solidFill>
              </a:rPr>
              <a:t>Prover Soluções:  </a:t>
            </a:r>
            <a:r>
              <a:rPr lang="en-US" sz="1800" dirty="0">
                <a:solidFill>
                  <a:srgbClr val="0A3377"/>
                </a:solidFill>
              </a:rPr>
              <a:t>Diagnosticar os problemas reais e propor/apresentar soluções eficazes, ainda que os clientes não tenham a percepção completa da situação.</a:t>
            </a:r>
            <a:endParaRPr lang="en-US" sz="1800" dirty="0"/>
          </a:p>
          <a:p>
            <a:pPr algn="l" marL="177800" indent="-17780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0A3377"/>
                </a:solidFill>
              </a:rPr>
              <a:t>Sistema Informatizado de Gestão (SIGIURB) 2003 /2024;</a:t>
            </a:r>
            <a:endParaRPr lang="en-US" sz="1800" dirty="0"/>
          </a:p>
          <a:p>
            <a:pPr algn="l" marL="177800" indent="-17780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0A3377"/>
                </a:solidFill>
              </a:rPr>
              <a:t>Desidratação </a:t>
            </a:r>
            <a:r>
              <a:rPr lang="en-US" sz="1800" dirty="0">
                <a:solidFill>
                  <a:srgbClr val="0A3377"/>
                </a:solidFill>
              </a:rPr>
              <a:t>de Resíduos na PMSP </a:t>
            </a:r>
            <a:r>
              <a:rPr lang="en-US" sz="1800" dirty="0">
                <a:solidFill>
                  <a:srgbClr val="0A3377"/>
                </a:solidFill>
              </a:rPr>
              <a:t>2008 </a:t>
            </a:r>
            <a:r>
              <a:rPr lang="en-US" sz="1800" dirty="0">
                <a:solidFill>
                  <a:srgbClr val="0A3377"/>
                </a:solidFill>
              </a:rPr>
              <a:t>;</a:t>
            </a:r>
            <a:endParaRPr lang="en-US" sz="1800" dirty="0"/>
          </a:p>
          <a:p>
            <a:pPr algn="l" marL="177800" indent="-17780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0A3377"/>
                </a:solidFill>
              </a:rPr>
              <a:t>Programa Córrego Limpo (PMSP x SABESP) </a:t>
            </a:r>
            <a:r>
              <a:rPr lang="en-US" sz="1800" dirty="0">
                <a:solidFill>
                  <a:srgbClr val="0A3377"/>
                </a:solidFill>
              </a:rPr>
              <a:t>2008;</a:t>
            </a:r>
            <a:endParaRPr lang="en-US" sz="1800" dirty="0"/>
          </a:p>
          <a:p>
            <a:pPr algn="l" marL="177800" indent="-17780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0A3377"/>
                </a:solidFill>
              </a:rPr>
              <a:t>Contrato </a:t>
            </a:r>
            <a:r>
              <a:rPr lang="en-US" sz="1800" dirty="0">
                <a:solidFill>
                  <a:srgbClr val="0A3377"/>
                </a:solidFill>
              </a:rPr>
              <a:t>de Performance em esgotos, </a:t>
            </a:r>
            <a:r>
              <a:rPr lang="en-US" sz="1800" dirty="0">
                <a:solidFill>
                  <a:srgbClr val="0A3377"/>
                </a:solidFill>
              </a:rPr>
              <a:t>SABESP 2011 / 2024;</a:t>
            </a:r>
            <a:endParaRPr lang="en-US" sz="1800" dirty="0"/>
          </a:p>
          <a:p>
            <a:pPr algn="l" marL="177800" indent="-17780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0A3377"/>
                </a:solidFill>
              </a:rPr>
              <a:t>Reciclagem de Areia PMSP 2022;</a:t>
            </a:r>
            <a:endParaRPr lang="en-US" sz="1800" dirty="0"/>
          </a:p>
          <a:p>
            <a:pPr algn="l" marL="177800" indent="-17780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0A3377"/>
                </a:solidFill>
              </a:rPr>
              <a:t>Equipamento Reciclador Limpeza MAX 2022;</a:t>
            </a:r>
            <a:endParaRPr lang="en-US" sz="1800" dirty="0"/>
          </a:p>
          <a:p>
            <a:pPr algn="l" marL="177800" indent="-17780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0A3377"/>
                </a:solidFill>
              </a:rPr>
              <a:t>Projeto de Redução de Perdas e do IORC em SABESP – 2025.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6217920" y="1280160"/>
            <a:ext cx="53492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63"/>
              </a:spcAft>
              <a:buNone/>
            </a:pPr>
            <a:r>
              <a:rPr lang="en-US" sz="1450" b="1" dirty="0">
                <a:solidFill>
                  <a:srgbClr val="0A3377"/>
                </a:solidFill>
              </a:rPr>
              <a:t>Necessidades e expectativas dos clientes</a:t>
            </a:r>
            <a:r>
              <a:rPr lang="en-US" sz="1450" dirty="0">
                <a:solidFill>
                  <a:srgbClr val="0A3377"/>
                </a:solidFill>
              </a:rPr>
              <a:t>: Resolução de problemas com qualidade, agilidade, pontualidade, eficiência, cordialidade e transparência, utilizando soluções preventivas e criativas, diminuindo a intensidade e gravidade dos problemas e/ou amenizando as consequências</a:t>
            </a:r>
            <a:r>
              <a:rPr lang="en-US" sz="1450" dirty="0">
                <a:solidFill>
                  <a:srgbClr val="0A3377"/>
                </a:solidFill>
              </a:rPr>
              <a:t>.</a:t>
            </a:r>
            <a:endParaRPr lang="en-US" sz="1450" dirty="0"/>
          </a:p>
          <a:p>
            <a:pPr algn="l" marL="177800" indent="-177800">
              <a:spcAft>
                <a:spcPts val="363"/>
              </a:spcAft>
              <a:buSzPct val="100000"/>
              <a:buChar char="•"/>
            </a:pPr>
            <a:r>
              <a:rPr lang="en-US" sz="1450" dirty="0">
                <a:solidFill>
                  <a:srgbClr val="0A3377"/>
                </a:solidFill>
              </a:rPr>
              <a:t>Limpeza do emissário submarino de esgotos do Guarujá – 1990</a:t>
            </a:r>
            <a:endParaRPr lang="en-US" sz="1450" dirty="0"/>
          </a:p>
          <a:p>
            <a:pPr algn="l" marL="177800" indent="-177800">
              <a:spcAft>
                <a:spcPts val="363"/>
              </a:spcAft>
              <a:buSzPct val="100000"/>
              <a:buChar char="•"/>
            </a:pPr>
            <a:r>
              <a:rPr lang="en-US" sz="1450" dirty="0">
                <a:solidFill>
                  <a:srgbClr val="0A3377"/>
                </a:solidFill>
              </a:rPr>
              <a:t>Limpeza do córrego do SABOÓ em Santos – 1992</a:t>
            </a:r>
            <a:endParaRPr lang="en-US" sz="1450" dirty="0"/>
          </a:p>
          <a:p>
            <a:pPr algn="l" marL="177800" indent="-177800">
              <a:spcAft>
                <a:spcPts val="363"/>
              </a:spcAft>
              <a:buSzPct val="100000"/>
              <a:buChar char="•"/>
            </a:pPr>
            <a:r>
              <a:rPr lang="en-US" sz="1450" dirty="0">
                <a:solidFill>
                  <a:srgbClr val="0A3377"/>
                </a:solidFill>
              </a:rPr>
              <a:t>Limpeza do poço úmido da ETE Parque Novo Mundo - </a:t>
            </a:r>
            <a:r>
              <a:rPr lang="en-US" sz="1450" dirty="0">
                <a:solidFill>
                  <a:srgbClr val="0A3377"/>
                </a:solidFill>
              </a:rPr>
              <a:t>1998</a:t>
            </a:r>
            <a:endParaRPr lang="en-US" sz="1450" dirty="0"/>
          </a:p>
          <a:p>
            <a:pPr algn="l" marL="177800" indent="-177800">
              <a:spcAft>
                <a:spcPts val="363"/>
              </a:spcAft>
              <a:buSzPct val="100000"/>
              <a:buChar char="•"/>
            </a:pPr>
            <a:r>
              <a:rPr lang="en-US" sz="1450" dirty="0">
                <a:solidFill>
                  <a:srgbClr val="0A3377"/>
                </a:solidFill>
              </a:rPr>
              <a:t>Inundações no Vale do Itajaí – 2008</a:t>
            </a:r>
            <a:endParaRPr lang="en-US" sz="1450" dirty="0"/>
          </a:p>
          <a:p>
            <a:pPr algn="l" marL="177800" indent="-177800">
              <a:spcAft>
                <a:spcPts val="363"/>
              </a:spcAft>
              <a:buSzPct val="100000"/>
              <a:buChar char="•"/>
            </a:pPr>
            <a:r>
              <a:rPr lang="en-US" sz="1450" dirty="0">
                <a:solidFill>
                  <a:srgbClr val="0A3377"/>
                </a:solidFill>
              </a:rPr>
              <a:t>Inundação Jardim Romano – 2009</a:t>
            </a:r>
            <a:endParaRPr lang="en-US" sz="1450" dirty="0"/>
          </a:p>
          <a:p>
            <a:pPr algn="l" marL="177800" indent="-177800">
              <a:spcAft>
                <a:spcPts val="363"/>
              </a:spcAft>
              <a:buSzPct val="100000"/>
              <a:buChar char="•"/>
            </a:pPr>
            <a:r>
              <a:rPr lang="en-US" sz="1450" dirty="0">
                <a:solidFill>
                  <a:srgbClr val="0A3377"/>
                </a:solidFill>
              </a:rPr>
              <a:t>Limpeza </a:t>
            </a:r>
            <a:r>
              <a:rPr lang="en-US" sz="1450" dirty="0">
                <a:solidFill>
                  <a:srgbClr val="0A3377"/>
                </a:solidFill>
              </a:rPr>
              <a:t>do interceptor Pampulha BH / MG – </a:t>
            </a:r>
            <a:r>
              <a:rPr lang="en-US" sz="1450" dirty="0">
                <a:solidFill>
                  <a:srgbClr val="0A3377"/>
                </a:solidFill>
              </a:rPr>
              <a:t>2018</a:t>
            </a:r>
            <a:endParaRPr lang="en-US" sz="1450" dirty="0"/>
          </a:p>
          <a:p>
            <a:pPr algn="l" marL="177800" indent="-177800">
              <a:spcAft>
                <a:spcPts val="363"/>
              </a:spcAft>
              <a:buSzPct val="100000"/>
              <a:buChar char="•"/>
            </a:pPr>
            <a:r>
              <a:rPr lang="en-US" sz="1450" dirty="0">
                <a:solidFill>
                  <a:srgbClr val="0A3377"/>
                </a:solidFill>
              </a:rPr>
              <a:t>Limpeza </a:t>
            </a:r>
            <a:r>
              <a:rPr lang="en-US" sz="1450" dirty="0">
                <a:solidFill>
                  <a:srgbClr val="0A3377"/>
                </a:solidFill>
              </a:rPr>
              <a:t>do Interceptor Oceânico do </a:t>
            </a:r>
            <a:r>
              <a:rPr lang="en-US" sz="1450" dirty="0">
                <a:solidFill>
                  <a:srgbClr val="0A3377"/>
                </a:solidFill>
              </a:rPr>
              <a:t>RJ – 2020 - 2022</a:t>
            </a:r>
            <a:endParaRPr lang="en-US" sz="1450" dirty="0"/>
          </a:p>
          <a:p>
            <a:pPr algn="l" marL="177800" indent="-177800">
              <a:spcAft>
                <a:spcPts val="363"/>
              </a:spcAft>
              <a:buSzPct val="100000"/>
              <a:buChar char="•"/>
            </a:pPr>
            <a:r>
              <a:rPr lang="en-US" sz="1450" dirty="0">
                <a:solidFill>
                  <a:srgbClr val="0A3377"/>
                </a:solidFill>
              </a:rPr>
              <a:t>Limpeza EEE Pinheiros - 2022</a:t>
            </a:r>
            <a:endParaRPr lang="en-US" sz="1450" dirty="0"/>
          </a:p>
          <a:p>
            <a:pPr algn="l" marL="177800" indent="-177800">
              <a:spcAft>
                <a:spcPts val="363"/>
              </a:spcAft>
              <a:buSzPct val="100000"/>
              <a:buChar char="•"/>
            </a:pPr>
            <a:r>
              <a:rPr lang="en-US" sz="1450" dirty="0">
                <a:solidFill>
                  <a:srgbClr val="0A3377"/>
                </a:solidFill>
              </a:rPr>
              <a:t>Desobstrução do Interceptor Guarapiranga – 2022</a:t>
            </a:r>
            <a:endParaRPr lang="en-US" sz="1450" dirty="0"/>
          </a:p>
          <a:p>
            <a:pPr algn="l" marL="177800" indent="-177800">
              <a:spcAft>
                <a:spcPts val="363"/>
              </a:spcAft>
              <a:buSzPct val="100000"/>
              <a:buChar char="•"/>
            </a:pPr>
            <a:r>
              <a:rPr lang="en-US" sz="1450" dirty="0">
                <a:solidFill>
                  <a:srgbClr val="0A3377"/>
                </a:solidFill>
              </a:rPr>
              <a:t>Limpeza do Interceptor Maceió AL – 2023</a:t>
            </a:r>
            <a:endParaRPr lang="en-US" sz="14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A3377"/>
                </a:solidFill>
              </a:rPr>
              <a:t>Missão – Interpretação - Cases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MISSÃO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Planejamento Estratégico 2025 - 2030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1280160"/>
            <a:ext cx="53492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800" b="1" dirty="0">
                <a:solidFill>
                  <a:srgbClr val="0A3377"/>
                </a:solidFill>
              </a:rPr>
              <a:t>Bem-estar da população</a:t>
            </a:r>
            <a:r>
              <a:rPr lang="en-US" sz="1800" dirty="0">
                <a:solidFill>
                  <a:srgbClr val="0A3377"/>
                </a:solidFill>
              </a:rPr>
              <a:t>: Permitir o correto funcionamento dos sistemas de água,  </a:t>
            </a:r>
            <a:r>
              <a:rPr lang="en-US" sz="1800" dirty="0">
                <a:solidFill>
                  <a:srgbClr val="0A3377"/>
                </a:solidFill>
              </a:rPr>
              <a:t>esgotos </a:t>
            </a:r>
            <a:r>
              <a:rPr lang="en-US" sz="1800" dirty="0">
                <a:solidFill>
                  <a:srgbClr val="0A3377"/>
                </a:solidFill>
              </a:rPr>
              <a:t>e drenagem, eliminando, diminuindo ou amenizando os problemas com intermitências e perdas de água, alagamentos, </a:t>
            </a:r>
            <a:r>
              <a:rPr lang="en-US" sz="1800" dirty="0">
                <a:solidFill>
                  <a:srgbClr val="0A3377"/>
                </a:solidFill>
              </a:rPr>
              <a:t>extravasamentos </a:t>
            </a:r>
            <a:r>
              <a:rPr lang="en-US" sz="1800" dirty="0">
                <a:solidFill>
                  <a:srgbClr val="0A3377"/>
                </a:solidFill>
              </a:rPr>
              <a:t>de </a:t>
            </a:r>
            <a:r>
              <a:rPr lang="en-US" sz="1800" dirty="0">
                <a:solidFill>
                  <a:srgbClr val="0A3377"/>
                </a:solidFill>
              </a:rPr>
              <a:t>esgotos </a:t>
            </a:r>
            <a:r>
              <a:rPr lang="en-US" sz="1800" dirty="0">
                <a:solidFill>
                  <a:srgbClr val="0A3377"/>
                </a:solidFill>
              </a:rPr>
              <a:t>e drenagem</a:t>
            </a:r>
            <a:r>
              <a:rPr lang="en-US" sz="1800" dirty="0">
                <a:solidFill>
                  <a:srgbClr val="0A3377"/>
                </a:solidFill>
              </a:rPr>
              <a:t>.</a:t>
            </a:r>
            <a:endParaRPr lang="en-US" sz="1800" dirty="0"/>
          </a:p>
          <a:p>
            <a:pPr algn="l" marL="177800" indent="-17780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0A3377"/>
                </a:solidFill>
              </a:rPr>
              <a:t>Programa de trocas de rede de distribuição de água por MND em SANASA (300km) SABESP (100km) – Metropolitana;</a:t>
            </a:r>
            <a:endParaRPr lang="en-US" sz="1800" dirty="0"/>
          </a:p>
          <a:p>
            <a:pPr algn="l" marL="177800" indent="-17780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0A3377"/>
                </a:solidFill>
              </a:rPr>
              <a:t>Diminuição das obstruções (</a:t>
            </a:r>
            <a:r>
              <a:rPr lang="en-US" sz="1800" dirty="0">
                <a:solidFill>
                  <a:srgbClr val="0A3377"/>
                </a:solidFill>
              </a:rPr>
              <a:t>vazamentos de </a:t>
            </a:r>
            <a:r>
              <a:rPr lang="en-US" sz="1800" dirty="0">
                <a:solidFill>
                  <a:srgbClr val="0A3377"/>
                </a:solidFill>
              </a:rPr>
              <a:t>esgotos) em São Miguel e Itaquera em 50% e em Campinas 42%;</a:t>
            </a:r>
            <a:endParaRPr lang="en-US" sz="1800" dirty="0"/>
          </a:p>
          <a:p>
            <a:pPr algn="l" marL="177800" indent="-17780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0A3377"/>
                </a:solidFill>
              </a:rPr>
              <a:t>Diminuição dos pontos de alagamento em São Miguel, Penha, Itaim Paulista, Ermelino, Itaquera, São Mateus, Guarulhos e Poá;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6217920" y="1280160"/>
            <a:ext cx="53492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75"/>
              </a:spcAft>
              <a:buNone/>
            </a:pPr>
            <a:r>
              <a:rPr lang="en-US" sz="1500" b="1" dirty="0">
                <a:solidFill>
                  <a:srgbClr val="0A3377"/>
                </a:solidFill>
              </a:rPr>
              <a:t>Operação da Infraestrutura</a:t>
            </a:r>
            <a:r>
              <a:rPr lang="en-US" sz="1500" dirty="0">
                <a:solidFill>
                  <a:srgbClr val="0A3377"/>
                </a:solidFill>
              </a:rPr>
              <a:t>: </a:t>
            </a:r>
            <a:r>
              <a:rPr lang="en-US" sz="1500" dirty="0">
                <a:solidFill>
                  <a:srgbClr val="0A3377"/>
                </a:solidFill>
              </a:rPr>
              <a:t>É </a:t>
            </a:r>
            <a:r>
              <a:rPr lang="en-US" sz="1500" dirty="0">
                <a:solidFill>
                  <a:srgbClr val="0A3377"/>
                </a:solidFill>
              </a:rPr>
              <a:t>o correto funcionamento dos sistemas de água, esgoto e drenagem</a:t>
            </a:r>
            <a:r>
              <a:rPr lang="en-US" sz="1500" dirty="0">
                <a:solidFill>
                  <a:srgbClr val="0A3377"/>
                </a:solidFill>
              </a:rPr>
              <a:t>.</a:t>
            </a:r>
            <a:endParaRPr lang="en-US" sz="1500" dirty="0"/>
          </a:p>
          <a:p>
            <a:pPr algn="l" marL="177800" indent="-177800">
              <a:spcAft>
                <a:spcPts val="375"/>
              </a:spcAft>
              <a:buSzPct val="100000"/>
              <a:buChar char="•"/>
            </a:pPr>
            <a:r>
              <a:rPr lang="en-US" sz="1500" dirty="0">
                <a:solidFill>
                  <a:srgbClr val="0A3377"/>
                </a:solidFill>
              </a:rPr>
              <a:t>Programas </a:t>
            </a:r>
            <a:r>
              <a:rPr lang="en-US" sz="1500" dirty="0">
                <a:solidFill>
                  <a:srgbClr val="0A3377"/>
                </a:solidFill>
              </a:rPr>
              <a:t>de Otimização do Sistemas de esgotos em SP (ZL), Mogi das Cruzes, </a:t>
            </a:r>
            <a:r>
              <a:rPr lang="en-US" sz="1500" dirty="0">
                <a:solidFill>
                  <a:srgbClr val="0A3377"/>
                </a:solidFill>
              </a:rPr>
              <a:t>Campinas, Uberlândia e Alto Tiete, assim como do Sistema de Drenagem na PMSP (ZL), Guarulhos, Poá e Goiânia permitindo a operação mais eficiente da infraestrutura, </a:t>
            </a:r>
            <a:r>
              <a:rPr lang="en-US" sz="1500" dirty="0">
                <a:solidFill>
                  <a:srgbClr val="0A3377"/>
                </a:solidFill>
              </a:rPr>
              <a:t>melhorando qualidade de vida de aproximadamente </a:t>
            </a:r>
            <a:r>
              <a:rPr lang="en-US" sz="1500" dirty="0">
                <a:solidFill>
                  <a:srgbClr val="0A3377"/>
                </a:solidFill>
              </a:rPr>
              <a:t>7 </a:t>
            </a:r>
            <a:r>
              <a:rPr lang="en-US" sz="1500" dirty="0">
                <a:solidFill>
                  <a:srgbClr val="0A3377"/>
                </a:solidFill>
              </a:rPr>
              <a:t>milhões de pessoas.</a:t>
            </a:r>
            <a:endParaRPr lang="en-US" sz="1500" dirty="0"/>
          </a:p>
          <a:p>
            <a:pPr algn="l" indent="0" marL="0">
              <a:spcAft>
                <a:spcPts val="375"/>
              </a:spcAft>
              <a:buNone/>
            </a:pPr>
            <a:r>
              <a:rPr lang="en-US" sz="1500" b="1" dirty="0">
                <a:solidFill>
                  <a:srgbClr val="0A3377"/>
                </a:solidFill>
              </a:rPr>
              <a:t>Renovação da Infraestrutura: </a:t>
            </a:r>
            <a:r>
              <a:rPr lang="en-US" sz="1500" dirty="0">
                <a:solidFill>
                  <a:srgbClr val="0A3377"/>
                </a:solidFill>
              </a:rPr>
              <a:t>Ações para restaurar as funcionalidades da infraestrutura (troca de rede de água e esgotos</a:t>
            </a:r>
            <a:r>
              <a:rPr lang="en-US" sz="1500" dirty="0">
                <a:solidFill>
                  <a:srgbClr val="0A3377"/>
                </a:solidFill>
              </a:rPr>
              <a:t>).</a:t>
            </a:r>
            <a:endParaRPr lang="en-US" sz="1500" dirty="0"/>
          </a:p>
          <a:p>
            <a:pPr algn="l" marL="177800" indent="-177800">
              <a:spcAft>
                <a:spcPts val="375"/>
              </a:spcAft>
              <a:buSzPct val="100000"/>
              <a:buChar char="•"/>
            </a:pPr>
            <a:r>
              <a:rPr lang="en-US" sz="1500" dirty="0">
                <a:solidFill>
                  <a:srgbClr val="0A3377"/>
                </a:solidFill>
              </a:rPr>
              <a:t>A partir de 2018 com a aquisição da Metropolitana ações de renovação da infraestrutura através da substituição de redes de distribuição de água utilizando MND fundamental para a redução da perda física de água;</a:t>
            </a:r>
            <a:endParaRPr lang="en-US" sz="1500" dirty="0"/>
          </a:p>
          <a:p>
            <a:pPr algn="l" marL="177800" indent="-177800">
              <a:spcAft>
                <a:spcPts val="375"/>
              </a:spcAft>
              <a:buSzPct val="100000"/>
              <a:buChar char="•"/>
            </a:pPr>
            <a:r>
              <a:rPr lang="en-US" sz="1500" dirty="0">
                <a:solidFill>
                  <a:srgbClr val="0A3377"/>
                </a:solidFill>
              </a:rPr>
              <a:t>Devido a sinergia com a troca da rede de água, ações de renovação da rede de esgotos e drenagem.</a:t>
            </a:r>
            <a:endParaRPr lang="en-US" sz="15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A3377"/>
                </a:solidFill>
              </a:rPr>
              <a:t>Missão – Interpretação - Cases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MISSÃO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Planejamento Estratégico 2025 - 2030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1280160"/>
            <a:ext cx="53492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800" b="1" dirty="0">
                <a:solidFill>
                  <a:srgbClr val="0A3377"/>
                </a:solidFill>
              </a:rPr>
              <a:t>Tecnologias mais adequadas</a:t>
            </a:r>
            <a:r>
              <a:rPr lang="en-US" sz="1800" dirty="0">
                <a:solidFill>
                  <a:srgbClr val="0A3377"/>
                </a:solidFill>
              </a:rPr>
              <a:t>: Soluções tecnológicas criativas e diferenciadas, utilizando processos e equipamentos apropriados, bem como mão de obra especializada</a:t>
            </a:r>
            <a:r>
              <a:rPr lang="en-US" sz="1800" dirty="0">
                <a:solidFill>
                  <a:srgbClr val="0A3377"/>
                </a:solidFill>
              </a:rPr>
              <a:t>.</a:t>
            </a:r>
            <a:endParaRPr lang="en-US" sz="1800" dirty="0"/>
          </a:p>
          <a:p>
            <a:pPr algn="l" marL="177800" indent="-17780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0A3377"/>
                </a:solidFill>
              </a:rPr>
              <a:t>Montagem própria de equipamentos adequados aos serviços de limpeza e desobstrução</a:t>
            </a:r>
            <a:endParaRPr lang="en-US" sz="1800" dirty="0"/>
          </a:p>
          <a:p>
            <a:pPr algn="l" marL="177800" indent="-17780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0A3377"/>
                </a:solidFill>
              </a:rPr>
              <a:t>Líder no conhecimento e na tecnologia de equipamentos e serviços para limpeza e desobstrução</a:t>
            </a:r>
            <a:endParaRPr lang="en-US" sz="1800" dirty="0"/>
          </a:p>
          <a:p>
            <a:pPr algn="l" marL="177800" indent="-17780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0A3377"/>
                </a:solidFill>
              </a:rPr>
              <a:t>Desenvolvimento de equipamentos especiais (Limpeza Max, Reciclador, Limpeza </a:t>
            </a:r>
            <a:r>
              <a:rPr lang="en-US" sz="1800" dirty="0">
                <a:solidFill>
                  <a:srgbClr val="0A3377"/>
                </a:solidFill>
              </a:rPr>
              <a:t>T</a:t>
            </a:r>
            <a:r>
              <a:rPr lang="en-US" sz="1800" dirty="0">
                <a:solidFill>
                  <a:srgbClr val="0A3377"/>
                </a:solidFill>
              </a:rPr>
              <a:t>otal, Limpeza de Elevatórias)</a:t>
            </a:r>
            <a:endParaRPr lang="en-US" sz="1800" dirty="0"/>
          </a:p>
          <a:p>
            <a:pPr algn="l" marL="177800" indent="-17780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0A3377"/>
                </a:solidFill>
              </a:rPr>
              <a:t>Desenvolvimento de equipe técnica especializada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6217920" y="1280160"/>
            <a:ext cx="53492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13"/>
              </a:spcAft>
              <a:buNone/>
            </a:pPr>
            <a:r>
              <a:rPr lang="en-US" sz="1250" b="1" dirty="0">
                <a:solidFill>
                  <a:srgbClr val="0A3377"/>
                </a:solidFill>
              </a:rPr>
              <a:t>Economicamente Sustentável</a:t>
            </a:r>
            <a:r>
              <a:rPr lang="en-US" sz="1250" dirty="0">
                <a:solidFill>
                  <a:srgbClr val="0A3377"/>
                </a:solidFill>
              </a:rPr>
              <a:t>: Cobrar um preço baseado nos custos reais, que permita uma relação duradoura com os clientes, e possibilite a sobrevivência e o crescimento da empresa</a:t>
            </a:r>
            <a:r>
              <a:rPr lang="en-US" sz="1250" dirty="0">
                <a:solidFill>
                  <a:srgbClr val="0A3377"/>
                </a:solidFill>
              </a:rPr>
              <a:t>.</a:t>
            </a:r>
            <a:endParaRPr lang="en-US" sz="1250" dirty="0"/>
          </a:p>
          <a:p>
            <a:pPr algn="l" marL="177800" indent="-177800">
              <a:spcAft>
                <a:spcPts val="313"/>
              </a:spcAft>
              <a:buSzPct val="100000"/>
              <a:buChar char="•"/>
            </a:pPr>
            <a:r>
              <a:rPr lang="en-US" sz="1250" dirty="0">
                <a:solidFill>
                  <a:srgbClr val="0A3377"/>
                </a:solidFill>
              </a:rPr>
              <a:t>Sistema de custeio real dos contratos de modo a permitir preços que não sejam máximos, que prejudiquem o cliente e nem muito baixos que causem prejuízos</a:t>
            </a:r>
            <a:endParaRPr lang="en-US" sz="1250" dirty="0"/>
          </a:p>
          <a:p>
            <a:pPr algn="l" marL="177800" indent="-177800">
              <a:spcAft>
                <a:spcPts val="313"/>
              </a:spcAft>
              <a:buSzPct val="100000"/>
              <a:buChar char="•"/>
            </a:pPr>
            <a:r>
              <a:rPr lang="en-US" sz="1250" dirty="0">
                <a:solidFill>
                  <a:srgbClr val="0A3377"/>
                </a:solidFill>
              </a:rPr>
              <a:t>Preços justos são garantia de continuidade em casos necessidade de corte de verba por parte dos clientes</a:t>
            </a:r>
            <a:endParaRPr lang="en-US" sz="1250" dirty="0"/>
          </a:p>
          <a:p>
            <a:pPr algn="l" marL="177800" indent="-177800">
              <a:spcAft>
                <a:spcPts val="313"/>
              </a:spcAft>
              <a:buSzPct val="100000"/>
              <a:buChar char="•"/>
            </a:pPr>
            <a:r>
              <a:rPr lang="en-US" sz="1250" dirty="0">
                <a:solidFill>
                  <a:srgbClr val="0A3377"/>
                </a:solidFill>
              </a:rPr>
              <a:t>Investimento na empresa Metropolitana em processo falimentar com pagamento das dívidas</a:t>
            </a:r>
            <a:endParaRPr lang="en-US" sz="1250" dirty="0"/>
          </a:p>
          <a:p>
            <a:pPr algn="l" marL="177800" indent="-177800">
              <a:spcAft>
                <a:spcPts val="313"/>
              </a:spcAft>
              <a:buSzPct val="100000"/>
              <a:buChar char="•"/>
            </a:pPr>
            <a:r>
              <a:rPr lang="en-US" sz="1250" dirty="0">
                <a:solidFill>
                  <a:srgbClr val="0A3377"/>
                </a:solidFill>
              </a:rPr>
              <a:t>Análise crítica de contratos para evitar contratos deficitários</a:t>
            </a:r>
            <a:endParaRPr lang="en-US" sz="1250" dirty="0"/>
          </a:p>
          <a:p>
            <a:pPr algn="l" indent="0" marL="0">
              <a:spcAft>
                <a:spcPts val="313"/>
              </a:spcAft>
              <a:buNone/>
            </a:pPr>
            <a:r>
              <a:rPr lang="en-US" sz="1250" b="1" dirty="0">
                <a:solidFill>
                  <a:srgbClr val="0A3377"/>
                </a:solidFill>
              </a:rPr>
              <a:t>Ambientalmente Sustentável</a:t>
            </a:r>
            <a:r>
              <a:rPr lang="en-US" sz="1250" dirty="0">
                <a:solidFill>
                  <a:srgbClr val="0A3377"/>
                </a:solidFill>
              </a:rPr>
              <a:t>: Adotar procedimentos que evitem agressão ao meio-ambiente, tanto nos processos de limpeza (descarte irregular de resíduos), como de desidratação e destinação final dos resíduos.</a:t>
            </a:r>
            <a:endParaRPr lang="en-US" sz="1250" dirty="0"/>
          </a:p>
          <a:p>
            <a:pPr algn="l" marL="177800" indent="-177800">
              <a:spcAft>
                <a:spcPts val="313"/>
              </a:spcAft>
              <a:buSzPct val="100000"/>
              <a:buChar char="•"/>
            </a:pPr>
            <a:r>
              <a:rPr lang="en-US" sz="1250" b="1" dirty="0">
                <a:solidFill>
                  <a:srgbClr val="0A3377"/>
                </a:solidFill>
              </a:rPr>
              <a:t>Atenção máxima para evitar descarte irregular de resíduos;</a:t>
            </a:r>
            <a:endParaRPr lang="en-US" sz="1250" dirty="0"/>
          </a:p>
          <a:p>
            <a:pPr algn="l" marL="177800" indent="-177800">
              <a:spcAft>
                <a:spcPts val="313"/>
              </a:spcAft>
              <a:buSzPct val="100000"/>
              <a:buChar char="•"/>
            </a:pPr>
            <a:r>
              <a:rPr lang="en-US" sz="1250" dirty="0">
                <a:solidFill>
                  <a:srgbClr val="0A3377"/>
                </a:solidFill>
              </a:rPr>
              <a:t>Desenvolvimento de processos de desidratação dos resíduos com o aproveitamento dos líquidos e diminuição da quantidade de resíduos destinados a aterro;</a:t>
            </a:r>
            <a:endParaRPr lang="en-US" sz="1250" dirty="0"/>
          </a:p>
          <a:p>
            <a:pPr algn="l" marL="177800" indent="-177800">
              <a:spcAft>
                <a:spcPts val="313"/>
              </a:spcAft>
              <a:buSzPct val="100000"/>
              <a:buChar char="•"/>
            </a:pPr>
            <a:r>
              <a:rPr lang="en-US" sz="1250" dirty="0">
                <a:solidFill>
                  <a:srgbClr val="0A3377"/>
                </a:solidFill>
              </a:rPr>
              <a:t>Desenvolvimento de processo de reciclagem de areia dos resíduos de esgotos e drenagem.</a:t>
            </a:r>
            <a:endParaRPr lang="en-US" sz="12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A3377"/>
                </a:solidFill>
              </a:rPr>
              <a:t>Missão – Interpretação - Cases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MISSÃO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Planejamento Estratégico 2025 - 2030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1280160"/>
            <a:ext cx="1092708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70"/>
              </a:spcAft>
              <a:buNone/>
            </a:pPr>
            <a:r>
              <a:rPr lang="en-US" sz="1900" b="1" dirty="0">
                <a:solidFill>
                  <a:srgbClr val="0A3377"/>
                </a:solidFill>
              </a:rPr>
              <a:t>Socialmente sustentável</a:t>
            </a:r>
            <a:r>
              <a:rPr lang="en-US" sz="1900" dirty="0">
                <a:solidFill>
                  <a:srgbClr val="0A3377"/>
                </a:solidFill>
              </a:rPr>
              <a:t>: Trazer benefícios diretos para a comunidade de baixa </a:t>
            </a:r>
            <a:r>
              <a:rPr lang="en-US" sz="1900" dirty="0">
                <a:solidFill>
                  <a:srgbClr val="0A3377"/>
                </a:solidFill>
              </a:rPr>
              <a:t>renda.</a:t>
            </a:r>
            <a:endParaRPr lang="en-US" sz="1900" dirty="0"/>
          </a:p>
          <a:p>
            <a:pPr algn="l" marL="177800" indent="-177800">
              <a:spcAft>
                <a:spcPts val="570"/>
              </a:spcAft>
              <a:buSzPct val="100000"/>
              <a:buChar char="•"/>
            </a:pPr>
            <a:r>
              <a:rPr lang="en-US" sz="1900" dirty="0">
                <a:solidFill>
                  <a:srgbClr val="0A3377"/>
                </a:solidFill>
              </a:rPr>
              <a:t>Durante 5 anos adoção de 20 praças na ZL para uso pela população, sem custo para a prefeitura;</a:t>
            </a:r>
            <a:endParaRPr lang="en-US" sz="1900" dirty="0"/>
          </a:p>
          <a:p>
            <a:pPr algn="l" marL="177800" indent="-177800">
              <a:spcAft>
                <a:spcPts val="570"/>
              </a:spcAft>
              <a:buSzPct val="100000"/>
              <a:buChar char="•"/>
            </a:pPr>
            <a:r>
              <a:rPr lang="en-US" sz="1900" dirty="0">
                <a:solidFill>
                  <a:srgbClr val="0A3377"/>
                </a:solidFill>
              </a:rPr>
              <a:t>Serviços de qualidade na manutenção dos sistemas de esgotos e drenagem com impacto positivo na saúde da população;</a:t>
            </a:r>
            <a:endParaRPr lang="en-US" sz="1900" dirty="0"/>
          </a:p>
          <a:p>
            <a:pPr algn="l" indent="0" marL="0">
              <a:spcAft>
                <a:spcPts val="570"/>
              </a:spcAft>
              <a:buNone/>
            </a:pPr>
            <a:r>
              <a:rPr lang="en-US" sz="1900" dirty="0">
                <a:solidFill>
                  <a:srgbClr val="0A3377"/>
                </a:solidFill>
              </a:rPr>
              <a:t>Durante a pandemia as seguintes ações:</a:t>
            </a:r>
            <a:endParaRPr lang="en-US" sz="1900" dirty="0"/>
          </a:p>
          <a:p>
            <a:pPr algn="l" marL="177800" indent="-177800">
              <a:spcAft>
                <a:spcPts val="570"/>
              </a:spcAft>
              <a:buSzPct val="100000"/>
              <a:buChar char="•"/>
            </a:pPr>
            <a:r>
              <a:rPr lang="en-US" sz="1900" dirty="0">
                <a:solidFill>
                  <a:srgbClr val="0A3377"/>
                </a:solidFill>
              </a:rPr>
              <a:t>Distribuição de cestas básicas para a população;</a:t>
            </a:r>
            <a:endParaRPr lang="en-US" sz="1900" dirty="0"/>
          </a:p>
          <a:p>
            <a:pPr algn="l" marL="177800" indent="-177800">
              <a:spcAft>
                <a:spcPts val="570"/>
              </a:spcAft>
              <a:buSzPct val="100000"/>
              <a:buChar char="•"/>
            </a:pPr>
            <a:r>
              <a:rPr lang="en-US" sz="1900" dirty="0">
                <a:solidFill>
                  <a:srgbClr val="0A3377"/>
                </a:solidFill>
              </a:rPr>
              <a:t>Pessoas com mais de 58 anos</a:t>
            </a:r>
            <a:endParaRPr lang="en-US" sz="1900" dirty="0"/>
          </a:p>
          <a:p>
            <a:pPr algn="l" marL="177800" indent="-177800">
              <a:spcAft>
                <a:spcPts val="570"/>
              </a:spcAft>
              <a:buSzPct val="100000"/>
              <a:buChar char="•"/>
            </a:pPr>
            <a:r>
              <a:rPr lang="en-US" sz="1900" dirty="0">
                <a:solidFill>
                  <a:srgbClr val="0A3377"/>
                </a:solidFill>
              </a:rPr>
              <a:t>Campanha do agasalho (compra de cobertores) ;</a:t>
            </a:r>
            <a:endParaRPr lang="en-US" sz="1900" dirty="0"/>
          </a:p>
          <a:p>
            <a:pPr algn="l" marL="177800" indent="-177800">
              <a:spcAft>
                <a:spcPts val="570"/>
              </a:spcAft>
              <a:buSzPct val="100000"/>
              <a:buChar char="•"/>
            </a:pPr>
            <a:r>
              <a:rPr lang="en-US" sz="1900" dirty="0">
                <a:solidFill>
                  <a:srgbClr val="0A3377"/>
                </a:solidFill>
              </a:rPr>
              <a:t>Horta Comunitária;</a:t>
            </a:r>
            <a:endParaRPr lang="en-US" sz="1900" dirty="0"/>
          </a:p>
          <a:p>
            <a:pPr algn="l" marL="177800" indent="-177800">
              <a:spcAft>
                <a:spcPts val="570"/>
              </a:spcAft>
              <a:buSzPct val="100000"/>
              <a:buChar char="•"/>
            </a:pPr>
            <a:r>
              <a:rPr lang="en-US" sz="1900" dirty="0">
                <a:solidFill>
                  <a:srgbClr val="0A3377"/>
                </a:solidFill>
              </a:rPr>
              <a:t>Doação de Brinquedos para a comunidade carente da ZL;</a:t>
            </a:r>
            <a:endParaRPr lang="en-US" sz="1900" dirty="0"/>
          </a:p>
          <a:p>
            <a:pPr algn="l" marL="177800" indent="-177800">
              <a:spcAft>
                <a:spcPts val="570"/>
              </a:spcAft>
              <a:buSzPct val="100000"/>
              <a:buChar char="•"/>
            </a:pPr>
            <a:r>
              <a:rPr lang="en-US" sz="1900" dirty="0">
                <a:solidFill>
                  <a:srgbClr val="0A3377"/>
                </a:solidFill>
              </a:rPr>
              <a:t>Apoio a transporte de doentes para tratamento;</a:t>
            </a:r>
            <a:endParaRPr lang="en-US" sz="1900" dirty="0"/>
          </a:p>
          <a:p>
            <a:pPr algn="l" marL="177800" indent="-177800">
              <a:spcAft>
                <a:spcPts val="570"/>
              </a:spcAft>
              <a:buSzPct val="100000"/>
              <a:buChar char="•"/>
            </a:pPr>
            <a:r>
              <a:rPr lang="en-US" sz="1900" dirty="0">
                <a:solidFill>
                  <a:srgbClr val="0A3377"/>
                </a:solidFill>
              </a:rPr>
              <a:t>Contratação de imigrantes Haitianos;</a:t>
            </a:r>
            <a:endParaRPr lang="en-US" sz="1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377"/>
                </a:solidFill>
              </a:rPr>
              <a:t>Visão 2025 (PE de 2017)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VISÃO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Planejamento Estratégico 2025 - 2030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1371600"/>
            <a:ext cx="658368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749808" y="1371600"/>
            <a:ext cx="636422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68680" y="160020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A3377"/>
                </a:solidFill>
              </a:rPr>
              <a:t>Conquistas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2148840"/>
            <a:ext cx="61264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5B6B88"/>
                </a:solidFill>
              </a:rPr>
              <a:t>Ser reconhecida como empresa líder em inovação e qualidade ;</a:t>
            </a:r>
            <a:endParaRPr lang="en-US" sz="2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5B6B88"/>
                </a:solidFill>
              </a:rPr>
              <a:t>Crescer conquistando novos clientes ainda desatendidos pelos concorrentes;</a:t>
            </a:r>
            <a:endParaRPr lang="en-US" sz="2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5B6B88"/>
                </a:solidFill>
              </a:rPr>
              <a:t>Desenvolver serviços com sinergia aos atuais.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7452360" y="1371600"/>
            <a:ext cx="4114800" cy="45262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562088" y="1371600"/>
            <a:ext cx="389534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680960" y="1600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A3377"/>
                </a:solidFill>
              </a:rPr>
              <a:t>Em Desenvolvimento</a:t>
            </a:r>
            <a:endParaRPr lang="en-US" sz="2400" dirty="0"/>
          </a:p>
        </p:txBody>
      </p:sp>
      <p:sp>
        <p:nvSpPr>
          <p:cNvPr id="16" name="Text 12"/>
          <p:cNvSpPr txBox="1"/>
          <p:nvPr/>
        </p:nvSpPr>
        <p:spPr>
          <a:xfrm>
            <a:off x="7680960" y="2148840"/>
            <a:ext cx="3657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5B6B88"/>
                </a:solidFill>
              </a:rPr>
              <a:t>Ser parceira de concessionárias de saneamento, na operação e gestão de sistemas de drenagem e esgotos.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377"/>
                </a:solidFill>
              </a:rPr>
              <a:t>Visão 2025 - 2030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VISÃO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Planejamento Estratégico 2025 - 2030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1417320"/>
            <a:ext cx="109270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820"/>
              </a:spcAft>
              <a:buSzPct val="100000"/>
              <a:buChar char="•"/>
            </a:pPr>
            <a:r>
              <a:rPr lang="en-US" sz="2600" dirty="0">
                <a:solidFill>
                  <a:srgbClr val="0A3377"/>
                </a:solidFill>
              </a:rPr>
              <a:t>Manter-se </a:t>
            </a:r>
            <a:r>
              <a:rPr lang="en-US" sz="2600" dirty="0">
                <a:solidFill>
                  <a:srgbClr val="0A3377"/>
                </a:solidFill>
              </a:rPr>
              <a:t>reconhecida como empresa líder em inovação e </a:t>
            </a:r>
            <a:r>
              <a:rPr lang="en-US" sz="2600" dirty="0">
                <a:solidFill>
                  <a:srgbClr val="0A3377"/>
                </a:solidFill>
              </a:rPr>
              <a:t>qualidade, </a:t>
            </a:r>
            <a:r>
              <a:rPr lang="en-US" sz="2600" b="1" dirty="0">
                <a:solidFill>
                  <a:srgbClr val="0A3377"/>
                </a:solidFill>
              </a:rPr>
              <a:t>na gestão de sistemas de saneamento.</a:t>
            </a:r>
            <a:endParaRPr lang="en-US" sz="2600" dirty="0"/>
          </a:p>
          <a:p>
            <a:pPr algn="l" marL="177800" indent="-177800">
              <a:spcAft>
                <a:spcPts val="1820"/>
              </a:spcAft>
              <a:buSzPct val="100000"/>
              <a:buChar char="•"/>
            </a:pPr>
            <a:r>
              <a:rPr lang="en-US" sz="2600" dirty="0">
                <a:solidFill>
                  <a:srgbClr val="0A3377"/>
                </a:solidFill>
              </a:rPr>
              <a:t>Continuar crescendo </a:t>
            </a:r>
            <a:r>
              <a:rPr lang="en-US" sz="2600" dirty="0">
                <a:solidFill>
                  <a:srgbClr val="0A3377"/>
                </a:solidFill>
              </a:rPr>
              <a:t>conquistando novos clientes ainda desatendidos pelos concorrentes.</a:t>
            </a:r>
            <a:endParaRPr lang="en-US" sz="2600" dirty="0"/>
          </a:p>
          <a:p>
            <a:pPr algn="l" marL="177800" indent="-177800">
              <a:spcAft>
                <a:spcPts val="1820"/>
              </a:spcAft>
              <a:buSzPct val="100000"/>
              <a:buChar char="•"/>
            </a:pPr>
            <a:r>
              <a:rPr lang="en-US" sz="2600" dirty="0">
                <a:solidFill>
                  <a:srgbClr val="0A3377"/>
                </a:solidFill>
              </a:rPr>
              <a:t>Continuar desenvolvendo </a:t>
            </a:r>
            <a:r>
              <a:rPr lang="en-US" sz="2600" dirty="0">
                <a:solidFill>
                  <a:srgbClr val="0A3377"/>
                </a:solidFill>
              </a:rPr>
              <a:t>serviços com sinergia aos atuais</a:t>
            </a:r>
            <a:r>
              <a:rPr lang="en-US" sz="2600" dirty="0">
                <a:solidFill>
                  <a:srgbClr val="0A3377"/>
                </a:solidFill>
              </a:rPr>
              <a:t>.</a:t>
            </a:r>
            <a:endParaRPr lang="en-US" sz="2600" dirty="0"/>
          </a:p>
          <a:p>
            <a:pPr algn="l" marL="177800" indent="-177800">
              <a:spcAft>
                <a:spcPts val="1820"/>
              </a:spcAft>
              <a:buSzPct val="100000"/>
              <a:buChar char="•"/>
            </a:pPr>
            <a:r>
              <a:rPr lang="en-US" sz="2600" dirty="0">
                <a:solidFill>
                  <a:srgbClr val="0A3377"/>
                </a:solidFill>
              </a:rPr>
              <a:t>Consolidar a atuação no controle físico de perdas de água</a:t>
            </a:r>
            <a:r>
              <a:rPr lang="en-US" sz="2600" dirty="0">
                <a:solidFill>
                  <a:srgbClr val="0A3377"/>
                </a:solidFill>
              </a:rPr>
              <a:t>.</a:t>
            </a:r>
            <a:endParaRPr lang="en-US" sz="2600" dirty="0"/>
          </a:p>
          <a:p>
            <a:pPr algn="l" marL="177800" indent="-177800">
              <a:spcAft>
                <a:spcPts val="1820"/>
              </a:spcAft>
              <a:buSzPct val="100000"/>
              <a:buChar char="•"/>
            </a:pPr>
            <a:r>
              <a:rPr lang="en-US" sz="2600" dirty="0">
                <a:solidFill>
                  <a:srgbClr val="0A3377"/>
                </a:solidFill>
              </a:rPr>
              <a:t>Ser </a:t>
            </a:r>
            <a:r>
              <a:rPr lang="en-US" sz="2600" dirty="0">
                <a:solidFill>
                  <a:srgbClr val="0A3377"/>
                </a:solidFill>
              </a:rPr>
              <a:t>parceira de concessionárias de saneamento, na operação e gestão de sistemas </a:t>
            </a:r>
            <a:r>
              <a:rPr lang="en-US" sz="2600" b="1" dirty="0">
                <a:solidFill>
                  <a:srgbClr val="0A3377"/>
                </a:solidFill>
              </a:rPr>
              <a:t>de</a:t>
            </a:r>
            <a:r>
              <a:rPr lang="en-US" sz="2600" b="1" dirty="0">
                <a:solidFill>
                  <a:srgbClr val="D32F2F"/>
                </a:solidFill>
              </a:rPr>
              <a:t> </a:t>
            </a:r>
            <a:r>
              <a:rPr lang="en-US" sz="2600" b="1" dirty="0">
                <a:solidFill>
                  <a:srgbClr val="0A3377"/>
                </a:solidFill>
              </a:rPr>
              <a:t>água, </a:t>
            </a:r>
            <a:r>
              <a:rPr lang="en-US" sz="2600" dirty="0">
                <a:solidFill>
                  <a:srgbClr val="0A3377"/>
                </a:solidFill>
              </a:rPr>
              <a:t>drenagem e esgotos.</a:t>
            </a:r>
            <a:endParaRPr lang="en-US" sz="26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377"/>
                </a:solidFill>
              </a:rPr>
              <a:t>Valores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VALORES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Planejamento Estratégico 2025 - 2030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1371600"/>
            <a:ext cx="10927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18"/>
              </a:spcAft>
              <a:buSzPct val="100000"/>
              <a:buChar char="•"/>
            </a:pPr>
            <a:r>
              <a:rPr lang="en-US" sz="1850" dirty="0">
                <a:solidFill>
                  <a:srgbClr val="0A3377"/>
                </a:solidFill>
              </a:rPr>
              <a:t>Desenvolver critérios de parceria, confiança e lealdade com clientes, instituições, </a:t>
            </a:r>
            <a:r>
              <a:rPr lang="en-US" sz="1850" dirty="0">
                <a:solidFill>
                  <a:srgbClr val="0A3377"/>
                </a:solidFill>
              </a:rPr>
              <a:t>fornecedores e </a:t>
            </a:r>
            <a:r>
              <a:rPr lang="en-US" sz="1850" dirty="0">
                <a:solidFill>
                  <a:srgbClr val="0A3377"/>
                </a:solidFill>
              </a:rPr>
              <a:t>colaboradores;</a:t>
            </a:r>
            <a:endParaRPr lang="en-US" sz="1850" dirty="0"/>
          </a:p>
          <a:p>
            <a:pPr algn="l" marL="177800" indent="-177800">
              <a:spcAft>
                <a:spcPts val="1018"/>
              </a:spcAft>
              <a:buSzPct val="100000"/>
              <a:buChar char="•"/>
            </a:pPr>
            <a:r>
              <a:rPr lang="en-US" sz="1850" dirty="0">
                <a:solidFill>
                  <a:srgbClr val="0A3377"/>
                </a:solidFill>
              </a:rPr>
              <a:t>No relacionamento com o cliente, identificar suas reais necessidades, aplicar a técnica mais adequada a cada caso, negociar o preço em bases transparentes, considerando o custo efetivo e o benefício para o cliente, executar os serviços dentro do cronograma previsto;</a:t>
            </a:r>
            <a:endParaRPr lang="en-US" sz="1850" dirty="0"/>
          </a:p>
          <a:p>
            <a:pPr algn="l" marL="177800" indent="-177800">
              <a:spcAft>
                <a:spcPts val="1018"/>
              </a:spcAft>
              <a:buSzPct val="100000"/>
              <a:buChar char="•"/>
            </a:pPr>
            <a:r>
              <a:rPr lang="en-US" sz="1850" dirty="0">
                <a:solidFill>
                  <a:srgbClr val="0A3377"/>
                </a:solidFill>
              </a:rPr>
              <a:t>No relacionamento com </a:t>
            </a:r>
            <a:r>
              <a:rPr lang="en-US" sz="1850" dirty="0">
                <a:solidFill>
                  <a:srgbClr val="0A3377"/>
                </a:solidFill>
              </a:rPr>
              <a:t>os colaboradores, </a:t>
            </a:r>
            <a:r>
              <a:rPr lang="en-US" sz="1850" dirty="0">
                <a:solidFill>
                  <a:srgbClr val="0A3377"/>
                </a:solidFill>
              </a:rPr>
              <a:t>valorizar o empenho, a </a:t>
            </a:r>
            <a:r>
              <a:rPr lang="en-US" sz="1850" dirty="0">
                <a:solidFill>
                  <a:srgbClr val="0A3377"/>
                </a:solidFill>
              </a:rPr>
              <a:t>dedicação, </a:t>
            </a:r>
            <a:r>
              <a:rPr lang="en-US" sz="1850" dirty="0">
                <a:solidFill>
                  <a:srgbClr val="0A3377"/>
                </a:solidFill>
              </a:rPr>
              <a:t>o senso de </a:t>
            </a:r>
            <a:r>
              <a:rPr lang="en-US" sz="1850" dirty="0">
                <a:solidFill>
                  <a:srgbClr val="0A3377"/>
                </a:solidFill>
              </a:rPr>
              <a:t>colaboração e o comprometimento, </a:t>
            </a:r>
            <a:r>
              <a:rPr lang="en-US" sz="1850" dirty="0">
                <a:solidFill>
                  <a:srgbClr val="0A3377"/>
                </a:solidFill>
              </a:rPr>
              <a:t>estimulando o desenvolvimento </a:t>
            </a:r>
            <a:r>
              <a:rPr lang="en-US" sz="1850" dirty="0">
                <a:solidFill>
                  <a:srgbClr val="0A3377"/>
                </a:solidFill>
              </a:rPr>
              <a:t>profissional e atento </a:t>
            </a:r>
            <a:r>
              <a:rPr lang="en-US" sz="1850" dirty="0">
                <a:solidFill>
                  <a:srgbClr val="0A3377"/>
                </a:solidFill>
              </a:rPr>
              <a:t>às </a:t>
            </a:r>
            <a:r>
              <a:rPr lang="en-US" sz="1850" dirty="0">
                <a:solidFill>
                  <a:srgbClr val="0A3377"/>
                </a:solidFill>
              </a:rPr>
              <a:t>necessidades individuais;</a:t>
            </a:r>
            <a:endParaRPr lang="en-US" sz="1850" dirty="0"/>
          </a:p>
          <a:p>
            <a:pPr algn="l" marL="177800" indent="-177800">
              <a:spcAft>
                <a:spcPts val="1018"/>
              </a:spcAft>
              <a:buSzPct val="100000"/>
              <a:buChar char="•"/>
            </a:pPr>
            <a:r>
              <a:rPr lang="en-US" sz="1850" dirty="0">
                <a:solidFill>
                  <a:srgbClr val="0A3377"/>
                </a:solidFill>
              </a:rPr>
              <a:t>No relacionamento com fornecedores, </a:t>
            </a:r>
            <a:r>
              <a:rPr lang="en-US" sz="1850" dirty="0">
                <a:solidFill>
                  <a:srgbClr val="0A3377"/>
                </a:solidFill>
              </a:rPr>
              <a:t>desenvolver </a:t>
            </a:r>
            <a:r>
              <a:rPr lang="en-US" sz="1850" dirty="0">
                <a:solidFill>
                  <a:srgbClr val="0A3377"/>
                </a:solidFill>
              </a:rPr>
              <a:t>fornecedores confiáveis com </a:t>
            </a:r>
            <a:r>
              <a:rPr lang="en-US" sz="1850" dirty="0">
                <a:solidFill>
                  <a:srgbClr val="0A3377"/>
                </a:solidFill>
              </a:rPr>
              <a:t>qualidade, prazos </a:t>
            </a:r>
            <a:r>
              <a:rPr lang="en-US" sz="1850" dirty="0">
                <a:solidFill>
                  <a:srgbClr val="0A3377"/>
                </a:solidFill>
              </a:rPr>
              <a:t>e preço compatíveis com as nossas necessidades;</a:t>
            </a:r>
            <a:endParaRPr lang="en-US" sz="1850" dirty="0"/>
          </a:p>
          <a:p>
            <a:pPr algn="l" marL="177800" indent="-177800">
              <a:spcAft>
                <a:spcPts val="1018"/>
              </a:spcAft>
              <a:buSzPct val="100000"/>
              <a:buChar char="•"/>
            </a:pPr>
            <a:r>
              <a:rPr lang="en-US" sz="1850" dirty="0">
                <a:solidFill>
                  <a:srgbClr val="0A3377"/>
                </a:solidFill>
              </a:rPr>
              <a:t>Nos </a:t>
            </a:r>
            <a:r>
              <a:rPr lang="en-US" sz="1850" dirty="0">
                <a:solidFill>
                  <a:srgbClr val="0A3377"/>
                </a:solidFill>
              </a:rPr>
              <a:t>processos desenvolvidos, buscar a preservação do meio ambiente;</a:t>
            </a:r>
            <a:endParaRPr lang="en-US" sz="1850" dirty="0"/>
          </a:p>
          <a:p>
            <a:pPr algn="l" marL="177800" indent="-177800">
              <a:spcAft>
                <a:spcPts val="1018"/>
              </a:spcAft>
              <a:buSzPct val="100000"/>
              <a:buChar char="•"/>
            </a:pPr>
            <a:r>
              <a:rPr lang="en-US" sz="1850" dirty="0">
                <a:solidFill>
                  <a:srgbClr val="0A3377"/>
                </a:solidFill>
              </a:rPr>
              <a:t>No </a:t>
            </a:r>
            <a:r>
              <a:rPr lang="en-US" sz="1850" dirty="0">
                <a:solidFill>
                  <a:srgbClr val="0A3377"/>
                </a:solidFill>
              </a:rPr>
              <a:t>relacionamento com a comunidade local, </a:t>
            </a:r>
            <a:r>
              <a:rPr lang="en-US" sz="1850" dirty="0">
                <a:solidFill>
                  <a:srgbClr val="0A3377"/>
                </a:solidFill>
              </a:rPr>
              <a:t>focar em melhoria </a:t>
            </a:r>
            <a:r>
              <a:rPr lang="en-US" sz="1850" dirty="0">
                <a:solidFill>
                  <a:srgbClr val="0A3377"/>
                </a:solidFill>
              </a:rPr>
              <a:t>social.</a:t>
            </a:r>
            <a:endParaRPr lang="en-US" sz="18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A3377"/>
                </a:solidFill>
              </a:rPr>
              <a:t>Valores – Interpretação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VALORES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Planejamento Estratégico 2025 - 2030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1280160"/>
            <a:ext cx="548640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50"/>
              </a:spcAft>
              <a:buNone/>
            </a:pPr>
            <a:r>
              <a:rPr lang="en-US" sz="1400" b="1" dirty="0">
                <a:solidFill>
                  <a:srgbClr val="0A3377"/>
                </a:solidFill>
              </a:rPr>
              <a:t>Desenvolver critérios de parceria, confiança e lealdade com clientes, instituições, fornecedores e </a:t>
            </a:r>
            <a:r>
              <a:rPr lang="en-US" sz="1400" b="1" dirty="0">
                <a:solidFill>
                  <a:srgbClr val="0A3377"/>
                </a:solidFill>
              </a:rPr>
              <a:t>colaboradores</a:t>
            </a:r>
            <a:r>
              <a:rPr lang="en-US" sz="1400" b="1" dirty="0">
                <a:solidFill>
                  <a:srgbClr val="0A3377"/>
                </a:solidFill>
              </a:rPr>
              <a:t>:</a:t>
            </a:r>
            <a:endParaRPr lang="en-US" sz="1400" dirty="0"/>
          </a:p>
          <a:p>
            <a:pPr algn="l" indent="0" marL="0">
              <a:spcAft>
                <a:spcPts val="350"/>
              </a:spcAft>
              <a:buNone/>
            </a:pPr>
            <a:r>
              <a:rPr lang="en-US" sz="1400" dirty="0">
                <a:solidFill>
                  <a:srgbClr val="0A3377"/>
                </a:solidFill>
              </a:rPr>
              <a:t>Parceria – reunião de pessoas, instituições ou empresas para alcançar objetivos comuns:</a:t>
            </a:r>
            <a:endParaRPr lang="en-US" sz="1400" dirty="0"/>
          </a:p>
          <a:p>
            <a:pPr algn="l" marL="177800" indent="-177800">
              <a:spcAft>
                <a:spcPts val="350"/>
              </a:spcAft>
              <a:buSzPct val="100000"/>
              <a:buChar char="•"/>
            </a:pPr>
            <a:r>
              <a:rPr lang="en-US" sz="1400" dirty="0">
                <a:solidFill>
                  <a:srgbClr val="0A3377"/>
                </a:solidFill>
              </a:rPr>
              <a:t>Confiança – crença na probidade moral, sinceridade, lealdade, competência, discrição, de coisa bem feita, de sucesso</a:t>
            </a:r>
            <a:endParaRPr lang="en-US" sz="1400" dirty="0"/>
          </a:p>
          <a:p>
            <a:pPr algn="l" marL="177800" indent="-177800">
              <a:spcAft>
                <a:spcPts val="350"/>
              </a:spcAft>
              <a:buSzPct val="100000"/>
              <a:buChar char="•"/>
            </a:pPr>
            <a:r>
              <a:rPr lang="en-US" sz="1400" dirty="0">
                <a:solidFill>
                  <a:srgbClr val="0A3377"/>
                </a:solidFill>
              </a:rPr>
              <a:t>Lealdade - respeito aos princípios e regras, fidelidade aos compromissos assumidos.</a:t>
            </a:r>
            <a:endParaRPr lang="en-US" sz="1400" dirty="0"/>
          </a:p>
          <a:p>
            <a:pPr algn="l" indent="0" marL="0">
              <a:spcAft>
                <a:spcPts val="350"/>
              </a:spcAft>
              <a:buNone/>
            </a:pPr>
            <a:r>
              <a:rPr lang="en-US" sz="1400" dirty="0">
                <a:solidFill>
                  <a:srgbClr val="0A3377"/>
                </a:solidFill>
              </a:rPr>
              <a:t>Cases</a:t>
            </a:r>
            <a:r>
              <a:rPr lang="en-US" sz="1400" dirty="0">
                <a:solidFill>
                  <a:srgbClr val="0A3377"/>
                </a:solidFill>
              </a:rPr>
              <a:t>:</a:t>
            </a:r>
            <a:endParaRPr lang="en-US" sz="1400" dirty="0"/>
          </a:p>
          <a:p>
            <a:pPr algn="l" marL="177800" indent="-177800">
              <a:spcAft>
                <a:spcPts val="350"/>
              </a:spcAft>
              <a:buSzPct val="100000"/>
              <a:buChar char="•"/>
            </a:pPr>
            <a:r>
              <a:rPr lang="en-US" sz="1400" dirty="0">
                <a:solidFill>
                  <a:srgbClr val="0A3377"/>
                </a:solidFill>
              </a:rPr>
              <a:t>Gestão na ABEMI (1995 – 2010) - modelos </a:t>
            </a:r>
            <a:r>
              <a:rPr lang="en-US" sz="1400" dirty="0">
                <a:solidFill>
                  <a:srgbClr val="0A3377"/>
                </a:solidFill>
              </a:rPr>
              <a:t>contratuais de serviços de limpeza e desobstrução na Sabesp e </a:t>
            </a:r>
            <a:r>
              <a:rPr lang="en-US" sz="1400" dirty="0">
                <a:solidFill>
                  <a:srgbClr val="0A3377"/>
                </a:solidFill>
              </a:rPr>
              <a:t>PMSP,      	baseados nos princípios de gestão e engenharia, que se mantém até hoje</a:t>
            </a:r>
            <a:endParaRPr lang="en-US" sz="1400" dirty="0"/>
          </a:p>
          <a:p>
            <a:pPr algn="l" marL="177800" indent="-177800">
              <a:spcAft>
                <a:spcPts val="350"/>
              </a:spcAft>
              <a:buSzPct val="100000"/>
              <a:buChar char="•"/>
            </a:pPr>
            <a:r>
              <a:rPr lang="en-US" sz="1400" dirty="0">
                <a:solidFill>
                  <a:srgbClr val="0A3377"/>
                </a:solidFill>
              </a:rPr>
              <a:t>Horta Comunitária com Sabesp</a:t>
            </a:r>
            <a:endParaRPr lang="en-US" sz="1400" dirty="0"/>
          </a:p>
          <a:p>
            <a:pPr algn="l" marL="177800" indent="-177800">
              <a:spcAft>
                <a:spcPts val="350"/>
              </a:spcAft>
              <a:buSzPct val="100000"/>
              <a:buChar char="•"/>
            </a:pPr>
            <a:r>
              <a:rPr lang="en-US" sz="1400" dirty="0">
                <a:solidFill>
                  <a:srgbClr val="0A3377"/>
                </a:solidFill>
              </a:rPr>
              <a:t>Adoção de praças com a PMSP</a:t>
            </a:r>
            <a:endParaRPr lang="en-US" sz="1400" dirty="0"/>
          </a:p>
          <a:p>
            <a:pPr algn="l" marL="177800" indent="-177800">
              <a:spcAft>
                <a:spcPts val="350"/>
              </a:spcAft>
              <a:buSzPct val="100000"/>
              <a:buChar char="•"/>
            </a:pPr>
            <a:r>
              <a:rPr lang="en-US" sz="1400" dirty="0">
                <a:solidFill>
                  <a:srgbClr val="0A3377"/>
                </a:solidFill>
              </a:rPr>
              <a:t>Apoio </a:t>
            </a:r>
            <a:r>
              <a:rPr lang="en-US" sz="1400" dirty="0">
                <a:solidFill>
                  <a:srgbClr val="0A3377"/>
                </a:solidFill>
              </a:rPr>
              <a:t>a transporte de doentes para </a:t>
            </a:r>
            <a:r>
              <a:rPr lang="en-US" sz="1400" dirty="0">
                <a:solidFill>
                  <a:srgbClr val="0A3377"/>
                </a:solidFill>
              </a:rPr>
              <a:t>tratamento com Vereador Ricardo Teixeira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355080" y="1280160"/>
            <a:ext cx="521208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800" b="1" dirty="0">
                <a:solidFill>
                  <a:srgbClr val="0A3377"/>
                </a:solidFill>
              </a:rPr>
              <a:t>Relacionamento com clientes e instituições:</a:t>
            </a:r>
            <a:endParaRPr lang="en-US" sz="1800" dirty="0"/>
          </a:p>
          <a:p>
            <a:pPr algn="l" marL="177800" indent="-17780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0A3377"/>
                </a:solidFill>
              </a:rPr>
              <a:t>Reais necessidades – modelo de gestão e engenharia e não apenas serviços operacionais</a:t>
            </a:r>
            <a:endParaRPr lang="en-US" sz="1800" dirty="0"/>
          </a:p>
          <a:p>
            <a:pPr algn="l" marL="177800" indent="-17780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0A3377"/>
                </a:solidFill>
              </a:rPr>
              <a:t>Técnica mais adequada – especificar equipamento certo (Combinado BAS, Reciclador Max, LT</a:t>
            </a:r>
            <a:endParaRPr lang="en-US" sz="1800" dirty="0"/>
          </a:p>
          <a:p>
            <a:pPr algn="l" marL="177800" indent="-17780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0A3377"/>
                </a:solidFill>
              </a:rPr>
              <a:t>Custo efetivo – na grande maioria dos casos, preços são baseados no custo e inferiores aos concorrentes</a:t>
            </a:r>
            <a:endParaRPr lang="en-US" sz="1800" dirty="0"/>
          </a:p>
          <a:p>
            <a:pPr algn="l" marL="177800" indent="-17780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0A3377"/>
                </a:solidFill>
              </a:rPr>
              <a:t>Cronograma previsto – esforço nem sempre bem sucedido</a:t>
            </a:r>
            <a:endParaRPr lang="en-US" sz="1800" dirty="0"/>
          </a:p>
          <a:p>
            <a:pPr algn="l" marL="177800" indent="-17780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0A3377"/>
                </a:solidFill>
              </a:rPr>
              <a:t>Apoiar instituições que prezem a melhoria da gestão pública</a:t>
            </a:r>
            <a:endParaRPr lang="en-US" sz="1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A3377"/>
                </a:solidFill>
              </a:rPr>
              <a:t>Valores – Interpretação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VALORES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Planejamento Estratégico 2025 - 2030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1280160"/>
            <a:ext cx="548640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40"/>
              </a:spcAft>
              <a:buSzPct val="100000"/>
              <a:buChar char="•"/>
            </a:pPr>
            <a:r>
              <a:rPr lang="en-US" sz="1800" b="1" dirty="0">
                <a:solidFill>
                  <a:srgbClr val="0A3377"/>
                </a:solidFill>
              </a:rPr>
              <a:t>Relacionamento </a:t>
            </a:r>
            <a:r>
              <a:rPr lang="en-US" sz="1800" b="1" dirty="0">
                <a:solidFill>
                  <a:srgbClr val="0A3377"/>
                </a:solidFill>
              </a:rPr>
              <a:t>com </a:t>
            </a:r>
            <a:r>
              <a:rPr lang="en-US" sz="1800" b="1" dirty="0">
                <a:solidFill>
                  <a:srgbClr val="0A3377"/>
                </a:solidFill>
              </a:rPr>
              <a:t>colaboradores</a:t>
            </a:r>
            <a:r>
              <a:rPr lang="en-US" sz="1800" b="1" dirty="0">
                <a:solidFill>
                  <a:srgbClr val="0A3377"/>
                </a:solidFill>
              </a:rPr>
              <a:t>;</a:t>
            </a:r>
            <a:endParaRPr lang="en-US" sz="1800" dirty="0"/>
          </a:p>
          <a:p>
            <a:pPr algn="l" marL="177800" indent="-177800">
              <a:spcAft>
                <a:spcPts val="540"/>
              </a:spcAft>
              <a:buSzPct val="100000"/>
              <a:buChar char="•"/>
            </a:pPr>
            <a:r>
              <a:rPr lang="en-US" sz="1800" dirty="0">
                <a:solidFill>
                  <a:srgbClr val="0A3377"/>
                </a:solidFill>
              </a:rPr>
              <a:t>Empenho – agir com grande disposição, interesse, afinco</a:t>
            </a:r>
            <a:endParaRPr lang="en-US" sz="1800" dirty="0"/>
          </a:p>
          <a:p>
            <a:pPr algn="l" marL="177800" indent="-177800">
              <a:spcAft>
                <a:spcPts val="540"/>
              </a:spcAft>
              <a:buSzPct val="100000"/>
              <a:buChar char="•"/>
            </a:pPr>
            <a:r>
              <a:rPr lang="en-US" sz="1800" dirty="0">
                <a:solidFill>
                  <a:srgbClr val="0A3377"/>
                </a:solidFill>
              </a:rPr>
              <a:t>Dedicação – agir com entrega, grande esforço</a:t>
            </a:r>
            <a:endParaRPr lang="en-US" sz="1800" dirty="0"/>
          </a:p>
          <a:p>
            <a:pPr algn="l" marL="177800" indent="-177800">
              <a:spcAft>
                <a:spcPts val="540"/>
              </a:spcAft>
              <a:buSzPct val="100000"/>
              <a:buChar char="•"/>
            </a:pPr>
            <a:r>
              <a:rPr lang="en-US" sz="1800" dirty="0">
                <a:solidFill>
                  <a:srgbClr val="0A3377"/>
                </a:solidFill>
              </a:rPr>
              <a:t>Senso de colaboração - agir tendo em vista objetivo comum, compartilhando conhecimentos, habilidades, recursos e esforços com outras pessoas</a:t>
            </a:r>
            <a:endParaRPr lang="en-US" sz="1800" dirty="0"/>
          </a:p>
          <a:p>
            <a:pPr algn="l" marL="177800" indent="-177800">
              <a:spcAft>
                <a:spcPts val="540"/>
              </a:spcAft>
              <a:buSzPct val="100000"/>
              <a:buChar char="•"/>
            </a:pPr>
            <a:r>
              <a:rPr lang="en-US" sz="1800" dirty="0">
                <a:solidFill>
                  <a:srgbClr val="0A3377"/>
                </a:solidFill>
              </a:rPr>
              <a:t>Comprometimento – agir com vigor, motivação e identificação com objetivos da empresa</a:t>
            </a:r>
            <a:endParaRPr lang="en-US" sz="1800" dirty="0"/>
          </a:p>
          <a:p>
            <a:pPr algn="l" marL="177800" indent="-177800">
              <a:spcAft>
                <a:spcPts val="540"/>
              </a:spcAft>
              <a:buSzPct val="100000"/>
              <a:buChar char="•"/>
            </a:pPr>
            <a:r>
              <a:rPr lang="en-US" sz="1800" dirty="0">
                <a:solidFill>
                  <a:srgbClr val="0A3377"/>
                </a:solidFill>
              </a:rPr>
              <a:t>Estímulo ao desenvolvimento profissional – programa de apoio à formação</a:t>
            </a:r>
            <a:endParaRPr lang="en-US" sz="1800" dirty="0"/>
          </a:p>
          <a:p>
            <a:pPr algn="l" marL="177800" indent="-177800">
              <a:spcAft>
                <a:spcPts val="540"/>
              </a:spcAft>
              <a:buSzPct val="100000"/>
              <a:buChar char="•"/>
            </a:pPr>
            <a:r>
              <a:rPr lang="en-US" sz="1800" dirty="0">
                <a:solidFill>
                  <a:srgbClr val="0A3377"/>
                </a:solidFill>
              </a:rPr>
              <a:t>Atenção às necessidades individuais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6355080" y="1280160"/>
            <a:ext cx="521208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0A3377"/>
                </a:solidFill>
              </a:rPr>
              <a:t>Relacionamento com fornecedores:</a:t>
            </a:r>
            <a:endParaRPr lang="en-US" sz="20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A3377"/>
                </a:solidFill>
              </a:rPr>
              <a:t>Desenvolver fornecedores confiáveis</a:t>
            </a:r>
            <a:endParaRPr lang="en-US" sz="20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A3377"/>
                </a:solidFill>
              </a:rPr>
              <a:t>Qualidade e prazos de entrega</a:t>
            </a:r>
            <a:endParaRPr lang="en-US" sz="20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A3377"/>
                </a:solidFill>
              </a:rPr>
              <a:t>Custo efetivo deve sempre ser compatível</a:t>
            </a:r>
            <a:endParaRPr lang="en-US" sz="20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0A3377"/>
                </a:solidFill>
              </a:rPr>
              <a:t>Relacionamento com </a:t>
            </a:r>
            <a:r>
              <a:rPr lang="en-US" sz="2000" b="1" dirty="0">
                <a:solidFill>
                  <a:srgbClr val="0A3377"/>
                </a:solidFill>
              </a:rPr>
              <a:t>comunidade local:</a:t>
            </a:r>
            <a:endParaRPr lang="en-US" sz="20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A3377"/>
                </a:solidFill>
              </a:rPr>
              <a:t>Focar melhoria social</a:t>
            </a:r>
            <a:endParaRPr lang="en-US" sz="20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0A3377"/>
                </a:solidFill>
              </a:rPr>
              <a:t>Processo operacionais:</a:t>
            </a:r>
            <a:endParaRPr lang="en-US" sz="20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A3377"/>
                </a:solidFill>
              </a:rPr>
              <a:t>Preservar meio ambiente</a:t>
            </a:r>
            <a:endParaRPr lang="en-US" sz="2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377"/>
                </a:solidFill>
              </a:rPr>
              <a:t>SWOT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DIAGNÓSTICO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Planejamento Estratégico 2025 - 2030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132588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77240" y="1463040"/>
            <a:ext cx="1097280" cy="1920240"/>
          </a:xfrm>
          <a:prstGeom prst="roundRect">
            <a:avLst>
              <a:gd name="adj" fmla="val 6667"/>
            </a:avLst>
          </a:prstGeom>
          <a:solidFill>
            <a:srgbClr val="0A3377"/>
          </a:solidFill>
          <a:ln w="12700">
            <a:solidFill>
              <a:srgbClr val="0A3377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77240" y="1463040"/>
            <a:ext cx="1097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8D4FF"/>
                </a:solidFill>
              </a:rPr>
              <a:t>S</a:t>
            </a:r>
            <a:endParaRPr lang="en-US" sz="5400" dirty="0"/>
          </a:p>
        </p:txBody>
      </p:sp>
      <p:sp>
        <p:nvSpPr>
          <p:cNvPr id="12" name="Text 8"/>
          <p:cNvSpPr txBox="1"/>
          <p:nvPr/>
        </p:nvSpPr>
        <p:spPr>
          <a:xfrm>
            <a:off x="2057400" y="1490472"/>
            <a:ext cx="38404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0A3377"/>
                </a:solidFill>
              </a:rPr>
              <a:t>STRENGTHS </a:t>
            </a:r>
            <a:r>
              <a:rPr lang="en-US" sz="1400" i="1" dirty="0">
                <a:solidFill>
                  <a:srgbClr val="5B6B88"/>
                </a:solidFill>
              </a:rPr>
              <a:t>(Forças)</a:t>
            </a:r>
            <a:endParaRPr lang="en-US" sz="17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0A3377"/>
                </a:solidFill>
              </a:rPr>
              <a:t>O que te diferencia da concorrência?</a:t>
            </a:r>
            <a:endParaRPr lang="en-US" sz="17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0A3377"/>
                </a:solidFill>
              </a:rPr>
              <a:t>Quais os atributos positivos da sua marca?</a:t>
            </a:r>
            <a:endParaRPr lang="en-US" sz="17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0A3377"/>
                </a:solidFill>
              </a:rPr>
              <a:t>Pensando nos seus clientes recorrentes, por que eles compram a sua marca?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6172200" y="132588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309360" y="1463040"/>
            <a:ext cx="1097280" cy="1920240"/>
          </a:xfrm>
          <a:prstGeom prst="roundRect">
            <a:avLst>
              <a:gd name="adj" fmla="val 6667"/>
            </a:avLst>
          </a:prstGeom>
          <a:solidFill>
            <a:srgbClr val="0E3F8C"/>
          </a:solidFill>
          <a:ln w="12700">
            <a:solidFill>
              <a:srgbClr val="0A3377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309360" y="1463040"/>
            <a:ext cx="1097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8D4FF"/>
                </a:solidFill>
              </a:rPr>
              <a:t>W</a:t>
            </a:r>
            <a:endParaRPr lang="en-US" sz="5400" dirty="0"/>
          </a:p>
        </p:txBody>
      </p:sp>
      <p:sp>
        <p:nvSpPr>
          <p:cNvPr id="16" name="Text 12"/>
          <p:cNvSpPr txBox="1"/>
          <p:nvPr/>
        </p:nvSpPr>
        <p:spPr>
          <a:xfrm>
            <a:off x="7589520" y="1490472"/>
            <a:ext cx="38404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0A3377"/>
                </a:solidFill>
              </a:rPr>
              <a:t>WEAKNESSES </a:t>
            </a:r>
            <a:r>
              <a:rPr lang="en-US" sz="1400" i="1" dirty="0">
                <a:solidFill>
                  <a:srgbClr val="5B6B88"/>
                </a:solidFill>
              </a:rPr>
              <a:t>(Fraquezas)</a:t>
            </a:r>
            <a:endParaRPr lang="en-US" sz="17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0A3377"/>
                </a:solidFill>
              </a:rPr>
              <a:t>Quais pontos precisam melhorar para aumentar a competitividade?</a:t>
            </a:r>
            <a:endParaRPr lang="en-US" sz="17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0A3377"/>
                </a:solidFill>
              </a:rPr>
              <a:t>Quais áreas ou setores da empresa estão deficientes?</a:t>
            </a:r>
            <a:endParaRPr lang="en-US" sz="17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0A3377"/>
                </a:solidFill>
              </a:rPr>
              <a:t>Quais os motivos de insatisfação dos consumidores?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640080" y="365760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77240" y="3794760"/>
            <a:ext cx="1097280" cy="1920240"/>
          </a:xfrm>
          <a:prstGeom prst="roundRect">
            <a:avLst>
              <a:gd name="adj" fmla="val 6667"/>
            </a:avLst>
          </a:prstGeom>
          <a:solidFill>
            <a:srgbClr val="0E3F8C"/>
          </a:solidFill>
          <a:ln w="12700">
            <a:solidFill>
              <a:srgbClr val="0A3377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77240" y="3794760"/>
            <a:ext cx="1097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8D4FF"/>
                </a:solidFill>
              </a:rPr>
              <a:t>O</a:t>
            </a:r>
            <a:endParaRPr lang="en-US" sz="5400" dirty="0"/>
          </a:p>
        </p:txBody>
      </p:sp>
      <p:sp>
        <p:nvSpPr>
          <p:cNvPr id="20" name="Text 16"/>
          <p:cNvSpPr txBox="1"/>
          <p:nvPr/>
        </p:nvSpPr>
        <p:spPr>
          <a:xfrm>
            <a:off x="2057400" y="3822192"/>
            <a:ext cx="38404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0A3377"/>
                </a:solidFill>
              </a:rPr>
              <a:t>OPPORTUNITIES </a:t>
            </a:r>
            <a:r>
              <a:rPr lang="en-US" sz="1400" i="1" dirty="0">
                <a:solidFill>
                  <a:srgbClr val="5B6B88"/>
                </a:solidFill>
              </a:rPr>
              <a:t>(Oportunidades)</a:t>
            </a:r>
            <a:endParaRPr lang="en-US" sz="17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0A3377"/>
                </a:solidFill>
              </a:rPr>
              <a:t>Quais mudanças aconteceram no mercado que podem te impactar positivamente?</a:t>
            </a:r>
            <a:endParaRPr lang="en-US" sz="17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0A3377"/>
                </a:solidFill>
              </a:rPr>
              <a:t>Alguma nova tecnologia que você possa melhorar processos, logística ou produção?</a:t>
            </a:r>
            <a:endParaRPr lang="en-US" sz="1700" dirty="0"/>
          </a:p>
        </p:txBody>
      </p:sp>
      <p:sp>
        <p:nvSpPr>
          <p:cNvPr id="21" name="Shape 17"/>
          <p:cNvSpPr/>
          <p:nvPr/>
        </p:nvSpPr>
        <p:spPr>
          <a:xfrm>
            <a:off x="6172200" y="365760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309360" y="3794760"/>
            <a:ext cx="1097280" cy="1920240"/>
          </a:xfrm>
          <a:prstGeom prst="roundRect">
            <a:avLst>
              <a:gd name="adj" fmla="val 6667"/>
            </a:avLst>
          </a:prstGeom>
          <a:solidFill>
            <a:srgbClr val="0A3377"/>
          </a:solidFill>
          <a:ln w="12700">
            <a:solidFill>
              <a:srgbClr val="0A3377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309360" y="3794760"/>
            <a:ext cx="1097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8D4FF"/>
                </a:solidFill>
              </a:rPr>
              <a:t>T</a:t>
            </a:r>
            <a:endParaRPr lang="en-US" sz="5400" dirty="0"/>
          </a:p>
        </p:txBody>
      </p:sp>
      <p:sp>
        <p:nvSpPr>
          <p:cNvPr id="24" name="Text 20"/>
          <p:cNvSpPr txBox="1"/>
          <p:nvPr/>
        </p:nvSpPr>
        <p:spPr>
          <a:xfrm>
            <a:off x="7589520" y="3822192"/>
            <a:ext cx="38404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0A3377"/>
                </a:solidFill>
              </a:rPr>
              <a:t>THREATS </a:t>
            </a:r>
            <a:r>
              <a:rPr lang="en-US" sz="1400" i="1" dirty="0">
                <a:solidFill>
                  <a:srgbClr val="5B6B88"/>
                </a:solidFill>
              </a:rPr>
              <a:t>(Ameaças)</a:t>
            </a:r>
            <a:endParaRPr lang="en-US" sz="17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0A3377"/>
                </a:solidFill>
              </a:rPr>
              <a:t>Quais mudanças aconteceram no mercado que podem te impactar negativamente?</a:t>
            </a:r>
            <a:endParaRPr lang="en-US" sz="17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0A3377"/>
                </a:solidFill>
              </a:rPr>
              <a:t>Alguma mudança no cenário macroeconômico que te prejudique?</a:t>
            </a:r>
            <a:endParaRPr lang="en-US" sz="17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377"/>
                </a:solidFill>
              </a:rPr>
              <a:t>SWOT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DIAGNÓSTICO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Planejamento Estratégico 2025 - 2030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927080" cy="914400"/>
        </p:xfrm>
        <a:graphic>
          <a:graphicData uri="http://schemas.openxmlformats.org/drawingml/2006/table">
            <a:tbl>
              <a:tblPr/>
              <a:tblGrid>
                <a:gridCol w="2734056"/>
                <a:gridCol w="2734056"/>
                <a:gridCol w="2734056"/>
                <a:gridCol w="27249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Ameaças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37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Oportunidades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37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Pontos </a:t>
                      </a: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Fracos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37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Pontos </a:t>
                      </a: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Fortes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37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Dependência </a:t>
                      </a: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do ambiente politico</a:t>
                      </a:r>
                      <a:endParaRPr lang="en-US" sz="1150" dirty="0"/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Entrada de novas </a:t>
                      </a: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tecnologias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Saneamento - aumento de mercado</a:t>
                      </a:r>
                      <a:endParaRPr lang="en-US" sz="1150" dirty="0"/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Serviços Emergenciais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Alta rotatividade</a:t>
                      </a: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 e baixa qualificação</a:t>
                      </a:r>
                      <a:endParaRPr lang="en-US" sz="1150" dirty="0"/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Conflitos entre Gestores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Reputação da empresa</a:t>
                      </a:r>
                      <a:endParaRPr lang="en-US" sz="1150" dirty="0"/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Qualidade do Serviço</a:t>
                      </a:r>
                      <a:endParaRPr lang="en-US" sz="1150" dirty="0"/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Atitude Criativa e Inovadora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Esgotamento dos aterros e da capacidade dos existentes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Mudanças climáticas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Centralização</a:t>
                      </a: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 X Crescimento da empresa</a:t>
                      </a:r>
                      <a:endParaRPr lang="en-US" sz="1150" dirty="0"/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Inexperiência em obras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Preços</a:t>
                      </a: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 </a:t>
                      </a: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Adequados</a:t>
                      </a:r>
                      <a:endParaRPr lang="en-US" sz="1150" dirty="0"/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Atestação Comprovada</a:t>
                      </a:r>
                      <a:endParaRPr lang="en-US" sz="1150" dirty="0"/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Gestão Financeira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Pressão dos órgãos ambientais com maior fiscalização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Serviços de maior valor agregado - Tecnologias inovadoras e </a:t>
                      </a: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diferenciadas,</a:t>
                      </a: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 IA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Falta de sistema do controle de material </a:t>
                      </a:r>
                      <a:endParaRPr lang="en-US" sz="1150" dirty="0"/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Falta</a:t>
                      </a: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 de controle na qualidade da execução dos serviços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Incentivo a qualificação profissional</a:t>
                      </a:r>
                      <a:endParaRPr lang="en-US" sz="1150" dirty="0"/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Meritocracia</a:t>
                      </a:r>
                      <a:endParaRPr lang="en-US" sz="1150" dirty="0"/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Sistema </a:t>
                      </a: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Sigiurb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Luta de concorrentes por aumento da participação no mercado</a:t>
                      </a:r>
                      <a:endParaRPr lang="en-US" sz="1150" dirty="0"/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Aumento</a:t>
                      </a: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 da concorrência de empresas com atestados 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Aumento da consciência ambiental gerando novos negócios – despoluição, redução perdas de água 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Desgaste </a:t>
                      </a: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de equipamentos e </a:t>
                      </a: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caminhões / Manutenção preventiva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Conhecimento do problema do cliente</a:t>
                      </a:r>
                      <a:endParaRPr lang="en-US" sz="1150" dirty="0"/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Comprometimento Liderança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Maior participação nas </a:t>
                      </a: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concorrências </a:t>
                      </a: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de empresas menos qualificadas com a diminuição da </a:t>
                      </a: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exigência </a:t>
                      </a: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de capacitação técnica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Sistema de gestão – terceirização</a:t>
                      </a:r>
                      <a:endParaRPr lang="en-US" sz="1150" dirty="0"/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Novas metodologias e tecnologias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Custo </a:t>
                      </a: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operacional alto.</a:t>
                      </a:r>
                      <a:endParaRPr lang="en-US" sz="1150" dirty="0"/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Treinamento Operacional</a:t>
                      </a:r>
                      <a:endParaRPr lang="en-US" sz="1150" dirty="0"/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Política de Comunicação </a:t>
                      </a: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interna / Acidente</a:t>
                      </a: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 de trabalho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Qualidade dos equipamentos</a:t>
                      </a:r>
                      <a:endParaRPr lang="en-US" sz="1150" dirty="0"/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Disponibilidade</a:t>
                      </a: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 de Equipamento</a:t>
                      </a:r>
                      <a:endParaRPr lang="en-US" sz="1150" dirty="0"/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Disponibilidade de conhecimento técnico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Privatização </a:t>
                      </a: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do saneamento de má qualidade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Concessão</a:t>
                      </a: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 / economia circular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Gerenciamento contratual / Análise crítica e indicadores (P X</a:t>
                      </a: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 R)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Estrutura Organizacional</a:t>
                      </a:r>
                      <a:endParaRPr lang="en-US" sz="1150" dirty="0"/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Diversificação </a:t>
                      </a: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de clientes e serviços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União </a:t>
                      </a: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dos serviços de </a:t>
                      </a: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manutenção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Novas leis 13303/16</a:t>
                      </a: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 e</a:t>
                      </a: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 14133/21 (estatais</a:t>
                      </a: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 e licitações públicas)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Procedimentos internos</a:t>
                      </a:r>
                      <a:endParaRPr lang="en-US" sz="1150" dirty="0"/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Gestão das </a:t>
                      </a: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Informações 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Instalações</a:t>
                      </a:r>
                      <a:endParaRPr lang="en-US" sz="1150" dirty="0"/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Usinagem de peças</a:t>
                      </a:r>
                      <a:endParaRPr lang="en-US" sz="1150" dirty="0"/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Capacidade</a:t>
                      </a:r>
                      <a:r>
                        <a:rPr lang="en-US" sz="1150" dirty="0">
                          <a:solidFill>
                            <a:srgbClr val="0A3377"/>
                          </a:solidFill>
                        </a:rPr>
                        <a:t> de atendimento de problemas complexos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377"/>
                </a:solidFill>
              </a:rPr>
              <a:t>SWOT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PRINCÍPIOS · DIRETRIZES · OBJETIVOS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Planejamento Estratégico 2025 - 2030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9270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61722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Princípios</a:t>
                      </a: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 2025</a:t>
                      </a:r>
                      <a:endParaRPr lang="en-US" sz="16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3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Diretrizes</a:t>
                      </a: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 2025</a:t>
                      </a:r>
                      <a:endParaRPr lang="en-US" sz="16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37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Objetivos</a:t>
                      </a:r>
                      <a:endParaRPr lang="en-US" sz="16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37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A3377"/>
                          </a:solidFill>
                        </a:rPr>
                        <a:t>Avaliação contínua das tendências econômicas, sociais políticas </a:t>
                      </a:r>
                      <a:endParaRPr lang="en-US" sz="18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A3377"/>
                          </a:solidFill>
                        </a:rPr>
                        <a:t>Crescimento</a:t>
                      </a:r>
                      <a:endParaRPr lang="en-US" sz="18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rgbClr val="0A3377"/>
                          </a:solidFill>
                        </a:rPr>
                        <a:t>Manter a participação nos segmentos de mercado </a:t>
                      </a:r>
                      <a:r>
                        <a:rPr lang="en-US" sz="1600" dirty="0">
                          <a:solidFill>
                            <a:srgbClr val="0A3377"/>
                          </a:solidFill>
                        </a:rPr>
                        <a:t>tradicionais </a:t>
                      </a:r>
                      <a:r>
                        <a:rPr lang="en-US" sz="1600" dirty="0">
                          <a:solidFill>
                            <a:srgbClr val="0A3377"/>
                          </a:solidFill>
                        </a:rPr>
                        <a:t>em clientes atuais; </a:t>
                      </a:r>
                      <a:r>
                        <a:rPr lang="en-US" sz="1600" dirty="0">
                          <a:solidFill>
                            <a:srgbClr val="0A3377"/>
                          </a:solidFill>
                        </a:rPr>
                        <a:t>     </a:t>
                      </a:r>
                      <a:endParaRPr lang="en-US" sz="1600" dirty="0"/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rgbClr val="0A3377"/>
                          </a:solidFill>
                        </a:rPr>
                        <a:t>Conquistar </a:t>
                      </a:r>
                      <a:r>
                        <a:rPr lang="en-US" sz="1600" dirty="0">
                          <a:solidFill>
                            <a:srgbClr val="0A3377"/>
                          </a:solidFill>
                        </a:rPr>
                        <a:t>novos contratos de gestão da operação e manutenção de sistemas de drenagem e/ou esgotos</a:t>
                      </a:r>
                      <a:r>
                        <a:rPr lang="en-US" sz="1600" dirty="0">
                          <a:solidFill>
                            <a:srgbClr val="0A3377"/>
                          </a:solidFill>
                        </a:rPr>
                        <a:t>; </a:t>
                      </a:r>
                      <a:endParaRPr lang="en-US" sz="1600" dirty="0"/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rgbClr val="0A3377"/>
                          </a:solidFill>
                        </a:rPr>
                        <a:t>Conquistar contratos de fornecimento de programas de gestão de serviços operacionais</a:t>
                      </a:r>
                      <a:r>
                        <a:rPr lang="en-US" sz="1600" dirty="0">
                          <a:solidFill>
                            <a:srgbClr val="0A3377"/>
                          </a:solidFill>
                        </a:rPr>
                        <a:t>; </a:t>
                      </a:r>
                      <a:endParaRPr lang="en-US" sz="1600" dirty="0"/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rgbClr val="0A3377"/>
                          </a:solidFill>
                        </a:rPr>
                        <a:t>Parcerias </a:t>
                      </a:r>
                      <a:r>
                        <a:rPr lang="en-US" sz="1600" dirty="0">
                          <a:solidFill>
                            <a:srgbClr val="0A3377"/>
                          </a:solidFill>
                        </a:rPr>
                        <a:t>para Concessão de Saneamento</a:t>
                      </a:r>
                      <a:r>
                        <a:rPr lang="en-US" sz="1600" dirty="0">
                          <a:solidFill>
                            <a:srgbClr val="0A3377"/>
                          </a:solidFill>
                        </a:rPr>
                        <a:t>; </a:t>
                      </a:r>
                      <a:endParaRPr lang="en-US" sz="1600" dirty="0"/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rgbClr val="0A3377"/>
                          </a:solidFill>
                        </a:rPr>
                        <a:t>Contratos </a:t>
                      </a:r>
                      <a:r>
                        <a:rPr lang="en-US" sz="1600" dirty="0">
                          <a:solidFill>
                            <a:srgbClr val="0A3377"/>
                          </a:solidFill>
                        </a:rPr>
                        <a:t>de drenagem em prefeituras</a:t>
                      </a:r>
                      <a:r>
                        <a:rPr lang="en-US" sz="1600" dirty="0">
                          <a:solidFill>
                            <a:srgbClr val="0A3377"/>
                          </a:solidFill>
                        </a:rPr>
                        <a:t>;   </a:t>
                      </a:r>
                      <a:endParaRPr lang="en-US" sz="1600" dirty="0"/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rgbClr val="0A3377"/>
                          </a:solidFill>
                        </a:rPr>
                        <a:t>Contratos </a:t>
                      </a:r>
                      <a:r>
                        <a:rPr lang="en-US" sz="1600" dirty="0">
                          <a:solidFill>
                            <a:srgbClr val="0A3377"/>
                          </a:solidFill>
                        </a:rPr>
                        <a:t>de Redução de Perdas de água.</a:t>
                      </a:r>
                      <a:endParaRPr lang="en-US" sz="16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377"/>
                </a:solidFill>
              </a:rPr>
              <a:t>SWOT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PRINCÍPIOS · DIRETRIZES · OBJETIVOS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Planejamento Estratégico 2025 - 2030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9270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61722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Princípios</a:t>
                      </a: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 2025</a:t>
                      </a:r>
                      <a:endParaRPr lang="en-US" sz="16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3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Diretrizes</a:t>
                      </a: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 2025</a:t>
                      </a:r>
                      <a:endParaRPr lang="en-US" sz="16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37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Objetivos</a:t>
                      </a:r>
                      <a:endParaRPr lang="en-US" sz="16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37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A3377"/>
                          </a:solidFill>
                        </a:rPr>
                        <a:t>Sustentabilidade Econômica </a:t>
                      </a:r>
                      <a:endParaRPr lang="en-US" sz="18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A3377"/>
                          </a:solidFill>
                        </a:rPr>
                        <a:t>Geração positiva de caixa Para sustentar o investimento </a:t>
                      </a:r>
                      <a:endParaRPr lang="en-US" sz="18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rgbClr val="0A3377"/>
                          </a:solidFill>
                        </a:rPr>
                        <a:t>Manter a eficiência no gerenciamento dos custos dos </a:t>
                      </a:r>
                      <a:r>
                        <a:rPr lang="en-US" sz="1600" dirty="0">
                          <a:solidFill>
                            <a:srgbClr val="0A3377"/>
                          </a:solidFill>
                        </a:rPr>
                        <a:t>serviços; </a:t>
                      </a:r>
                      <a:endParaRPr lang="en-US" sz="1600" dirty="0"/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rgbClr val="0A3377"/>
                          </a:solidFill>
                        </a:rPr>
                        <a:t>Decisões </a:t>
                      </a:r>
                      <a:r>
                        <a:rPr lang="en-US" sz="1600" dirty="0">
                          <a:solidFill>
                            <a:srgbClr val="0A3377"/>
                          </a:solidFill>
                        </a:rPr>
                        <a:t>rápidas de reequilíbrio econômico </a:t>
                      </a:r>
                      <a:r>
                        <a:rPr lang="en-US" sz="1600" dirty="0">
                          <a:solidFill>
                            <a:srgbClr val="0A3377"/>
                          </a:solidFill>
                        </a:rPr>
                        <a:t>financeiro; </a:t>
                      </a:r>
                      <a:endParaRPr lang="en-US" sz="1600" dirty="0"/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rgbClr val="0A3377"/>
                          </a:solidFill>
                        </a:rPr>
                        <a:t>Novos </a:t>
                      </a:r>
                      <a:r>
                        <a:rPr lang="en-US" sz="1600" dirty="0">
                          <a:solidFill>
                            <a:srgbClr val="0A3377"/>
                          </a:solidFill>
                        </a:rPr>
                        <a:t>contratos de serviços e </a:t>
                      </a:r>
                      <a:r>
                        <a:rPr lang="en-US" sz="1600" dirty="0">
                          <a:solidFill>
                            <a:srgbClr val="0A3377"/>
                          </a:solidFill>
                        </a:rPr>
                        <a:t>obras; </a:t>
                      </a:r>
                      <a:endParaRPr lang="en-US" sz="1600" dirty="0"/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rgbClr val="0A3377"/>
                          </a:solidFill>
                        </a:rPr>
                        <a:t>Fazer análise crítica de contratos novos, evitando contratos de resultado duvidoso ou claramente negativo; </a:t>
                      </a:r>
                      <a:endParaRPr lang="en-US" sz="1600" dirty="0"/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rgbClr val="0A3377"/>
                          </a:solidFill>
                        </a:rPr>
                        <a:t>Acompanhar </a:t>
                      </a:r>
                      <a:r>
                        <a:rPr lang="en-US" sz="1600" dirty="0">
                          <a:solidFill>
                            <a:srgbClr val="0A3377"/>
                          </a:solidFill>
                        </a:rPr>
                        <a:t>diuturnamente o caixa da empresa para garantir a grande necessidade de recursos para investimentos decorrentes de novos contratos ou de substituição de equipamentos </a:t>
                      </a:r>
                      <a:r>
                        <a:rPr lang="en-US" sz="1600" dirty="0">
                          <a:solidFill>
                            <a:srgbClr val="0A3377"/>
                          </a:solidFill>
                        </a:rPr>
                        <a:t>antigos;</a:t>
                      </a:r>
                      <a:r>
                        <a:rPr lang="en-US" sz="1600" dirty="0">
                          <a:solidFill>
                            <a:srgbClr val="0A3377"/>
                          </a:solidFill>
                        </a:rPr>
                        <a:t> </a:t>
                      </a:r>
                      <a:endParaRPr lang="en-US" sz="1600" dirty="0"/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rgbClr val="0A3377"/>
                          </a:solidFill>
                        </a:rPr>
                        <a:t>Adequação do novo sistema de tributação (LP x LR); </a:t>
                      </a:r>
                      <a:endParaRPr lang="en-US" sz="1600" dirty="0"/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rgbClr val="D32F2F"/>
                          </a:solidFill>
                        </a:rPr>
                        <a:t>Monitoramento e segurança; </a:t>
                      </a:r>
                      <a:endParaRPr lang="en-US" sz="1600" dirty="0"/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rgbClr val="D32F2F"/>
                          </a:solidFill>
                        </a:rPr>
                        <a:t>Descentralização por canteiro.</a:t>
                      </a:r>
                      <a:endParaRPr lang="en-US" sz="16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377"/>
                </a:solidFill>
              </a:rPr>
              <a:t>SWOT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PRINCÍPIOS · DIRETRIZES · OBJETIVOS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Planejamento Estratégico 2025 - 2030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9270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61722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Princípios</a:t>
                      </a: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 2025</a:t>
                      </a:r>
                      <a:endParaRPr lang="en-US" sz="16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3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Diretrizes</a:t>
                      </a: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 2025</a:t>
                      </a:r>
                      <a:endParaRPr lang="en-US" sz="16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37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Objetivos</a:t>
                      </a:r>
                      <a:endParaRPr lang="en-US" sz="16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37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A3377"/>
                          </a:solidFill>
                        </a:rPr>
                        <a:t>Sustentabilidade Socioambiental </a:t>
                      </a:r>
                      <a:endParaRPr lang="en-US" sz="18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A3377"/>
                          </a:solidFill>
                        </a:rPr>
                        <a:t>Atendimento ao ESG </a:t>
                      </a:r>
                      <a:endParaRPr lang="en-US" sz="18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rgbClr val="0A3377"/>
                          </a:solidFill>
                        </a:rPr>
                        <a:t>Melhorar </a:t>
                      </a:r>
                      <a:r>
                        <a:rPr lang="en-US" sz="1600" dirty="0">
                          <a:solidFill>
                            <a:srgbClr val="0A3377"/>
                          </a:solidFill>
                        </a:rPr>
                        <a:t>as definições das responsabilidades e </a:t>
                      </a:r>
                      <a:r>
                        <a:rPr lang="en-US" sz="1600" dirty="0">
                          <a:solidFill>
                            <a:srgbClr val="0A3377"/>
                          </a:solidFill>
                        </a:rPr>
                        <a:t>procedimentos; </a:t>
                      </a:r>
                      <a:endParaRPr lang="en-US" sz="1600" dirty="0"/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rgbClr val="0A3377"/>
                          </a:solidFill>
                        </a:rPr>
                        <a:t>Gestão </a:t>
                      </a:r>
                      <a:r>
                        <a:rPr lang="en-US" sz="1600" dirty="0">
                          <a:solidFill>
                            <a:srgbClr val="0A3377"/>
                          </a:solidFill>
                        </a:rPr>
                        <a:t>Meritocrática</a:t>
                      </a:r>
                      <a:r>
                        <a:rPr lang="en-US" sz="1600" dirty="0">
                          <a:solidFill>
                            <a:srgbClr val="0A3377"/>
                          </a:solidFill>
                        </a:rPr>
                        <a:t>; </a:t>
                      </a:r>
                      <a:endParaRPr lang="en-US" sz="1600" dirty="0"/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rgbClr val="0A3377"/>
                          </a:solidFill>
                        </a:rPr>
                        <a:t>Garantir </a:t>
                      </a:r>
                      <a:r>
                        <a:rPr lang="en-US" sz="1600" dirty="0">
                          <a:solidFill>
                            <a:srgbClr val="0A3377"/>
                          </a:solidFill>
                        </a:rPr>
                        <a:t>Proteção dos dados pessoais, contratos, contratantes e </a:t>
                      </a:r>
                      <a:r>
                        <a:rPr lang="en-US" sz="1600" dirty="0">
                          <a:solidFill>
                            <a:srgbClr val="0A3377"/>
                          </a:solidFill>
                        </a:rPr>
                        <a:t>serviços; </a:t>
                      </a:r>
                      <a:endParaRPr lang="en-US" sz="1600" dirty="0"/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rgbClr val="0A3377"/>
                          </a:solidFill>
                        </a:rPr>
                        <a:t>Ações </a:t>
                      </a:r>
                      <a:r>
                        <a:rPr lang="en-US" sz="1600" dirty="0">
                          <a:solidFill>
                            <a:srgbClr val="0A3377"/>
                          </a:solidFill>
                        </a:rPr>
                        <a:t>positivas para a comunidade e </a:t>
                      </a:r>
                      <a:r>
                        <a:rPr lang="en-US" sz="1600" dirty="0">
                          <a:solidFill>
                            <a:srgbClr val="0A3377"/>
                          </a:solidFill>
                        </a:rPr>
                        <a:t>colaboradores; </a:t>
                      </a:r>
                      <a:endParaRPr lang="en-US" sz="1600" dirty="0"/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rgbClr val="0A3377"/>
                          </a:solidFill>
                        </a:rPr>
                        <a:t>Manejo </a:t>
                      </a:r>
                      <a:r>
                        <a:rPr lang="en-US" sz="1600" dirty="0">
                          <a:solidFill>
                            <a:srgbClr val="0A3377"/>
                          </a:solidFill>
                        </a:rPr>
                        <a:t>adequado de resíduos sólidos e economia </a:t>
                      </a:r>
                      <a:r>
                        <a:rPr lang="en-US" sz="1600" dirty="0">
                          <a:solidFill>
                            <a:srgbClr val="0A3377"/>
                          </a:solidFill>
                        </a:rPr>
                        <a:t>circular;</a:t>
                      </a:r>
                      <a:r>
                        <a:rPr lang="en-US" sz="1600" dirty="0">
                          <a:solidFill>
                            <a:srgbClr val="0A3377"/>
                          </a:solidFill>
                        </a:rPr>
                        <a:t> </a:t>
                      </a:r>
                      <a:endParaRPr lang="en-US" sz="1600" dirty="0"/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rgbClr val="0A3377"/>
                          </a:solidFill>
                        </a:rPr>
                        <a:t>Garantia </a:t>
                      </a:r>
                      <a:r>
                        <a:rPr lang="en-US" sz="1600" dirty="0">
                          <a:solidFill>
                            <a:srgbClr val="0A3377"/>
                          </a:solidFill>
                        </a:rPr>
                        <a:t>dos direitos </a:t>
                      </a:r>
                      <a:r>
                        <a:rPr lang="en-US" sz="1600" dirty="0">
                          <a:solidFill>
                            <a:srgbClr val="0A3377"/>
                          </a:solidFill>
                        </a:rPr>
                        <a:t>trabalhistas.</a:t>
                      </a:r>
                      <a:endParaRPr lang="en-US" sz="16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377"/>
                </a:solidFill>
              </a:rPr>
              <a:t>SWOT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PRINCÍPIOS · DIRETRIZES · OBJETIVOS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Planejamento Estratégico 2025 - 2030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9270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61722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Princípios</a:t>
                      </a: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 2025</a:t>
                      </a:r>
                      <a:endParaRPr lang="en-US" sz="16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3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Diretrizes</a:t>
                      </a: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 2025</a:t>
                      </a:r>
                      <a:endParaRPr lang="en-US" sz="16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37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Objetivos</a:t>
                      </a:r>
                      <a:endParaRPr lang="en-US" sz="16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37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A3377"/>
                          </a:solidFill>
                        </a:rPr>
                        <a:t>Excelência nos Serviços </a:t>
                      </a:r>
                      <a:endParaRPr lang="en-US" sz="18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A3377"/>
                          </a:solidFill>
                        </a:rPr>
                        <a:t>Recursos </a:t>
                      </a:r>
                      <a:r>
                        <a:rPr lang="en-US" sz="1800" b="1" dirty="0">
                          <a:solidFill>
                            <a:srgbClr val="0A3377"/>
                          </a:solidFill>
                        </a:rPr>
                        <a:t>Materiais </a:t>
                      </a:r>
                      <a:endParaRPr lang="en-US" sz="1800" dirty="0"/>
                    </a:p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A3377"/>
                          </a:solidFill>
                        </a:rPr>
                        <a:t>Recursos </a:t>
                      </a:r>
                      <a:r>
                        <a:rPr lang="en-US" sz="1800" b="1" dirty="0">
                          <a:solidFill>
                            <a:srgbClr val="0A3377"/>
                          </a:solidFill>
                        </a:rPr>
                        <a:t>Humanos </a:t>
                      </a:r>
                      <a:endParaRPr lang="en-US" sz="18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rgbClr val="0A3377"/>
                          </a:solidFill>
                        </a:rPr>
                        <a:t>Equipamentos adequados em quantidades e condições </a:t>
                      </a:r>
                      <a:r>
                        <a:rPr lang="en-US" sz="1600" dirty="0">
                          <a:solidFill>
                            <a:srgbClr val="0A3377"/>
                          </a:solidFill>
                        </a:rPr>
                        <a:t>operacionais; </a:t>
                      </a:r>
                      <a:endParaRPr lang="en-US" sz="1600" dirty="0"/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rgbClr val="0A3377"/>
                          </a:solidFill>
                        </a:rPr>
                        <a:t>Pessoal treinado;  </a:t>
                      </a:r>
                      <a:endParaRPr lang="en-US" sz="1600" dirty="0"/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rgbClr val="0A3377"/>
                          </a:solidFill>
                        </a:rPr>
                        <a:t>Manter estrutura</a:t>
                      </a:r>
                      <a:r>
                        <a:rPr lang="en-US" sz="1600" dirty="0">
                          <a:solidFill>
                            <a:srgbClr val="0A3377"/>
                          </a:solidFill>
                        </a:rPr>
                        <a:t> com profissionais qualificados nas diversas áreas de atuação;</a:t>
                      </a:r>
                      <a:endParaRPr lang="en-US" sz="1600" dirty="0"/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rgbClr val="0A3377"/>
                          </a:solidFill>
                        </a:rPr>
                        <a:t>Pessoal comprometido;</a:t>
                      </a:r>
                      <a:endParaRPr lang="en-US" sz="1600" dirty="0"/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rgbClr val="0A3377"/>
                          </a:solidFill>
                        </a:rPr>
                        <a:t>Criar procedimentos operacionais e software para todos os </a:t>
                      </a:r>
                      <a:r>
                        <a:rPr lang="en-US" sz="1600" dirty="0">
                          <a:solidFill>
                            <a:srgbClr val="0A3377"/>
                          </a:solidFill>
                        </a:rPr>
                        <a:t>serviços;</a:t>
                      </a:r>
                      <a:endParaRPr lang="en-US" sz="1600" dirty="0"/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rgbClr val="D32F2F"/>
                          </a:solidFill>
                        </a:rPr>
                        <a:t>Implantação</a:t>
                      </a:r>
                      <a:r>
                        <a:rPr lang="en-US" sz="1600" dirty="0">
                          <a:solidFill>
                            <a:srgbClr val="D32F2F"/>
                          </a:solidFill>
                        </a:rPr>
                        <a:t> Identidade visual em equipamentos, frota e </a:t>
                      </a:r>
                      <a:r>
                        <a:rPr lang="en-US" sz="1600" dirty="0">
                          <a:solidFill>
                            <a:srgbClr val="D32F2F"/>
                          </a:solidFill>
                        </a:rPr>
                        <a:t>etc</a:t>
                      </a:r>
                      <a:r>
                        <a:rPr lang="en-US" sz="1600" dirty="0">
                          <a:solidFill>
                            <a:srgbClr val="D32F2F"/>
                          </a:solidFill>
                        </a:rPr>
                        <a:t>;</a:t>
                      </a:r>
                      <a:endParaRPr lang="en-US" sz="1600" dirty="0"/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rgbClr val="D32F2F"/>
                          </a:solidFill>
                        </a:rPr>
                        <a:t>Comunicação integrada organizacional</a:t>
                      </a:r>
                      <a:r>
                        <a:rPr lang="en-US" sz="1600" dirty="0">
                          <a:solidFill>
                            <a:srgbClr val="D32F2F"/>
                          </a:solidFill>
                        </a:rPr>
                        <a:t>.</a:t>
                      </a:r>
                      <a:endParaRPr lang="en-US" sz="1600" dirty="0"/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rgbClr val="D32F2F"/>
                          </a:solidFill>
                        </a:rPr>
                        <a:t>Reintroduzir sistema de controle da qualidade</a:t>
                      </a:r>
                      <a:endParaRPr lang="en-US" sz="16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A3377"/>
                </a:solidFill>
              </a:rPr>
              <a:t>Princípios – Diretrizes – Objetivos 2025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OBJETIVOS 2025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Planejamento Estratégico 2025 - 2030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1280160"/>
            <a:ext cx="10927080" cy="914400"/>
          </a:xfrm>
          <a:prstGeom prst="roundRect">
            <a:avLst>
              <a:gd name="adj" fmla="val 10000"/>
            </a:avLst>
          </a:prstGeom>
          <a:solidFill>
            <a:srgbClr val="0A3377"/>
          </a:solidFill>
          <a:ln w="12700">
            <a:solidFill>
              <a:srgbClr val="0A3377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914400" y="128016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60"/>
              </a:spcAft>
              <a:buNone/>
            </a:pPr>
            <a:r>
              <a:rPr lang="en-US" sz="1800" dirty="0">
                <a:solidFill>
                  <a:srgbClr val="CFE6FF"/>
                </a:solidFill>
              </a:rPr>
              <a:t>Princípio: Avaliação contínua das tendências econômicas, sociais políticas</a:t>
            </a:r>
            <a:endParaRPr lang="en-US" sz="1800" dirty="0"/>
          </a:p>
          <a:p>
            <a:pPr algn="l" indent="0" marL="0">
              <a:spcAft>
                <a:spcPts val="360"/>
              </a:spcAft>
              <a:buNone/>
            </a:pPr>
            <a:r>
              <a:rPr lang="en-US" sz="1800" dirty="0">
                <a:solidFill>
                  <a:srgbClr val="CFE6FF"/>
                </a:solidFill>
              </a:rPr>
              <a:t>Diretriz: Crescimento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2377440"/>
            <a:ext cx="10927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85"/>
              </a:spcAft>
              <a:buNone/>
            </a:pPr>
            <a:r>
              <a:rPr lang="en-US" sz="1950" dirty="0">
                <a:solidFill>
                  <a:srgbClr val="0A3377"/>
                </a:solidFill>
              </a:rPr>
              <a:t>Objetivos Estratégicos:</a:t>
            </a:r>
            <a:endParaRPr lang="en-US" sz="1950" dirty="0"/>
          </a:p>
          <a:p>
            <a:pPr algn="l" marL="177800" indent="-177800">
              <a:spcAft>
                <a:spcPts val="585"/>
              </a:spcAft>
              <a:buSzPct val="100000"/>
              <a:buChar char="•"/>
            </a:pPr>
            <a:r>
              <a:rPr lang="en-US" sz="1950" dirty="0">
                <a:solidFill>
                  <a:srgbClr val="0A3377"/>
                </a:solidFill>
              </a:rPr>
              <a:t>Manter a participação nos segmentos de mercado tradicionais em clientes atuais: PMSP, SABESP, SEMAE, DMAE, SANASA, PMG, PMRJ;</a:t>
            </a:r>
            <a:endParaRPr lang="en-US" sz="1950" dirty="0"/>
          </a:p>
          <a:p>
            <a:pPr algn="l" marL="177800" indent="-177800">
              <a:spcAft>
                <a:spcPts val="585"/>
              </a:spcAft>
              <a:buSzPct val="100000"/>
              <a:buChar char="•"/>
            </a:pPr>
            <a:r>
              <a:rPr lang="en-US" sz="1950" dirty="0">
                <a:solidFill>
                  <a:srgbClr val="0A3377"/>
                </a:solidFill>
              </a:rPr>
              <a:t>Conquistar novos contratos de gestão da operação e manutenção de sistemas de drenagem e/ou esgotos: SANEAGO, EMBASA;</a:t>
            </a:r>
            <a:endParaRPr lang="en-US" sz="1950" dirty="0"/>
          </a:p>
          <a:p>
            <a:pPr algn="l" marL="177800" indent="-177800">
              <a:spcAft>
                <a:spcPts val="585"/>
              </a:spcAft>
              <a:buSzPct val="100000"/>
              <a:buChar char="•"/>
            </a:pPr>
            <a:r>
              <a:rPr lang="en-US" sz="1950" dirty="0">
                <a:solidFill>
                  <a:srgbClr val="0A3377"/>
                </a:solidFill>
              </a:rPr>
              <a:t>Conquistar contratos de fornecimento de programas de gestão de serviços operacionais</a:t>
            </a:r>
            <a:r>
              <a:rPr lang="en-US" sz="1950" dirty="0">
                <a:solidFill>
                  <a:srgbClr val="0A3377"/>
                </a:solidFill>
              </a:rPr>
              <a:t>;</a:t>
            </a:r>
            <a:endParaRPr lang="en-US" sz="1950" dirty="0"/>
          </a:p>
          <a:p>
            <a:pPr algn="l" marL="177800" indent="-177800">
              <a:spcAft>
                <a:spcPts val="585"/>
              </a:spcAft>
              <a:buSzPct val="100000"/>
              <a:buChar char="•"/>
            </a:pPr>
            <a:r>
              <a:rPr lang="en-US" sz="1950" dirty="0">
                <a:solidFill>
                  <a:srgbClr val="0A3377"/>
                </a:solidFill>
              </a:rPr>
              <a:t>Parcerias para Concessão de Saneamento: Equatorial, </a:t>
            </a:r>
            <a:r>
              <a:rPr lang="en-US" sz="1950" dirty="0">
                <a:solidFill>
                  <a:srgbClr val="0A3377"/>
                </a:solidFill>
              </a:rPr>
              <a:t>Iguá</a:t>
            </a:r>
            <a:r>
              <a:rPr lang="en-US" sz="1950" dirty="0">
                <a:solidFill>
                  <a:srgbClr val="0A3377"/>
                </a:solidFill>
              </a:rPr>
              <a:t>, AEGEA, BRK, CTL;</a:t>
            </a:r>
            <a:endParaRPr lang="en-US" sz="1950" dirty="0"/>
          </a:p>
          <a:p>
            <a:pPr algn="l" marL="177800" indent="-177800">
              <a:spcAft>
                <a:spcPts val="585"/>
              </a:spcAft>
              <a:buSzPct val="100000"/>
              <a:buChar char="•"/>
            </a:pPr>
            <a:r>
              <a:rPr lang="en-US" sz="1950" dirty="0">
                <a:solidFill>
                  <a:srgbClr val="0A3377"/>
                </a:solidFill>
              </a:rPr>
              <a:t>Contratos de drenagem em prefeituras: Suzano, Poá, Uberlândia;</a:t>
            </a:r>
            <a:endParaRPr lang="en-US" sz="1950" dirty="0"/>
          </a:p>
          <a:p>
            <a:pPr algn="l" marL="177800" indent="-177800">
              <a:spcAft>
                <a:spcPts val="585"/>
              </a:spcAft>
              <a:buSzPct val="100000"/>
              <a:buChar char="•"/>
            </a:pPr>
            <a:r>
              <a:rPr lang="en-US" sz="1950" dirty="0">
                <a:solidFill>
                  <a:srgbClr val="0A3377"/>
                </a:solidFill>
              </a:rPr>
              <a:t>Contratos de Redução de Perdas de água: </a:t>
            </a:r>
            <a:r>
              <a:rPr lang="en-US" sz="1950" dirty="0">
                <a:solidFill>
                  <a:srgbClr val="0A3377"/>
                </a:solidFill>
              </a:rPr>
              <a:t>Copasa</a:t>
            </a:r>
            <a:r>
              <a:rPr lang="en-US" sz="1950" dirty="0">
                <a:solidFill>
                  <a:srgbClr val="0A3377"/>
                </a:solidFill>
              </a:rPr>
              <a:t>, </a:t>
            </a:r>
            <a:r>
              <a:rPr lang="en-US" sz="1950" dirty="0">
                <a:solidFill>
                  <a:srgbClr val="0A3377"/>
                </a:solidFill>
              </a:rPr>
              <a:t>Saneago</a:t>
            </a:r>
            <a:r>
              <a:rPr lang="en-US" sz="1950" dirty="0">
                <a:solidFill>
                  <a:srgbClr val="0A3377"/>
                </a:solidFill>
              </a:rPr>
              <a:t>.</a:t>
            </a:r>
            <a:endParaRPr lang="en-US" sz="19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A3377"/>
                </a:solidFill>
              </a:rPr>
              <a:t>Princípios – Diretrizes – Objetivos 2025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OBJETIVOS 2025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Planejamento Estratégico 2025 - 2030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1280160"/>
            <a:ext cx="10927080" cy="914400"/>
          </a:xfrm>
          <a:prstGeom prst="roundRect">
            <a:avLst>
              <a:gd name="adj" fmla="val 10000"/>
            </a:avLst>
          </a:prstGeom>
          <a:solidFill>
            <a:srgbClr val="0A3377"/>
          </a:solidFill>
          <a:ln w="12700">
            <a:solidFill>
              <a:srgbClr val="0A3377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914400" y="128016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60"/>
              </a:spcAft>
              <a:buNone/>
            </a:pPr>
            <a:r>
              <a:rPr lang="en-US" sz="1800" dirty="0">
                <a:solidFill>
                  <a:srgbClr val="CFE6FF"/>
                </a:solidFill>
              </a:rPr>
              <a:t>Princípio: Sustentabilidade Econômica</a:t>
            </a:r>
            <a:endParaRPr lang="en-US" sz="1800" dirty="0"/>
          </a:p>
          <a:p>
            <a:pPr algn="l" indent="0" marL="0">
              <a:spcAft>
                <a:spcPts val="360"/>
              </a:spcAft>
              <a:buNone/>
            </a:pPr>
            <a:r>
              <a:rPr lang="en-US" sz="1800" dirty="0">
                <a:solidFill>
                  <a:srgbClr val="CFE6FF"/>
                </a:solidFill>
              </a:rPr>
              <a:t>Diretriz: Geração positiva de caixa para sustentar o investimento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2377440"/>
            <a:ext cx="10927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65"/>
              </a:spcAft>
              <a:buNone/>
            </a:pPr>
            <a:r>
              <a:rPr lang="en-US" sz="1550" dirty="0">
                <a:solidFill>
                  <a:srgbClr val="0A3377"/>
                </a:solidFill>
              </a:rPr>
              <a:t>Objetivos Estratégicos:</a:t>
            </a:r>
            <a:endParaRPr lang="en-US" sz="1550" dirty="0"/>
          </a:p>
          <a:p>
            <a:pPr algn="l" marL="177800" indent="-177800">
              <a:spcAft>
                <a:spcPts val="465"/>
              </a:spcAft>
              <a:buSzPct val="100000"/>
              <a:buChar char="•"/>
            </a:pPr>
            <a:r>
              <a:rPr lang="en-US" sz="1550" dirty="0">
                <a:solidFill>
                  <a:srgbClr val="0A3377"/>
                </a:solidFill>
              </a:rPr>
              <a:t>Manter a eficiência no gerenciamento dos custos dos serviços: analisar custo de combustíveis, locação de canteiros, compra de materiais, horas extras x prêmio de produtividade;</a:t>
            </a:r>
            <a:endParaRPr lang="en-US" sz="1550" dirty="0"/>
          </a:p>
          <a:p>
            <a:pPr algn="l" marL="177800" indent="-177800">
              <a:spcAft>
                <a:spcPts val="465"/>
              </a:spcAft>
              <a:buSzPct val="100000"/>
              <a:buChar char="•"/>
            </a:pPr>
            <a:r>
              <a:rPr lang="en-US" sz="1550" dirty="0">
                <a:solidFill>
                  <a:srgbClr val="0A3377"/>
                </a:solidFill>
              </a:rPr>
              <a:t>Decisões rápidas de reequilíbrio econômico financeiro: no encerramento de contratos, remanejar ou demitir funcionários, entregar canteiro, parar locações, </a:t>
            </a:r>
            <a:r>
              <a:rPr lang="en-US" sz="1550" dirty="0">
                <a:solidFill>
                  <a:srgbClr val="0A3377"/>
                </a:solidFill>
              </a:rPr>
              <a:t>etc</a:t>
            </a:r>
            <a:r>
              <a:rPr lang="en-US" sz="1550" dirty="0">
                <a:solidFill>
                  <a:srgbClr val="0A3377"/>
                </a:solidFill>
              </a:rPr>
              <a:t> – SANASA lotes 2 e 5,</a:t>
            </a:r>
            <a:endParaRPr lang="en-US" sz="1550" dirty="0"/>
          </a:p>
          <a:p>
            <a:pPr algn="l" marL="177800" indent="-177800">
              <a:spcAft>
                <a:spcPts val="465"/>
              </a:spcAft>
              <a:buSzPct val="100000"/>
              <a:buChar char="•"/>
            </a:pPr>
            <a:r>
              <a:rPr lang="en-US" sz="1550" dirty="0">
                <a:solidFill>
                  <a:srgbClr val="0A3377"/>
                </a:solidFill>
              </a:rPr>
              <a:t>Novos contratos de serviços e obras: manter “estoque” de contratos novos quando da perspectiva de encerramento de contrato em andamento (especialmente caso de obras – Metropolitana – Tucuruvi, </a:t>
            </a:r>
            <a:r>
              <a:rPr lang="en-US" sz="1550" dirty="0">
                <a:solidFill>
                  <a:srgbClr val="0A3377"/>
                </a:solidFill>
              </a:rPr>
              <a:t>Copasa</a:t>
            </a:r>
            <a:r>
              <a:rPr lang="en-US" sz="1550" dirty="0">
                <a:solidFill>
                  <a:srgbClr val="0A3377"/>
                </a:solidFill>
              </a:rPr>
              <a:t>);</a:t>
            </a:r>
            <a:endParaRPr lang="en-US" sz="1550" dirty="0"/>
          </a:p>
          <a:p>
            <a:pPr algn="l" marL="177800" indent="-177800">
              <a:spcAft>
                <a:spcPts val="465"/>
              </a:spcAft>
              <a:buSzPct val="100000"/>
              <a:buChar char="•"/>
            </a:pPr>
            <a:r>
              <a:rPr lang="en-US" sz="1550" dirty="0">
                <a:solidFill>
                  <a:srgbClr val="0A3377"/>
                </a:solidFill>
              </a:rPr>
              <a:t>Fazer análise crítica de contratos novos, evitando contratos de resultado duvidoso ou claramente negativo – Lodo Metropolitana, Hidrantes PMSP, </a:t>
            </a:r>
            <a:r>
              <a:rPr lang="en-US" sz="1550" dirty="0">
                <a:solidFill>
                  <a:srgbClr val="0A3377"/>
                </a:solidFill>
              </a:rPr>
              <a:t>Semae</a:t>
            </a:r>
            <a:r>
              <a:rPr lang="en-US" sz="1550" dirty="0">
                <a:solidFill>
                  <a:srgbClr val="0A3377"/>
                </a:solidFill>
              </a:rPr>
              <a:t>;</a:t>
            </a:r>
            <a:endParaRPr lang="en-US" sz="1550" dirty="0"/>
          </a:p>
          <a:p>
            <a:pPr algn="l" marL="177800" indent="-177800">
              <a:spcAft>
                <a:spcPts val="465"/>
              </a:spcAft>
              <a:buSzPct val="100000"/>
              <a:buChar char="•"/>
            </a:pPr>
            <a:r>
              <a:rPr lang="en-US" sz="1550" dirty="0">
                <a:solidFill>
                  <a:srgbClr val="0A3377"/>
                </a:solidFill>
              </a:rPr>
              <a:t>Acompanhar diuturnamente o caixa da empresa para garantir a grande necessidade de recursos para investimentos decorrentes de novos contratos ou de substituição de equipamentos antigos – mapas do Ulisses</a:t>
            </a:r>
            <a:endParaRPr lang="en-US" sz="15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A3377"/>
                </a:solidFill>
              </a:rPr>
              <a:t>Princípios – Diretrizes – Objetivos 2025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OBJETIVOS 2025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Planejamento Estratégico 2025 - 2030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1280160"/>
            <a:ext cx="10927080" cy="914400"/>
          </a:xfrm>
          <a:prstGeom prst="roundRect">
            <a:avLst>
              <a:gd name="adj" fmla="val 10000"/>
            </a:avLst>
          </a:prstGeom>
          <a:solidFill>
            <a:srgbClr val="0A3377"/>
          </a:solidFill>
          <a:ln w="12700">
            <a:solidFill>
              <a:srgbClr val="0A3377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914400" y="128016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60"/>
              </a:spcAft>
              <a:buNone/>
            </a:pPr>
            <a:r>
              <a:rPr lang="en-US" sz="1800" dirty="0">
                <a:solidFill>
                  <a:srgbClr val="CFE6FF"/>
                </a:solidFill>
              </a:rPr>
              <a:t>Princípio: Sustentabilidade Socioambiental</a:t>
            </a:r>
            <a:endParaRPr lang="en-US" sz="1800" dirty="0"/>
          </a:p>
          <a:p>
            <a:pPr algn="l" indent="0" marL="0">
              <a:spcAft>
                <a:spcPts val="360"/>
              </a:spcAft>
              <a:buNone/>
            </a:pPr>
            <a:r>
              <a:rPr lang="en-US" sz="1800" dirty="0">
                <a:solidFill>
                  <a:srgbClr val="CFE6FF"/>
                </a:solidFill>
              </a:rPr>
              <a:t>Diretriz: Atendimento ao ESG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2377440"/>
            <a:ext cx="10927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75"/>
              </a:spcAft>
              <a:buNone/>
            </a:pPr>
            <a:r>
              <a:rPr lang="en-US" sz="1250" dirty="0">
                <a:solidFill>
                  <a:srgbClr val="0A3377"/>
                </a:solidFill>
              </a:rPr>
              <a:t>Objetivos Estratégicos:</a:t>
            </a:r>
            <a:endParaRPr lang="en-US" sz="1250" dirty="0"/>
          </a:p>
          <a:p>
            <a:pPr algn="l" marL="177800" indent="-177800">
              <a:spcAft>
                <a:spcPts val="375"/>
              </a:spcAft>
              <a:buSzPct val="100000"/>
              <a:buChar char="•"/>
            </a:pPr>
            <a:r>
              <a:rPr lang="en-US" sz="1250" dirty="0">
                <a:solidFill>
                  <a:srgbClr val="0A3377"/>
                </a:solidFill>
              </a:rPr>
              <a:t>Manter estrutura com profissionais qualificados nas diversas áreas de atuação: Finanças, RH, Engenharia, Administração, Operação, Obras, Treinamento, Segurança do Trabalho, Manutenção, Sistema, Controle de Qualidade</a:t>
            </a:r>
            <a:endParaRPr lang="en-US" sz="1250" dirty="0"/>
          </a:p>
          <a:p>
            <a:pPr algn="l" marL="177800" indent="-177800">
              <a:spcAft>
                <a:spcPts val="375"/>
              </a:spcAft>
              <a:buSzPct val="100000"/>
              <a:buChar char="•"/>
            </a:pPr>
            <a:r>
              <a:rPr lang="en-US" sz="1250" dirty="0">
                <a:solidFill>
                  <a:srgbClr val="0A3377"/>
                </a:solidFill>
              </a:rPr>
              <a:t>Melhorar as definições das responsabilidades e procedimentos: Manual de Procedimentos Internos</a:t>
            </a:r>
            <a:endParaRPr lang="en-US" sz="1250" dirty="0"/>
          </a:p>
          <a:p>
            <a:pPr algn="l" marL="177800" indent="-177800">
              <a:spcAft>
                <a:spcPts val="375"/>
              </a:spcAft>
              <a:buSzPct val="100000"/>
              <a:buChar char="•"/>
            </a:pPr>
            <a:r>
              <a:rPr lang="en-US" sz="1250" dirty="0">
                <a:solidFill>
                  <a:srgbClr val="0A3377"/>
                </a:solidFill>
              </a:rPr>
              <a:t>Gestão </a:t>
            </a:r>
            <a:r>
              <a:rPr lang="en-US" sz="1250" dirty="0">
                <a:solidFill>
                  <a:srgbClr val="0A3377"/>
                </a:solidFill>
              </a:rPr>
              <a:t>Meritocrática</a:t>
            </a:r>
            <a:r>
              <a:rPr lang="en-US" sz="1250" dirty="0">
                <a:solidFill>
                  <a:srgbClr val="0A3377"/>
                </a:solidFill>
              </a:rPr>
              <a:t>: privilegiar colaboradores internos nas promoções e cargos novos, premiar colaboradores conforme desempenho, comprometimento e resultado</a:t>
            </a:r>
            <a:endParaRPr lang="en-US" sz="1250" dirty="0"/>
          </a:p>
          <a:p>
            <a:pPr algn="l" marL="177800" indent="-177800">
              <a:spcAft>
                <a:spcPts val="375"/>
              </a:spcAft>
              <a:buSzPct val="100000"/>
              <a:buChar char="•"/>
            </a:pPr>
            <a:r>
              <a:rPr lang="en-US" sz="1250" dirty="0">
                <a:solidFill>
                  <a:srgbClr val="0A3377"/>
                </a:solidFill>
              </a:rPr>
              <a:t>Não utilizar discriminação quanto a gênero, raça, credo e condição social</a:t>
            </a:r>
            <a:endParaRPr lang="en-US" sz="1250" dirty="0"/>
          </a:p>
          <a:p>
            <a:pPr algn="l" marL="177800" indent="-177800">
              <a:spcAft>
                <a:spcPts val="375"/>
              </a:spcAft>
              <a:buSzPct val="100000"/>
              <a:buChar char="•"/>
            </a:pPr>
            <a:r>
              <a:rPr lang="en-US" sz="1250" dirty="0">
                <a:solidFill>
                  <a:srgbClr val="0A3377"/>
                </a:solidFill>
              </a:rPr>
              <a:t>Garantir </a:t>
            </a:r>
            <a:r>
              <a:rPr lang="en-US" sz="1250" dirty="0">
                <a:solidFill>
                  <a:srgbClr val="0A3377"/>
                </a:solidFill>
              </a:rPr>
              <a:t>proteção </a:t>
            </a:r>
            <a:r>
              <a:rPr lang="en-US" sz="1250" dirty="0">
                <a:solidFill>
                  <a:srgbClr val="0A3377"/>
                </a:solidFill>
              </a:rPr>
              <a:t>dos dados pessoais, contratos, contratantes e serviços - LGPD</a:t>
            </a:r>
            <a:endParaRPr lang="en-US" sz="1250" dirty="0"/>
          </a:p>
          <a:p>
            <a:pPr algn="l" marL="177800" indent="-177800">
              <a:spcAft>
                <a:spcPts val="375"/>
              </a:spcAft>
              <a:buSzPct val="100000"/>
              <a:buChar char="•"/>
            </a:pPr>
            <a:r>
              <a:rPr lang="en-US" sz="1250" dirty="0">
                <a:solidFill>
                  <a:srgbClr val="0A3377"/>
                </a:solidFill>
              </a:rPr>
              <a:t>Manual de Auditoria Interna e </a:t>
            </a:r>
            <a:r>
              <a:rPr lang="en-US" sz="1250" dirty="0">
                <a:solidFill>
                  <a:srgbClr val="0A3377"/>
                </a:solidFill>
              </a:rPr>
              <a:t>Compliance</a:t>
            </a:r>
            <a:endParaRPr lang="en-US" sz="1250" dirty="0"/>
          </a:p>
          <a:p>
            <a:pPr algn="l" marL="177800" indent="-177800">
              <a:spcAft>
                <a:spcPts val="375"/>
              </a:spcAft>
              <a:buSzPct val="100000"/>
              <a:buChar char="•"/>
            </a:pPr>
            <a:r>
              <a:rPr lang="en-US" sz="1250" dirty="0">
                <a:solidFill>
                  <a:srgbClr val="0A3377"/>
                </a:solidFill>
              </a:rPr>
              <a:t>Ações positivas para a comunidade e colaboradores: Vide Cases (</a:t>
            </a:r>
            <a:r>
              <a:rPr lang="en-US" sz="1250" dirty="0">
                <a:solidFill>
                  <a:srgbClr val="0A3377"/>
                </a:solidFill>
              </a:rPr>
              <a:t>nºslide</a:t>
            </a:r>
            <a:r>
              <a:rPr lang="en-US" sz="1250" dirty="0">
                <a:solidFill>
                  <a:srgbClr val="0A3377"/>
                </a:solidFill>
              </a:rPr>
              <a:t>)</a:t>
            </a:r>
            <a:endParaRPr lang="en-US" sz="1250" dirty="0"/>
          </a:p>
          <a:p>
            <a:pPr algn="l" marL="177800" indent="-177800">
              <a:spcAft>
                <a:spcPts val="375"/>
              </a:spcAft>
              <a:buSzPct val="100000"/>
              <a:buChar char="•"/>
            </a:pPr>
            <a:r>
              <a:rPr lang="en-US" sz="1250" dirty="0">
                <a:solidFill>
                  <a:srgbClr val="0A3377"/>
                </a:solidFill>
              </a:rPr>
              <a:t>Manejo adequado de resíduos sólidos e economia circular: Vide Cases (</a:t>
            </a:r>
            <a:r>
              <a:rPr lang="en-US" sz="1250" dirty="0">
                <a:solidFill>
                  <a:srgbClr val="0A3377"/>
                </a:solidFill>
              </a:rPr>
              <a:t>nºslide</a:t>
            </a:r>
            <a:r>
              <a:rPr lang="en-US" sz="1250" dirty="0">
                <a:solidFill>
                  <a:srgbClr val="0A3377"/>
                </a:solidFill>
              </a:rPr>
              <a:t>)</a:t>
            </a:r>
            <a:endParaRPr lang="en-US" sz="1250" dirty="0"/>
          </a:p>
          <a:p>
            <a:pPr algn="l" marL="177800" indent="-177800">
              <a:spcAft>
                <a:spcPts val="375"/>
              </a:spcAft>
              <a:buSzPct val="100000"/>
              <a:buChar char="•"/>
            </a:pPr>
            <a:r>
              <a:rPr lang="en-US" sz="1250" dirty="0">
                <a:solidFill>
                  <a:srgbClr val="0A3377"/>
                </a:solidFill>
              </a:rPr>
              <a:t>Garantia dos direitos trabalhistas: Salário em dia, Férias, 13º, Hora Extra, Compensação de horas, Benefícios, </a:t>
            </a:r>
            <a:r>
              <a:rPr lang="en-US" sz="1250" dirty="0">
                <a:solidFill>
                  <a:srgbClr val="0A3377"/>
                </a:solidFill>
              </a:rPr>
              <a:t>etc</a:t>
            </a:r>
            <a:r>
              <a:rPr lang="en-US" sz="1250" dirty="0">
                <a:solidFill>
                  <a:srgbClr val="0A3377"/>
                </a:solidFill>
              </a:rPr>
              <a:t>;</a:t>
            </a:r>
            <a:endParaRPr lang="en-US" sz="1250" dirty="0"/>
          </a:p>
          <a:p>
            <a:pPr algn="l" marL="177800" indent="-177800">
              <a:spcAft>
                <a:spcPts val="375"/>
              </a:spcAft>
              <a:buSzPct val="100000"/>
              <a:buChar char="•"/>
            </a:pPr>
            <a:r>
              <a:rPr lang="en-US" sz="1250" dirty="0">
                <a:solidFill>
                  <a:srgbClr val="0A3377"/>
                </a:solidFill>
              </a:rPr>
              <a:t>Adequação do novo sistema de tributação (LP x LR);</a:t>
            </a:r>
            <a:endParaRPr lang="en-US" sz="1250" dirty="0"/>
          </a:p>
          <a:p>
            <a:pPr algn="l" marL="177800" indent="-177800">
              <a:spcAft>
                <a:spcPts val="375"/>
              </a:spcAft>
              <a:buSzPct val="100000"/>
              <a:buChar char="•"/>
            </a:pPr>
            <a:r>
              <a:rPr lang="en-US" sz="1250" dirty="0">
                <a:solidFill>
                  <a:srgbClr val="D32F2F"/>
                </a:solidFill>
              </a:rPr>
              <a:t>Monitoramento e Segurança;</a:t>
            </a:r>
            <a:endParaRPr lang="en-US" sz="1250" dirty="0"/>
          </a:p>
          <a:p>
            <a:pPr algn="l" marL="177800" indent="-177800">
              <a:spcAft>
                <a:spcPts val="375"/>
              </a:spcAft>
              <a:buSzPct val="100000"/>
              <a:buChar char="•"/>
            </a:pPr>
            <a:r>
              <a:rPr lang="en-US" sz="1250" dirty="0">
                <a:solidFill>
                  <a:srgbClr val="D32F2F"/>
                </a:solidFill>
              </a:rPr>
              <a:t>Descentralização por canteiro.</a:t>
            </a:r>
            <a:endParaRPr lang="en-US" sz="12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A3377"/>
                </a:solidFill>
              </a:rPr>
              <a:t>Princípios – Diretrizes – Objetivos 2025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OBJETIVOS 2025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Planejamento Estratégico 2025 - 2030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1280160"/>
            <a:ext cx="10927080" cy="914400"/>
          </a:xfrm>
          <a:prstGeom prst="roundRect">
            <a:avLst>
              <a:gd name="adj" fmla="val 10000"/>
            </a:avLst>
          </a:prstGeom>
          <a:solidFill>
            <a:srgbClr val="0A3377"/>
          </a:solidFill>
          <a:ln w="12700">
            <a:solidFill>
              <a:srgbClr val="0A3377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914400" y="128016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60"/>
              </a:spcAft>
              <a:buNone/>
            </a:pPr>
            <a:r>
              <a:rPr lang="en-US" sz="1800" dirty="0">
                <a:solidFill>
                  <a:srgbClr val="CFE6FF"/>
                </a:solidFill>
              </a:rPr>
              <a:t>Princípio: Excelência nos Serviços</a:t>
            </a:r>
            <a:endParaRPr lang="en-US" sz="1800" dirty="0"/>
          </a:p>
          <a:p>
            <a:pPr algn="l" indent="0" marL="0">
              <a:spcAft>
                <a:spcPts val="360"/>
              </a:spcAft>
              <a:buNone/>
            </a:pPr>
            <a:r>
              <a:rPr lang="en-US" sz="1800" dirty="0">
                <a:solidFill>
                  <a:srgbClr val="CFE6FF"/>
                </a:solidFill>
              </a:rPr>
              <a:t>Diretriz: Recursos Materiais, Recursos Humanos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2377440"/>
            <a:ext cx="10927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55"/>
              </a:spcAft>
              <a:buNone/>
            </a:pPr>
            <a:r>
              <a:rPr lang="en-US" sz="1850" dirty="0">
                <a:solidFill>
                  <a:srgbClr val="0A3377"/>
                </a:solidFill>
              </a:rPr>
              <a:t>Objetivos Estratégicos:</a:t>
            </a:r>
            <a:endParaRPr lang="en-US" sz="1850" dirty="0"/>
          </a:p>
          <a:p>
            <a:pPr algn="l" marL="177800" indent="-177800">
              <a:spcAft>
                <a:spcPts val="555"/>
              </a:spcAft>
              <a:buSzPct val="100000"/>
              <a:buChar char="•"/>
            </a:pPr>
            <a:r>
              <a:rPr lang="en-US" sz="1850" dirty="0">
                <a:solidFill>
                  <a:srgbClr val="0A3377"/>
                </a:solidFill>
              </a:rPr>
              <a:t>Equipamentos adequados em quantidades e condições operacionais: Investimento em caminhões, equipamentos, carros de apoio, celulares, etc.</a:t>
            </a:r>
            <a:endParaRPr lang="en-US" sz="1850" dirty="0"/>
          </a:p>
          <a:p>
            <a:pPr algn="l" marL="177800" indent="-177800">
              <a:spcAft>
                <a:spcPts val="555"/>
              </a:spcAft>
              <a:buSzPct val="100000"/>
              <a:buChar char="•"/>
            </a:pPr>
            <a:r>
              <a:rPr lang="en-US" sz="1850" dirty="0">
                <a:solidFill>
                  <a:srgbClr val="0A3377"/>
                </a:solidFill>
              </a:rPr>
              <a:t>Pessoal treinado: treinamento operacional, Integração, auxílio educacional</a:t>
            </a:r>
            <a:endParaRPr lang="en-US" sz="1850" dirty="0"/>
          </a:p>
          <a:p>
            <a:pPr algn="l" marL="177800" indent="-177800">
              <a:spcAft>
                <a:spcPts val="555"/>
              </a:spcAft>
              <a:buSzPct val="100000"/>
              <a:buChar char="•"/>
            </a:pPr>
            <a:r>
              <a:rPr lang="en-US" sz="1850" dirty="0">
                <a:solidFill>
                  <a:srgbClr val="0A3377"/>
                </a:solidFill>
              </a:rPr>
              <a:t>Manter estrutura com profissionais qualificados nas diversas áreas de atuação;</a:t>
            </a:r>
            <a:endParaRPr lang="en-US" sz="1850" dirty="0"/>
          </a:p>
          <a:p>
            <a:pPr algn="l" marL="177800" indent="-177800">
              <a:spcAft>
                <a:spcPts val="555"/>
              </a:spcAft>
              <a:buSzPct val="100000"/>
              <a:buChar char="•"/>
            </a:pPr>
            <a:r>
              <a:rPr lang="en-US" sz="1850" dirty="0">
                <a:solidFill>
                  <a:srgbClr val="0A3377"/>
                </a:solidFill>
              </a:rPr>
              <a:t>Pessoal comprometido;</a:t>
            </a:r>
            <a:endParaRPr lang="en-US" sz="1850" dirty="0"/>
          </a:p>
          <a:p>
            <a:pPr algn="l" marL="177800" indent="-177800">
              <a:spcAft>
                <a:spcPts val="555"/>
              </a:spcAft>
              <a:buSzPct val="100000"/>
              <a:buChar char="•"/>
            </a:pPr>
            <a:r>
              <a:rPr lang="en-US" sz="1850" dirty="0">
                <a:solidFill>
                  <a:srgbClr val="0A3377"/>
                </a:solidFill>
              </a:rPr>
              <a:t>Criar procedimentos operacionais e software para todos os serviços: SIGIURB;</a:t>
            </a:r>
            <a:endParaRPr lang="en-US" sz="1850" dirty="0"/>
          </a:p>
          <a:p>
            <a:pPr algn="l" marL="177800" indent="-177800">
              <a:spcAft>
                <a:spcPts val="555"/>
              </a:spcAft>
              <a:buSzPct val="100000"/>
              <a:buChar char="•"/>
            </a:pPr>
            <a:r>
              <a:rPr lang="en-US" sz="1850" dirty="0">
                <a:solidFill>
                  <a:srgbClr val="D32F2F"/>
                </a:solidFill>
              </a:rPr>
              <a:t>Implantação Identidade </a:t>
            </a:r>
            <a:r>
              <a:rPr lang="en-US" sz="1850" dirty="0">
                <a:solidFill>
                  <a:srgbClr val="D32F2F"/>
                </a:solidFill>
              </a:rPr>
              <a:t>visual </a:t>
            </a:r>
            <a:r>
              <a:rPr lang="en-US" sz="1850" dirty="0">
                <a:solidFill>
                  <a:srgbClr val="D32F2F"/>
                </a:solidFill>
              </a:rPr>
              <a:t>em equipamentos, frotas e </a:t>
            </a:r>
            <a:r>
              <a:rPr lang="en-US" sz="1850" dirty="0">
                <a:solidFill>
                  <a:srgbClr val="D32F2F"/>
                </a:solidFill>
              </a:rPr>
              <a:t>etc</a:t>
            </a:r>
            <a:r>
              <a:rPr lang="en-US" sz="1850" dirty="0">
                <a:solidFill>
                  <a:srgbClr val="D32F2F"/>
                </a:solidFill>
              </a:rPr>
              <a:t>;</a:t>
            </a:r>
            <a:endParaRPr lang="en-US" sz="1850" dirty="0"/>
          </a:p>
          <a:p>
            <a:pPr algn="l" marL="177800" indent="-177800">
              <a:spcAft>
                <a:spcPts val="555"/>
              </a:spcAft>
              <a:buSzPct val="100000"/>
              <a:buChar char="•"/>
            </a:pPr>
            <a:r>
              <a:rPr lang="en-US" sz="1850" dirty="0">
                <a:solidFill>
                  <a:srgbClr val="D32F2F"/>
                </a:solidFill>
              </a:rPr>
              <a:t>Comunicação </a:t>
            </a:r>
            <a:r>
              <a:rPr lang="en-US" sz="1850" dirty="0">
                <a:solidFill>
                  <a:srgbClr val="D32F2F"/>
                </a:solidFill>
              </a:rPr>
              <a:t>i</a:t>
            </a:r>
            <a:r>
              <a:rPr lang="en-US" sz="1850" dirty="0">
                <a:solidFill>
                  <a:srgbClr val="D32F2F"/>
                </a:solidFill>
              </a:rPr>
              <a:t>ntegrada organizacional.</a:t>
            </a:r>
            <a:endParaRPr lang="en-US" sz="1850" dirty="0"/>
          </a:p>
          <a:p>
            <a:pPr algn="l" marL="177800" indent="-177800">
              <a:spcAft>
                <a:spcPts val="555"/>
              </a:spcAft>
              <a:buSzPct val="100000"/>
              <a:buChar char="•"/>
            </a:pPr>
            <a:r>
              <a:rPr lang="en-US" sz="1850" dirty="0">
                <a:solidFill>
                  <a:srgbClr val="D32F2F"/>
                </a:solidFill>
              </a:rPr>
              <a:t>Reintroduzir sistema de controle de qualidade</a:t>
            </a:r>
            <a:endParaRPr lang="en-US" sz="18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38D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2103120"/>
            <a:ext cx="3200400" cy="20116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99048" y="1920240"/>
            <a:ext cx="0" cy="2377440"/>
          </a:xfrm>
          <a:prstGeom prst="line">
            <a:avLst/>
          </a:prstGeom>
          <a:noFill/>
          <a:ln w="12700">
            <a:solidFill>
              <a:srgbClr val="0A3377"/>
            </a:solidFill>
            <a:prstDash val="solid"/>
          </a:ln>
        </p:spPr>
      </p:sp>
      <p:pic>
        <p:nvPicPr>
          <p:cNvPr id="4" name="Image 1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74520"/>
            <a:ext cx="2926080" cy="204616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estão Performance">
  <a:themeElements>
    <a:clrScheme name="Gestão Performance">
      <a:dk1>
        <a:srgbClr val="05204E"/>
      </a:dk1>
      <a:lt1>
        <a:srgbClr val="FFFFFF"/>
      </a:lt1>
      <a:dk2>
        <a:srgbClr val="0A3377"/>
      </a:dk2>
      <a:lt2>
        <a:srgbClr val="F3F6FB"/>
      </a:lt2>
      <a:accent1>
        <a:srgbClr val="38D4FF"/>
      </a:accent1>
      <a:accent2>
        <a:srgbClr val="0A3377"/>
      </a:accent2>
      <a:accent3>
        <a:srgbClr val="0E3F8C"/>
      </a:accent3>
      <a:accent4>
        <a:srgbClr val="5B6B88"/>
      </a:accent4>
      <a:accent5>
        <a:srgbClr val="CFE6FF"/>
      </a:accent5>
      <a:accent6>
        <a:srgbClr val="C9D6EA"/>
      </a:accent6>
      <a:hlink>
        <a:srgbClr val="0563C1"/>
      </a:hlink>
      <a:folHlink>
        <a:srgbClr val="954F72"/>
      </a:folHlink>
    </a:clrScheme>
    <a:fontScheme name="Gestão Performan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61</Slides>
  <Notes>61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</vt:vector>
  </TitlesOfParts>
  <Company>Norte Sul Hidrotecnologia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2026-10-20T06:09:16Z</dcterms:created>
  <dcterms:modified xsi:type="dcterms:W3CDTF">2026-10-20T06:09:16Z</dcterms:modified>
</cp:coreProperties>
</file>