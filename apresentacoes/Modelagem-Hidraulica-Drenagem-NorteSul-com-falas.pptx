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grande vilão dos problemas de inundação e alagamento das nossas cidades é o crescimento urbano desordenado com impermeabilização do solo que aumenta rapidamente a velocidade de chegada da água que cai nas partes mais altas das microbacias nas partes mais baixas, sobrecarregando a infraestrutura de drenagem como registrado na última semana no túnel do Anhangabaú. Os impactos decorrentes são famílias desalojadas, doenças de veiculação hídrica, paralisação de atividades econômicas e impactos políticos comprometendo a credibilidade da gestão municipal para lidar com o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solução efetiva e mais segura do problema passa pela simulação hidráulica do comportamento da microbacia frente a chuvas intensas cada vez mais frequentes, onde é possível testes virtuais realistas de como se comporta o escoamento superficial e subterrâneo pelas galerias na condição atual. Também é possível ver como se comportará a microbacia com cada tipo de ação proposta, antes mesmo de se gastar um tostão com a obra.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etapas da simulação dividem em coleta de dados de topografia, meteorologia e infraestrutura. Construção do modelo consistindo na introdução das características das micro bacias tais como bacias de contribuição, as calhas viárias, os condutos, etc. A calibração do modelo com dados históricos de cheias monitoradas e finalmente as simulações da condição atual e dimensionando as intervenções.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simulações de alternativas para a solução do problema de alagamento e inundação incluem entre outras, novas galerias, aumento de diâmetro de galerias, novas bocas de lobo, aumento de calha de corpos de água, piscinões, parques lineares, galerias tanques de retardo, jardins de chuva, pavimentos permeáveis,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caso onde a simulação hidráulica foi efetiva no apontamento de soluções foi o case da Av. Braz Leme, micro bacia ACD-05 Carandiru e Tenente Rocha, cuja taxa de impermeabilização é de 91,4%.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micro bacia possui um platô com cotas mais elevadas e uma área mais plana, junto a Av. Braz Leme. A infra estrutura de drenagem concentra-se na parte baixa e o escoamento das águas de chuva da parte mais alta para a mais baixa é feita superficialmente com velocidades consideráveis, sendo que o tempo de escoamento da parte mais distante e mais alta para a parte mais baixo é de cerca de 13 minutos, sendo que a infraestrutura existente não é capaz de absorver esta vazão rapidamente provocando os pontos de alagamento intransitáveis demarcados com bolinhas vermelhas na planta.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modelo tanto é mais confiável quanto a fiabilidade dos dados introduzidos, sendo o cadastro técnico o calcanhar de Aquiles, haja vista que via de regra está incompleto ou incorreto. No presente caso havia um erro que se mostrou crucial para a solução de um dos pontos de alagamento. Onde constava uma rede de diâmetro de 1200 mm, na realidade existe uma galeria retangular de 1500 mm x 1400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Outro dado fundamental para a simulação é o perfil da intensidade média das chuvas da área, onde se tem desde o momento em que se inicia a chuva, sem pico e o momento em que a mesma cessa.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o presente case, a estratégia baseou-se na teoria do arquiteto Kongjian Yu que introduziu o conceito de cidade esponja que preconiza que as águas de chuva devem ser preferencialmente tratada no ponto de origem, ou seja no nosso caso, captada no ponto onde a chuva cai na micro bacia, armazenada em galerias tanques e liberadas de forma contínua, dentro da capacidade nominal da infraestrutura existente na parte mais baixa da micro bacia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galerias tanques de retardo, nada mais são do que reservatórios lineares que serão instalados no leito das ruas fazendo a captação das chuvas através de bocas de lobo que terão sistema de gradeamento e caixa de areia de forma a evitar que detritos grosseiros e areia assoreiem o tanque de retardo, a galeria tanque de retardo propriamente dita, onde a vazão de entrada é armazenada e liberada continuamente de forma controlada através de tubulação de diâmetro menor que as de entrada, sendo que o ajuste fino da vazão de saída será feito através de placa de orifício instalada em poço de visita a jusante do tanque.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galerias tanque de retardo podem ser instaladas em ruas onde já possuem galerias de drenagem, onde trechos da galeria existente serão substituídos pelas galerias tanque, com lançamento controlado a jusante na continuação da própria galeria.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caso de ruas não dotadas de galerias de drenagem, como foi o case aqui tratado, a captação também será através de bocas de lobo dotadas de grade e caixa de areia, direcionadas para as galerias tanque de retardo, com sistema de controle de vazão com placa de orifício, similar as instaladas em trechos com galerias, diferenciando apenas que o lançamento será superficialmente, através de bocas de lobo de descarte junto a sarjeta, aproveitando desníveis da rua, conforme figura.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distribuição das galerias tanques de retardo no presente case está demonstrada na planta em anexo. Também pelo modelo foi identificado que um dos problemas apresentados na Av. Braz Leme era falta de pontos de captação, haja vista que a galeria retangular de 1500 mm x 1400 mm mesmo no momento de pico das chuvas trabalhava ociosa por falta de bocas de lobo. Ao inserir no modelo as bocas de lobo, não ocorreu mais a inundação no trecho.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resultado das galerias tanques de retardo no controle da inundação pode ser comprovado pelas manchas de alagamento de antes e depois, sendo que o resquício de alagamento possuem altura de 3 cm conforme modelo produzido.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Assim fica demonstrado de forma inequívoca a vantagem da modelagem hidráulica no diagnóstico de drenagem, sendo que a simulação hidráulica produz obras na medida exata da necessidade, você conhece o resultado antes de investir e pode simular alternativas para infraestruturas verde acordo com o princípios ecológicos que os novos tempos exigem.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jp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jp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jp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jp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jp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jpg"/><Relationship Id="rId4" Type="http://schemas.openxmlformats.org/officeDocument/2006/relationships/image" Target="../media/image-15-4.jp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949440" y="502920"/>
            <a:ext cx="4663440" cy="5212080"/>
          </a:xfrm>
          <a:prstGeom prst="roundRect">
            <a:avLst>
              <a:gd name="adj" fmla="val 6863"/>
            </a:avLst>
          </a:prstGeom>
          <a:solidFill>
            <a:srgbClr val="0E3F8C"/>
          </a:solidFill>
          <a:ln w="12700">
            <a:solidFill>
              <a:srgbClr val="0E3F8C"/>
            </a:solidFill>
            <a:prstDash val="solid"/>
          </a:ln>
        </p:spPr>
      </p:sp>
      <p:pic>
        <p:nvPicPr>
          <p:cNvPr id="3" name="Image 0" descr="/tmp/claude-0/-home-user-norte-sul-portfolio/b828416d-028b-56b8-943d-a9bc67fc20c3/scratchpad/pptx_out/cropped/m_capa_4.8x5.4.jpg">    </p:cNvPr>
          <p:cNvPicPr>
            <a:picLocks noChangeAspect="1"/>
          </p:cNvPicPr>
          <p:nvPr/>
        </p:nvPicPr>
        <p:blipFill>
          <a:blip r:embed="rId2"/>
          <a:stretch>
            <a:fillRect/>
          </a:stretch>
        </p:blipFill>
        <p:spPr>
          <a:xfrm>
            <a:off x="7086600" y="640080"/>
            <a:ext cx="4389120" cy="4937760"/>
          </a:xfrm>
          <a:prstGeom prst="rect">
            <a:avLst/>
          </a:prstGeom>
        </p:spPr>
      </p:pic>
      <p:sp>
        <p:nvSpPr>
          <p:cNvPr id="4" name="Text 1"/>
          <p:cNvSpPr txBox="1"/>
          <p:nvPr/>
        </p:nvSpPr>
        <p:spPr>
          <a:xfrm>
            <a:off x="640080" y="822960"/>
            <a:ext cx="6035040" cy="2926080"/>
          </a:xfrm>
          <a:prstGeom prst="rect">
            <a:avLst/>
          </a:prstGeom>
          <a:noFill/>
          <a:ln/>
        </p:spPr>
        <p:txBody>
          <a:bodyPr wrap="square" lIns="0" tIns="0" rIns="0" bIns="0" rtlCol="0" anchor="t"/>
          <a:lstStyle/>
          <a:p>
            <a:pPr indent="0" marL="0">
              <a:buNone/>
            </a:pPr>
            <a:r>
              <a:rPr lang="en-US" sz="3400" b="1" dirty="0">
                <a:solidFill>
                  <a:srgbClr val="FFFFFF"/>
                </a:solidFill>
              </a:rPr>
              <a:t>MODELAGEM HIDRÁULICA APLICADA NO DIAGNÓSTICO E SOLUÇÕES PARA ALAGAMENTOS URBANOS</a:t>
            </a:r>
            <a:endParaRPr lang="en-US" sz="3400" dirty="0"/>
          </a:p>
        </p:txBody>
      </p:sp>
      <p:sp>
        <p:nvSpPr>
          <p:cNvPr id="5" name="Text 2"/>
          <p:cNvSpPr txBox="1"/>
          <p:nvPr/>
        </p:nvSpPr>
        <p:spPr>
          <a:xfrm>
            <a:off x="640080" y="3931920"/>
            <a:ext cx="6035040" cy="731520"/>
          </a:xfrm>
          <a:prstGeom prst="rect">
            <a:avLst/>
          </a:prstGeom>
          <a:noFill/>
          <a:ln/>
        </p:spPr>
        <p:txBody>
          <a:bodyPr wrap="square" lIns="0" tIns="0" rIns="0" bIns="0" rtlCol="0" anchor="t"/>
          <a:lstStyle/>
          <a:p>
            <a:pPr indent="0" marL="0">
              <a:buNone/>
            </a:pPr>
            <a:endParaRPr lang="en-US" sz="1400" dirty="0"/>
          </a:p>
        </p:txBody>
      </p:sp>
      <p:sp>
        <p:nvSpPr>
          <p:cNvPr id="6" name="Text 3"/>
          <p:cNvSpPr txBox="1"/>
          <p:nvPr/>
        </p:nvSpPr>
        <p:spPr>
          <a:xfrm>
            <a:off x="640080" y="5486400"/>
            <a:ext cx="6035040" cy="457200"/>
          </a:xfrm>
          <a:prstGeom prst="rect">
            <a:avLst/>
          </a:prstGeom>
          <a:noFill/>
          <a:ln/>
        </p:spPr>
        <p:txBody>
          <a:bodyPr wrap="square" lIns="0" tIns="0" rIns="0" bIns="0" rtlCol="0" anchor="b"/>
          <a:lstStyle/>
          <a:p>
            <a:pPr indent="0" marL="0">
              <a:buNone/>
            </a:pPr>
            <a:endParaRPr lang="en-US" sz="1100" dirty="0"/>
          </a:p>
        </p:txBody>
      </p:sp>
      <p:sp>
        <p:nvSpPr>
          <p:cNvPr id="7" name="Shape 4"/>
          <p:cNvSpPr/>
          <p:nvPr/>
        </p:nvSpPr>
        <p:spPr>
          <a:xfrm>
            <a:off x="0" y="6291072"/>
            <a:ext cx="12191695" cy="566928"/>
          </a:xfrm>
          <a:prstGeom prst="rect">
            <a:avLst/>
          </a:prstGeom>
          <a:solidFill>
            <a:srgbClr val="FFFFFF"/>
          </a:solidFill>
          <a:ln w="9525">
            <a:solidFill>
              <a:srgbClr val="C9D6EA"/>
            </a:solidFill>
            <a:prstDash val="solid"/>
          </a:ln>
        </p:spPr>
      </p:sp>
      <p:pic>
        <p:nvPicPr>
          <p:cNvPr id="8" name="Image 1" descr="/tmp/claude-0/-home-user-norte-sul-portfolio/b828416d-028b-56b8-943d-a9bc67fc20c3/scratchpad/pptx_out/logo_met.png">    </p:cNvPr>
          <p:cNvPicPr>
            <a:picLocks noChangeAspect="1"/>
          </p:cNvPicPr>
          <p:nvPr/>
        </p:nvPicPr>
        <p:blipFill>
          <a:blip r:embed="rId3"/>
          <a:stretch>
            <a:fillRect/>
          </a:stretch>
        </p:blipFill>
        <p:spPr>
          <a:xfrm>
            <a:off x="502920" y="6382512"/>
            <a:ext cx="548640" cy="384048"/>
          </a:xfrm>
          <a:prstGeom prst="rect">
            <a:avLst/>
          </a:prstGeom>
        </p:spPr>
      </p:pic>
      <p:sp>
        <p:nvSpPr>
          <p:cNvPr id="9" name="Shape 5"/>
          <p:cNvSpPr/>
          <p:nvPr/>
        </p:nvSpPr>
        <p:spPr>
          <a:xfrm>
            <a:off x="1188720" y="6419088"/>
            <a:ext cx="0" cy="310896"/>
          </a:xfrm>
          <a:prstGeom prst="line">
            <a:avLst/>
          </a:prstGeom>
          <a:noFill/>
          <a:ln w="9525">
            <a:solidFill>
              <a:srgbClr val="C9D6EA"/>
            </a:solidFill>
            <a:prstDash val="solid"/>
          </a:ln>
        </p:spPr>
      </p:sp>
      <p:pic>
        <p:nvPicPr>
          <p:cNvPr id="10" name="Image 2" descr="/tmp/claude-0/-home-user-norte-sul-portfolio/b828416d-028b-56b8-943d-a9bc67fc20c3/scratchpad/pptx_out/logo_ns.png">    </p:cNvPr>
          <p:cNvPicPr>
            <a:picLocks noChangeAspect="1"/>
          </p:cNvPicPr>
          <p:nvPr/>
        </p:nvPicPr>
        <p:blipFill>
          <a:blip r:embed="rId4"/>
          <a:stretch>
            <a:fillRect/>
          </a:stretch>
        </p:blipFill>
        <p:spPr>
          <a:xfrm>
            <a:off x="1325880" y="6382512"/>
            <a:ext cx="610819" cy="384048"/>
          </a:xfrm>
          <a:prstGeom prst="rect">
            <a:avLst/>
          </a:prstGeom>
        </p:spPr>
      </p:pic>
      <p:sp>
        <p:nvSpPr>
          <p:cNvPr id="11" name="Text 6"/>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800" b="1" dirty="0">
                <a:solidFill>
                  <a:srgbClr val="0A3377"/>
                </a:solidFill>
              </a:rPr>
              <a:t>DO CÁLCULO ESTÁTICO A DINÂMICA URBANA</a:t>
            </a:r>
            <a:endParaRPr lang="en-US" sz="28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O CONTEXTO</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Shape 5"/>
          <p:cNvSpPr/>
          <p:nvPr/>
        </p:nvSpPr>
        <p:spPr>
          <a:xfrm>
            <a:off x="640080" y="1417320"/>
            <a:ext cx="5760720" cy="4434840"/>
          </a:xfrm>
          <a:prstGeom prst="roundRect">
            <a:avLst>
              <a:gd name="adj" fmla="val 2474"/>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0" name="Image 2" descr="/tmp/claude-0/-home-user-norte-sul-portfolio/b828416d-028b-56b8-943d-a9bc67fc20c3/scratchpad/pptx_out/cropped/m_tunel_6.14x4.37.jpg">    </p:cNvPr>
          <p:cNvPicPr>
            <a:picLocks noChangeAspect="1"/>
          </p:cNvPicPr>
          <p:nvPr/>
        </p:nvPicPr>
        <p:blipFill>
          <a:blip r:embed="rId3"/>
          <a:stretch>
            <a:fillRect/>
          </a:stretch>
        </p:blipFill>
        <p:spPr>
          <a:xfrm>
            <a:off x="713232" y="1490472"/>
            <a:ext cx="5614416" cy="3995928"/>
          </a:xfrm>
          <a:prstGeom prst="rect">
            <a:avLst/>
          </a:prstGeom>
        </p:spPr>
      </p:pic>
      <p:sp>
        <p:nvSpPr>
          <p:cNvPr id="11" name="Text 6"/>
          <p:cNvSpPr txBox="1"/>
          <p:nvPr/>
        </p:nvSpPr>
        <p:spPr>
          <a:xfrm>
            <a:off x="749808" y="5522976"/>
            <a:ext cx="5541264" cy="274320"/>
          </a:xfrm>
          <a:prstGeom prst="rect">
            <a:avLst/>
          </a:prstGeom>
          <a:noFill/>
          <a:ln/>
        </p:spPr>
        <p:txBody>
          <a:bodyPr wrap="square" lIns="0" tIns="0" rIns="0" bIns="0" rtlCol="0" anchor="ctr"/>
          <a:lstStyle/>
          <a:p>
            <a:pPr indent="0" marL="0">
              <a:buNone/>
            </a:pPr>
            <a:r>
              <a:rPr lang="en-US" sz="900" i="1" dirty="0">
                <a:solidFill>
                  <a:srgbClr val="5B6B88"/>
                </a:solidFill>
              </a:rPr>
              <a:t>Túnel do Vale do Anhangabaú ficou alagado após chuva em São Paulo. Data: 14/10/2026</a:t>
            </a:r>
            <a:endParaRPr lang="en-US" sz="900" dirty="0"/>
          </a:p>
        </p:txBody>
      </p:sp>
      <p:sp>
        <p:nvSpPr>
          <p:cNvPr id="12" name="Text 7"/>
          <p:cNvSpPr txBox="1"/>
          <p:nvPr/>
        </p:nvSpPr>
        <p:spPr>
          <a:xfrm>
            <a:off x="6675120" y="1417320"/>
            <a:ext cx="4892040" cy="1051560"/>
          </a:xfrm>
          <a:prstGeom prst="rect">
            <a:avLst/>
          </a:prstGeom>
          <a:noFill/>
          <a:ln/>
        </p:spPr>
        <p:txBody>
          <a:bodyPr wrap="square" lIns="0" tIns="0" rIns="0" bIns="0" rtlCol="0" anchor="t"/>
          <a:lstStyle/>
          <a:p>
            <a:pPr indent="0" marL="0">
              <a:buNone/>
            </a:pPr>
            <a:r>
              <a:rPr lang="en-US" sz="1300" b="1" dirty="0">
                <a:solidFill>
                  <a:srgbClr val="0A3377"/>
                </a:solidFill>
              </a:rPr>
              <a:t>O crescimento urbano desordenado e à impermeabilização do solo sobrecarregam os sistemas de drenagem, intensificando inundações recorrentes nas cidades brasileiras.</a:t>
            </a:r>
            <a:endParaRPr lang="en-US" sz="1300" dirty="0"/>
          </a:p>
        </p:txBody>
      </p:sp>
      <p:sp>
        <p:nvSpPr>
          <p:cNvPr id="13" name="Shape 8"/>
          <p:cNvSpPr/>
          <p:nvPr/>
        </p:nvSpPr>
        <p:spPr>
          <a:xfrm>
            <a:off x="6675120" y="2606040"/>
            <a:ext cx="45720" cy="960120"/>
          </a:xfrm>
          <a:prstGeom prst="rect">
            <a:avLst/>
          </a:prstGeom>
          <a:solidFill>
            <a:srgbClr val="38D4FF"/>
          </a:solidFill>
          <a:ln w="12700">
            <a:solidFill>
              <a:srgbClr val="38D4FF"/>
            </a:solidFill>
            <a:prstDash val="solid"/>
          </a:ln>
        </p:spPr>
      </p:sp>
      <p:sp>
        <p:nvSpPr>
          <p:cNvPr id="14" name="Text 9"/>
          <p:cNvSpPr txBox="1"/>
          <p:nvPr/>
        </p:nvSpPr>
        <p:spPr>
          <a:xfrm>
            <a:off x="6858000" y="2606040"/>
            <a:ext cx="4709160" cy="960120"/>
          </a:xfrm>
          <a:prstGeom prst="rect">
            <a:avLst/>
          </a:prstGeom>
          <a:noFill/>
          <a:ln/>
        </p:spPr>
        <p:txBody>
          <a:bodyPr wrap="square" lIns="0" tIns="0" rIns="0" bIns="0" rtlCol="0" anchor="t"/>
          <a:lstStyle/>
          <a:p>
            <a:pPr indent="0" marL="0">
              <a:buNone/>
            </a:pPr>
            <a:r>
              <a:rPr lang="en-US" sz="1400" b="1" dirty="0">
                <a:solidFill>
                  <a:srgbClr val="0A3377"/>
                </a:solidFill>
              </a:rPr>
              <a:t>Impacto social</a:t>
            </a:r>
            <a:endParaRPr lang="en-US" sz="1400" dirty="0"/>
          </a:p>
          <a:p>
            <a:pPr indent="0" marL="0">
              <a:buNone/>
            </a:pPr>
            <a:r>
              <a:rPr lang="en-US" sz="1150" dirty="0">
                <a:solidFill>
                  <a:srgbClr val="5B6B88"/>
                </a:solidFill>
              </a:rPr>
              <a:t>Famílias desalojadas, doenças de veiculação hídrica e interrupção de serviços públicos essenciais.</a:t>
            </a:r>
            <a:endParaRPr lang="en-US" sz="1400" dirty="0"/>
          </a:p>
        </p:txBody>
      </p:sp>
      <p:sp>
        <p:nvSpPr>
          <p:cNvPr id="15" name="Shape 10"/>
          <p:cNvSpPr/>
          <p:nvPr/>
        </p:nvSpPr>
        <p:spPr>
          <a:xfrm>
            <a:off x="6675120" y="3703320"/>
            <a:ext cx="45720" cy="960120"/>
          </a:xfrm>
          <a:prstGeom prst="rect">
            <a:avLst/>
          </a:prstGeom>
          <a:solidFill>
            <a:srgbClr val="38D4FF"/>
          </a:solidFill>
          <a:ln w="12700">
            <a:solidFill>
              <a:srgbClr val="38D4FF"/>
            </a:solidFill>
            <a:prstDash val="solid"/>
          </a:ln>
        </p:spPr>
      </p:sp>
      <p:sp>
        <p:nvSpPr>
          <p:cNvPr id="16" name="Text 11"/>
          <p:cNvSpPr txBox="1"/>
          <p:nvPr/>
        </p:nvSpPr>
        <p:spPr>
          <a:xfrm>
            <a:off x="6858000" y="3703320"/>
            <a:ext cx="4709160" cy="960120"/>
          </a:xfrm>
          <a:prstGeom prst="rect">
            <a:avLst/>
          </a:prstGeom>
          <a:noFill/>
          <a:ln/>
        </p:spPr>
        <p:txBody>
          <a:bodyPr wrap="square" lIns="0" tIns="0" rIns="0" bIns="0" rtlCol="0" anchor="t"/>
          <a:lstStyle/>
          <a:p>
            <a:pPr indent="0" marL="0">
              <a:buNone/>
            </a:pPr>
            <a:r>
              <a:rPr lang="en-US" sz="1400" b="1" dirty="0">
                <a:solidFill>
                  <a:srgbClr val="0A3377"/>
                </a:solidFill>
              </a:rPr>
              <a:t>Impacto econômico</a:t>
            </a:r>
            <a:endParaRPr lang="en-US" sz="1400" dirty="0"/>
          </a:p>
          <a:p>
            <a:pPr indent="0" marL="0">
              <a:buNone/>
            </a:pPr>
            <a:r>
              <a:rPr lang="en-US" sz="1150" dirty="0">
                <a:solidFill>
                  <a:srgbClr val="5B6B88"/>
                </a:solidFill>
              </a:rPr>
              <a:t>Paralisação de atividades comerciais e industriais, danos à infraestrutura da cidade e perda de valor imobiliário em áreas críticas.</a:t>
            </a:r>
            <a:endParaRPr lang="en-US" sz="1400" dirty="0"/>
          </a:p>
        </p:txBody>
      </p:sp>
      <p:sp>
        <p:nvSpPr>
          <p:cNvPr id="17" name="Shape 12"/>
          <p:cNvSpPr/>
          <p:nvPr/>
        </p:nvSpPr>
        <p:spPr>
          <a:xfrm>
            <a:off x="6675120" y="4800600"/>
            <a:ext cx="45720" cy="960120"/>
          </a:xfrm>
          <a:prstGeom prst="rect">
            <a:avLst/>
          </a:prstGeom>
          <a:solidFill>
            <a:srgbClr val="38D4FF"/>
          </a:solidFill>
          <a:ln w="12700">
            <a:solidFill>
              <a:srgbClr val="38D4FF"/>
            </a:solidFill>
            <a:prstDash val="solid"/>
          </a:ln>
        </p:spPr>
      </p:sp>
      <p:sp>
        <p:nvSpPr>
          <p:cNvPr id="18" name="Text 13"/>
          <p:cNvSpPr txBox="1"/>
          <p:nvPr/>
        </p:nvSpPr>
        <p:spPr>
          <a:xfrm>
            <a:off x="6858000" y="4800600"/>
            <a:ext cx="4709160" cy="960120"/>
          </a:xfrm>
          <a:prstGeom prst="rect">
            <a:avLst/>
          </a:prstGeom>
          <a:noFill/>
          <a:ln/>
        </p:spPr>
        <p:txBody>
          <a:bodyPr wrap="square" lIns="0" tIns="0" rIns="0" bIns="0" rtlCol="0" anchor="t"/>
          <a:lstStyle/>
          <a:p>
            <a:pPr indent="0" marL="0">
              <a:buNone/>
            </a:pPr>
            <a:r>
              <a:rPr lang="en-US" sz="1400" b="1" dirty="0">
                <a:solidFill>
                  <a:srgbClr val="0A3377"/>
                </a:solidFill>
              </a:rPr>
              <a:t>Impacto político</a:t>
            </a:r>
            <a:endParaRPr lang="en-US" sz="1400" dirty="0"/>
          </a:p>
          <a:p>
            <a:pPr indent="0" marL="0">
              <a:buNone/>
            </a:pPr>
            <a:r>
              <a:rPr lang="en-US" sz="1150" dirty="0">
                <a:solidFill>
                  <a:srgbClr val="5B6B88"/>
                </a:solidFill>
              </a:rPr>
              <a:t>Obras emergenciais caras com pouco impacto na raiz do problema comprometendo a credibilidade da gestão municipal em cada evento de inundação recorrente.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800" b="1" dirty="0">
                <a:solidFill>
                  <a:srgbClr val="0A3377"/>
                </a:solidFill>
              </a:rPr>
              <a:t>DO CÁLCULO ESTÁTICO A DINÂMICA URBANA</a:t>
            </a:r>
            <a:endParaRPr lang="en-US" sz="28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A EVOLUÇÃO</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Shape 5"/>
          <p:cNvSpPr/>
          <p:nvPr/>
        </p:nvSpPr>
        <p:spPr>
          <a:xfrm>
            <a:off x="640080" y="1417320"/>
            <a:ext cx="6766560" cy="2148840"/>
          </a:xfrm>
          <a:prstGeom prst="roundRect">
            <a:avLst>
              <a:gd name="adj" fmla="val 5106"/>
            </a:avLst>
          </a:prstGeom>
          <a:solidFill>
            <a:srgbClr val="FFFFFF"/>
          </a:solidFill>
          <a:ln w="9525">
            <a:solidFill>
              <a:srgbClr val="C9D6EA"/>
            </a:solidFill>
            <a:prstDash val="solid"/>
          </a:ln>
          <a:effectLst>
            <a:outerShdw sx="100000" sy="100000" kx="0" ky="0" algn="bl" rotWithShape="0" blurRad="76200" dist="12700" dir="5400000">
              <a:srgbClr val="0A3377">
                <a:alpha val="8000"/>
              </a:srgbClr>
            </a:outerShdw>
          </a:effectLst>
        </p:spPr>
      </p:sp>
      <p:sp>
        <p:nvSpPr>
          <p:cNvPr id="10" name="Shape 6"/>
          <p:cNvSpPr/>
          <p:nvPr/>
        </p:nvSpPr>
        <p:spPr>
          <a:xfrm>
            <a:off x="749808" y="1417320"/>
            <a:ext cx="6547104" cy="45720"/>
          </a:xfrm>
          <a:prstGeom prst="rect">
            <a:avLst/>
          </a:prstGeom>
          <a:solidFill>
            <a:srgbClr val="38D4FF"/>
          </a:solidFill>
          <a:ln w="12700">
            <a:solidFill>
              <a:srgbClr val="38D4FF"/>
            </a:solidFill>
            <a:prstDash val="solid"/>
          </a:ln>
        </p:spPr>
      </p:sp>
      <p:sp>
        <p:nvSpPr>
          <p:cNvPr id="11" name="Text 7"/>
          <p:cNvSpPr txBox="1"/>
          <p:nvPr/>
        </p:nvSpPr>
        <p:spPr>
          <a:xfrm>
            <a:off x="868680" y="1645920"/>
            <a:ext cx="6309360" cy="365760"/>
          </a:xfrm>
          <a:prstGeom prst="rect">
            <a:avLst/>
          </a:prstGeom>
          <a:noFill/>
          <a:ln/>
        </p:spPr>
        <p:txBody>
          <a:bodyPr wrap="square" lIns="0" tIns="0" rIns="0" bIns="0" rtlCol="0" anchor="t"/>
          <a:lstStyle/>
          <a:p>
            <a:pPr indent="0" marL="0">
              <a:buNone/>
            </a:pPr>
            <a:r>
              <a:rPr lang="en-US" sz="1600" b="1" dirty="0">
                <a:solidFill>
                  <a:srgbClr val="0A3377"/>
                </a:solidFill>
              </a:rPr>
              <a:t>Métodos Empíricos Tradicionais</a:t>
            </a:r>
            <a:endParaRPr lang="en-US" sz="1600" dirty="0"/>
          </a:p>
        </p:txBody>
      </p:sp>
      <p:sp>
        <p:nvSpPr>
          <p:cNvPr id="12" name="Text 8"/>
          <p:cNvSpPr txBox="1"/>
          <p:nvPr/>
        </p:nvSpPr>
        <p:spPr>
          <a:xfrm>
            <a:off x="868680" y="2057400"/>
            <a:ext cx="6309360" cy="1325880"/>
          </a:xfrm>
          <a:prstGeom prst="rect">
            <a:avLst/>
          </a:prstGeom>
          <a:noFill/>
          <a:ln/>
        </p:spPr>
        <p:txBody>
          <a:bodyPr wrap="square" lIns="0" tIns="0" rIns="0" bIns="0" rtlCol="0" anchor="t"/>
          <a:lstStyle/>
          <a:p>
            <a:pPr marL="152400" indent="-152400">
              <a:spcAft>
                <a:spcPts val="400"/>
              </a:spcAft>
              <a:buSzPct val="100000"/>
              <a:buChar char="•"/>
            </a:pPr>
            <a:r>
              <a:rPr lang="en-US" sz="1350" dirty="0">
                <a:solidFill>
                  <a:srgbClr val="5B6B88"/>
                </a:solidFill>
              </a:rPr>
              <a:t>Cálculos estáticos não representam as variações temporais da chuva.</a:t>
            </a:r>
            <a:endParaRPr lang="en-US" sz="1350" dirty="0"/>
          </a:p>
          <a:p>
            <a:pPr marL="152400" indent="-152400">
              <a:spcAft>
                <a:spcPts val="400"/>
              </a:spcAft>
              <a:buSzPct val="100000"/>
              <a:buChar char="•"/>
            </a:pPr>
            <a:r>
              <a:rPr lang="en-US" sz="1350" dirty="0">
                <a:solidFill>
                  <a:srgbClr val="5B6B88"/>
                </a:solidFill>
              </a:rPr>
              <a:t>Visão pontual dificulta avaliar remanso e refluxo na rede.</a:t>
            </a:r>
            <a:endParaRPr lang="en-US" sz="1350" dirty="0"/>
          </a:p>
          <a:p>
            <a:pPr marL="152400" indent="-152400">
              <a:spcAft>
                <a:spcPts val="400"/>
              </a:spcAft>
              <a:buSzPct val="100000"/>
              <a:buChar char="•"/>
            </a:pPr>
            <a:r>
              <a:rPr lang="en-US" sz="1350" dirty="0">
                <a:solidFill>
                  <a:srgbClr val="5B6B88"/>
                </a:solidFill>
              </a:rPr>
              <a:t>Há risco de superdimensionamento ou falha em gargalos dinâmicos.</a:t>
            </a:r>
            <a:endParaRPr lang="en-US" sz="1350" dirty="0"/>
          </a:p>
        </p:txBody>
      </p:sp>
      <p:sp>
        <p:nvSpPr>
          <p:cNvPr id="13" name="Shape 9"/>
          <p:cNvSpPr/>
          <p:nvPr/>
        </p:nvSpPr>
        <p:spPr>
          <a:xfrm>
            <a:off x="640080" y="3703320"/>
            <a:ext cx="6766560" cy="2148840"/>
          </a:xfrm>
          <a:prstGeom prst="roundRect">
            <a:avLst>
              <a:gd name="adj" fmla="val 5106"/>
            </a:avLst>
          </a:prstGeom>
          <a:solidFill>
            <a:srgbClr val="FFFFFF"/>
          </a:solidFill>
          <a:ln w="9525">
            <a:solidFill>
              <a:srgbClr val="C9D6EA"/>
            </a:solidFill>
            <a:prstDash val="solid"/>
          </a:ln>
          <a:effectLst>
            <a:outerShdw sx="100000" sy="100000" kx="0" ky="0" algn="bl" rotWithShape="0" blurRad="76200" dist="12700" dir="5400000">
              <a:srgbClr val="0A3377">
                <a:alpha val="8000"/>
              </a:srgbClr>
            </a:outerShdw>
          </a:effectLst>
        </p:spPr>
      </p:sp>
      <p:sp>
        <p:nvSpPr>
          <p:cNvPr id="14" name="Shape 10"/>
          <p:cNvSpPr/>
          <p:nvPr/>
        </p:nvSpPr>
        <p:spPr>
          <a:xfrm>
            <a:off x="749808" y="3703320"/>
            <a:ext cx="6547104" cy="45720"/>
          </a:xfrm>
          <a:prstGeom prst="rect">
            <a:avLst/>
          </a:prstGeom>
          <a:solidFill>
            <a:srgbClr val="38D4FF"/>
          </a:solidFill>
          <a:ln w="12700">
            <a:solidFill>
              <a:srgbClr val="38D4FF"/>
            </a:solidFill>
            <a:prstDash val="solid"/>
          </a:ln>
        </p:spPr>
      </p:sp>
      <p:sp>
        <p:nvSpPr>
          <p:cNvPr id="15" name="Text 11"/>
          <p:cNvSpPr txBox="1"/>
          <p:nvPr/>
        </p:nvSpPr>
        <p:spPr>
          <a:xfrm>
            <a:off x="868680" y="3931920"/>
            <a:ext cx="6309360" cy="365760"/>
          </a:xfrm>
          <a:prstGeom prst="rect">
            <a:avLst/>
          </a:prstGeom>
          <a:noFill/>
          <a:ln/>
        </p:spPr>
        <p:txBody>
          <a:bodyPr wrap="square" lIns="0" tIns="0" rIns="0" bIns="0" rtlCol="0" anchor="t"/>
          <a:lstStyle/>
          <a:p>
            <a:pPr indent="0" marL="0">
              <a:buNone/>
            </a:pPr>
            <a:r>
              <a:rPr lang="en-US" sz="1600" b="1" dirty="0">
                <a:solidFill>
                  <a:srgbClr val="0A3377"/>
                </a:solidFill>
              </a:rPr>
              <a:t>Simulação Hidráulica</a:t>
            </a:r>
            <a:endParaRPr lang="en-US" sz="1600" dirty="0"/>
          </a:p>
        </p:txBody>
      </p:sp>
      <p:sp>
        <p:nvSpPr>
          <p:cNvPr id="16" name="Text 12"/>
          <p:cNvSpPr txBox="1"/>
          <p:nvPr/>
        </p:nvSpPr>
        <p:spPr>
          <a:xfrm>
            <a:off x="868680" y="4343400"/>
            <a:ext cx="6309360" cy="1325880"/>
          </a:xfrm>
          <a:prstGeom prst="rect">
            <a:avLst/>
          </a:prstGeom>
          <a:noFill/>
          <a:ln/>
        </p:spPr>
        <p:txBody>
          <a:bodyPr wrap="square" lIns="0" tIns="0" rIns="0" bIns="0" rtlCol="0" anchor="t"/>
          <a:lstStyle/>
          <a:p>
            <a:pPr marL="152400" indent="-152400">
              <a:spcAft>
                <a:spcPts val="400"/>
              </a:spcAft>
              <a:buSzPct val="100000"/>
              <a:buChar char="•"/>
            </a:pPr>
            <a:r>
              <a:rPr lang="en-US" sz="1350" dirty="0">
                <a:solidFill>
                  <a:srgbClr val="5B6B88"/>
                </a:solidFill>
              </a:rPr>
              <a:t>Dinâmica temporal por hidrogramas reais de escoamento contínuo.</a:t>
            </a:r>
            <a:endParaRPr lang="en-US" sz="1350" dirty="0"/>
          </a:p>
          <a:p>
            <a:pPr marL="152400" indent="-152400">
              <a:spcAft>
                <a:spcPts val="400"/>
              </a:spcAft>
              <a:buSzPct val="100000"/>
              <a:buChar char="•"/>
            </a:pPr>
            <a:r>
              <a:rPr lang="en-US" sz="1350" dirty="0">
                <a:solidFill>
                  <a:srgbClr val="5B6B88"/>
                </a:solidFill>
              </a:rPr>
              <a:t>Acoplamento entre rede subterrânea e superfície urbana.</a:t>
            </a:r>
            <a:endParaRPr lang="en-US" sz="1350" dirty="0"/>
          </a:p>
          <a:p>
            <a:pPr marL="152400" indent="-152400">
              <a:spcAft>
                <a:spcPts val="400"/>
              </a:spcAft>
              <a:buSzPct val="100000"/>
              <a:buChar char="•"/>
            </a:pPr>
            <a:r>
              <a:rPr lang="en-US" sz="1350" dirty="0">
                <a:solidFill>
                  <a:srgbClr val="5B6B88"/>
                </a:solidFill>
              </a:rPr>
              <a:t>Teste virtual de intervenções antes da execução da obra.</a:t>
            </a:r>
            <a:endParaRPr lang="en-US" sz="1350" dirty="0"/>
          </a:p>
        </p:txBody>
      </p:sp>
      <p:sp>
        <p:nvSpPr>
          <p:cNvPr id="17" name="Shape 13"/>
          <p:cNvSpPr/>
          <p:nvPr/>
        </p:nvSpPr>
        <p:spPr>
          <a:xfrm>
            <a:off x="7680960" y="1417320"/>
            <a:ext cx="3886200" cy="4434840"/>
          </a:xfrm>
          <a:prstGeom prst="roundRect">
            <a:avLst>
              <a:gd name="adj" fmla="val 2824"/>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8" name="Image 2" descr="/tmp/claude-0/-home-user-norte-sul-portfolio/b828416d-028b-56b8-943d-a9bc67fc20c3/scratchpad/pptx_out/fx/m3_equipe.jpg">    </p:cNvPr>
          <p:cNvPicPr>
            <a:picLocks noChangeAspect="1"/>
          </p:cNvPicPr>
          <p:nvPr/>
        </p:nvPicPr>
        <p:blipFill>
          <a:blip r:embed="rId3"/>
          <a:stretch>
            <a:fillRect/>
          </a:stretch>
        </p:blipFill>
        <p:spPr>
          <a:xfrm>
            <a:off x="7772400" y="1783080"/>
            <a:ext cx="3703320" cy="37033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800" b="1" dirty="0">
                <a:solidFill>
                  <a:srgbClr val="0A3377"/>
                </a:solidFill>
              </a:rPr>
              <a:t>Quatro etapas, do dado à decisão</a:t>
            </a:r>
            <a:endParaRPr lang="en-US" sz="28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O MÉTODO</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Shape 5"/>
          <p:cNvSpPr/>
          <p:nvPr/>
        </p:nvSpPr>
        <p:spPr>
          <a:xfrm>
            <a:off x="640080" y="1417320"/>
            <a:ext cx="6309360" cy="969264"/>
          </a:xfrm>
          <a:prstGeom prst="roundRect">
            <a:avLst>
              <a:gd name="adj" fmla="val 7547"/>
            </a:avLst>
          </a:prstGeom>
          <a:solidFill>
            <a:srgbClr val="FFFFFF"/>
          </a:solidFill>
          <a:ln w="9525">
            <a:solidFill>
              <a:srgbClr val="C9D6EA"/>
            </a:solidFill>
            <a:prstDash val="solid"/>
          </a:ln>
        </p:spPr>
      </p:sp>
      <p:sp>
        <p:nvSpPr>
          <p:cNvPr id="10" name="Shape 6"/>
          <p:cNvSpPr/>
          <p:nvPr/>
        </p:nvSpPr>
        <p:spPr>
          <a:xfrm>
            <a:off x="822960" y="1856232"/>
            <a:ext cx="91440" cy="91440"/>
          </a:xfrm>
          <a:prstGeom prst="ellipse">
            <a:avLst/>
          </a:prstGeom>
          <a:solidFill>
            <a:srgbClr val="38D4FF"/>
          </a:solidFill>
          <a:ln w="12700">
            <a:solidFill>
              <a:srgbClr val="38D4FF"/>
            </a:solidFill>
            <a:prstDash val="solid"/>
          </a:ln>
        </p:spPr>
      </p:sp>
      <p:sp>
        <p:nvSpPr>
          <p:cNvPr id="11" name="Text 7"/>
          <p:cNvSpPr txBox="1"/>
          <p:nvPr/>
        </p:nvSpPr>
        <p:spPr>
          <a:xfrm>
            <a:off x="1051560" y="1417320"/>
            <a:ext cx="5715000" cy="969264"/>
          </a:xfrm>
          <a:prstGeom prst="rect">
            <a:avLst/>
          </a:prstGeom>
          <a:noFill/>
          <a:ln/>
        </p:spPr>
        <p:txBody>
          <a:bodyPr wrap="square" lIns="0" tIns="0" rIns="0" bIns="0" rtlCol="0" anchor="ctr"/>
          <a:lstStyle/>
          <a:p>
            <a:pPr indent="0" marL="0">
              <a:buNone/>
            </a:pPr>
            <a:r>
              <a:rPr lang="en-US" sz="1350" b="1" dirty="0">
                <a:solidFill>
                  <a:srgbClr val="0A3377"/>
                </a:solidFill>
              </a:rPr>
              <a:t>Coleta de dados: </a:t>
            </a:r>
            <a:r>
              <a:rPr lang="en-US" sz="1350" dirty="0">
                <a:solidFill>
                  <a:srgbClr val="5B6B88"/>
                </a:solidFill>
              </a:rPr>
              <a:t>Topografia, dados meteorológicos, infraestrutura</a:t>
            </a:r>
            <a:endParaRPr lang="en-US" sz="1350" dirty="0"/>
          </a:p>
        </p:txBody>
      </p:sp>
      <p:sp>
        <p:nvSpPr>
          <p:cNvPr id="12" name="Shape 8"/>
          <p:cNvSpPr/>
          <p:nvPr/>
        </p:nvSpPr>
        <p:spPr>
          <a:xfrm>
            <a:off x="640080" y="2569464"/>
            <a:ext cx="6309360" cy="969264"/>
          </a:xfrm>
          <a:prstGeom prst="roundRect">
            <a:avLst>
              <a:gd name="adj" fmla="val 7547"/>
            </a:avLst>
          </a:prstGeom>
          <a:solidFill>
            <a:srgbClr val="FFFFFF"/>
          </a:solidFill>
          <a:ln w="9525">
            <a:solidFill>
              <a:srgbClr val="C9D6EA"/>
            </a:solidFill>
            <a:prstDash val="solid"/>
          </a:ln>
        </p:spPr>
      </p:sp>
      <p:sp>
        <p:nvSpPr>
          <p:cNvPr id="13" name="Shape 9"/>
          <p:cNvSpPr/>
          <p:nvPr/>
        </p:nvSpPr>
        <p:spPr>
          <a:xfrm>
            <a:off x="822960" y="3008376"/>
            <a:ext cx="91440" cy="91440"/>
          </a:xfrm>
          <a:prstGeom prst="ellipse">
            <a:avLst/>
          </a:prstGeom>
          <a:solidFill>
            <a:srgbClr val="38D4FF"/>
          </a:solidFill>
          <a:ln w="12700">
            <a:solidFill>
              <a:srgbClr val="38D4FF"/>
            </a:solidFill>
            <a:prstDash val="solid"/>
          </a:ln>
        </p:spPr>
      </p:sp>
      <p:sp>
        <p:nvSpPr>
          <p:cNvPr id="14" name="Text 10"/>
          <p:cNvSpPr txBox="1"/>
          <p:nvPr/>
        </p:nvSpPr>
        <p:spPr>
          <a:xfrm>
            <a:off x="1051560" y="2569464"/>
            <a:ext cx="5715000" cy="969264"/>
          </a:xfrm>
          <a:prstGeom prst="rect">
            <a:avLst/>
          </a:prstGeom>
          <a:noFill/>
          <a:ln/>
        </p:spPr>
        <p:txBody>
          <a:bodyPr wrap="square" lIns="0" tIns="0" rIns="0" bIns="0" rtlCol="0" anchor="ctr"/>
          <a:lstStyle/>
          <a:p>
            <a:pPr indent="0" marL="0">
              <a:buNone/>
            </a:pPr>
            <a:r>
              <a:rPr lang="en-US" sz="1350" b="1" dirty="0">
                <a:solidFill>
                  <a:srgbClr val="0A3377"/>
                </a:solidFill>
              </a:rPr>
              <a:t>Construção do modelo: </a:t>
            </a:r>
            <a:r>
              <a:rPr lang="en-US" sz="1350" dirty="0">
                <a:solidFill>
                  <a:srgbClr val="5B6B88"/>
                </a:solidFill>
              </a:rPr>
              <a:t>Montagem das bacias de contribuição, nós, condutos e calhas viárias.</a:t>
            </a:r>
            <a:endParaRPr lang="en-US" sz="1350" dirty="0"/>
          </a:p>
        </p:txBody>
      </p:sp>
      <p:sp>
        <p:nvSpPr>
          <p:cNvPr id="15" name="Shape 11"/>
          <p:cNvSpPr/>
          <p:nvPr/>
        </p:nvSpPr>
        <p:spPr>
          <a:xfrm>
            <a:off x="640080" y="3721608"/>
            <a:ext cx="6309360" cy="969264"/>
          </a:xfrm>
          <a:prstGeom prst="roundRect">
            <a:avLst>
              <a:gd name="adj" fmla="val 7547"/>
            </a:avLst>
          </a:prstGeom>
          <a:solidFill>
            <a:srgbClr val="FFFFFF"/>
          </a:solidFill>
          <a:ln w="9525">
            <a:solidFill>
              <a:srgbClr val="C9D6EA"/>
            </a:solidFill>
            <a:prstDash val="solid"/>
          </a:ln>
        </p:spPr>
      </p:sp>
      <p:sp>
        <p:nvSpPr>
          <p:cNvPr id="16" name="Shape 12"/>
          <p:cNvSpPr/>
          <p:nvPr/>
        </p:nvSpPr>
        <p:spPr>
          <a:xfrm>
            <a:off x="822960" y="4160520"/>
            <a:ext cx="91440" cy="91440"/>
          </a:xfrm>
          <a:prstGeom prst="ellipse">
            <a:avLst/>
          </a:prstGeom>
          <a:solidFill>
            <a:srgbClr val="38D4FF"/>
          </a:solidFill>
          <a:ln w="12700">
            <a:solidFill>
              <a:srgbClr val="38D4FF"/>
            </a:solidFill>
            <a:prstDash val="solid"/>
          </a:ln>
        </p:spPr>
      </p:sp>
      <p:sp>
        <p:nvSpPr>
          <p:cNvPr id="17" name="Text 13"/>
          <p:cNvSpPr txBox="1"/>
          <p:nvPr/>
        </p:nvSpPr>
        <p:spPr>
          <a:xfrm>
            <a:off x="1051560" y="3721608"/>
            <a:ext cx="5715000" cy="969264"/>
          </a:xfrm>
          <a:prstGeom prst="rect">
            <a:avLst/>
          </a:prstGeom>
          <a:noFill/>
          <a:ln/>
        </p:spPr>
        <p:txBody>
          <a:bodyPr wrap="square" lIns="0" tIns="0" rIns="0" bIns="0" rtlCol="0" anchor="ctr"/>
          <a:lstStyle/>
          <a:p>
            <a:pPr indent="0" marL="0">
              <a:buNone/>
            </a:pPr>
            <a:r>
              <a:rPr lang="en-US" sz="1350" b="1" dirty="0">
                <a:solidFill>
                  <a:srgbClr val="0A3377"/>
                </a:solidFill>
              </a:rPr>
              <a:t>Calibração: </a:t>
            </a:r>
            <a:r>
              <a:rPr lang="en-US" sz="1350" dirty="0">
                <a:solidFill>
                  <a:srgbClr val="5B6B88"/>
                </a:solidFill>
              </a:rPr>
              <a:t>Ajuste com base em eventos históricos e marcas de cheia monitoradas.</a:t>
            </a:r>
            <a:endParaRPr lang="en-US" sz="1350" dirty="0"/>
          </a:p>
        </p:txBody>
      </p:sp>
      <p:sp>
        <p:nvSpPr>
          <p:cNvPr id="18" name="Shape 14"/>
          <p:cNvSpPr/>
          <p:nvPr/>
        </p:nvSpPr>
        <p:spPr>
          <a:xfrm>
            <a:off x="640080" y="4873752"/>
            <a:ext cx="6309360" cy="969264"/>
          </a:xfrm>
          <a:prstGeom prst="roundRect">
            <a:avLst>
              <a:gd name="adj" fmla="val 7547"/>
            </a:avLst>
          </a:prstGeom>
          <a:solidFill>
            <a:srgbClr val="FFFFFF"/>
          </a:solidFill>
          <a:ln w="9525">
            <a:solidFill>
              <a:srgbClr val="C9D6EA"/>
            </a:solidFill>
            <a:prstDash val="solid"/>
          </a:ln>
        </p:spPr>
      </p:sp>
      <p:sp>
        <p:nvSpPr>
          <p:cNvPr id="19" name="Shape 15"/>
          <p:cNvSpPr/>
          <p:nvPr/>
        </p:nvSpPr>
        <p:spPr>
          <a:xfrm>
            <a:off x="822960" y="5312664"/>
            <a:ext cx="91440" cy="91440"/>
          </a:xfrm>
          <a:prstGeom prst="ellipse">
            <a:avLst/>
          </a:prstGeom>
          <a:solidFill>
            <a:srgbClr val="38D4FF"/>
          </a:solidFill>
          <a:ln w="12700">
            <a:solidFill>
              <a:srgbClr val="38D4FF"/>
            </a:solidFill>
            <a:prstDash val="solid"/>
          </a:ln>
        </p:spPr>
      </p:sp>
      <p:sp>
        <p:nvSpPr>
          <p:cNvPr id="20" name="Text 16"/>
          <p:cNvSpPr txBox="1"/>
          <p:nvPr/>
        </p:nvSpPr>
        <p:spPr>
          <a:xfrm>
            <a:off x="1051560" y="4873752"/>
            <a:ext cx="5715000" cy="969264"/>
          </a:xfrm>
          <a:prstGeom prst="rect">
            <a:avLst/>
          </a:prstGeom>
          <a:noFill/>
          <a:ln/>
        </p:spPr>
        <p:txBody>
          <a:bodyPr wrap="square" lIns="0" tIns="0" rIns="0" bIns="0" rtlCol="0" anchor="ctr"/>
          <a:lstStyle/>
          <a:p>
            <a:pPr indent="0" marL="0">
              <a:buNone/>
            </a:pPr>
            <a:r>
              <a:rPr lang="en-US" sz="1350" b="1" dirty="0">
                <a:solidFill>
                  <a:srgbClr val="0A3377"/>
                </a:solidFill>
              </a:rPr>
              <a:t>Simulações: </a:t>
            </a:r>
            <a:r>
              <a:rPr lang="en-US" sz="1350" dirty="0">
                <a:solidFill>
                  <a:srgbClr val="5B6B88"/>
                </a:solidFill>
              </a:rPr>
              <a:t>Diagnóstico de extravasamento e dimensionamento de intervenções.</a:t>
            </a:r>
            <a:endParaRPr lang="en-US" sz="1350" dirty="0"/>
          </a:p>
        </p:txBody>
      </p:sp>
      <p:sp>
        <p:nvSpPr>
          <p:cNvPr id="21" name="Shape 17"/>
          <p:cNvSpPr/>
          <p:nvPr/>
        </p:nvSpPr>
        <p:spPr>
          <a:xfrm>
            <a:off x="7223760" y="1417320"/>
            <a:ext cx="4343400" cy="4434840"/>
          </a:xfrm>
          <a:prstGeom prst="roundRect">
            <a:avLst>
              <a:gd name="adj" fmla="val 2526"/>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22" name="Image 2" descr="/tmp/claude-0/-home-user-norte-sul-portfolio/b828416d-028b-56b8-943d-a9bc67fc20c3/scratchpad/pptx_out/fx/m4_rede.jpg">    </p:cNvPr>
          <p:cNvPicPr>
            <a:picLocks noChangeAspect="1"/>
          </p:cNvPicPr>
          <p:nvPr/>
        </p:nvPicPr>
        <p:blipFill>
          <a:blip r:embed="rId3"/>
          <a:stretch>
            <a:fillRect/>
          </a:stretch>
        </p:blipFill>
        <p:spPr>
          <a:xfrm>
            <a:off x="7318378" y="1508760"/>
            <a:ext cx="4154165" cy="42519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800" b="1" dirty="0">
                <a:solidFill>
                  <a:srgbClr val="0A3377"/>
                </a:solidFill>
              </a:rPr>
              <a:t>CENÁRIOS TESTÁVEIS</a:t>
            </a:r>
            <a:endParaRPr lang="en-US" sz="28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AS ALTERNATIVAS</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Shape 5"/>
          <p:cNvSpPr/>
          <p:nvPr/>
        </p:nvSpPr>
        <p:spPr>
          <a:xfrm>
            <a:off x="640080" y="1417320"/>
            <a:ext cx="5760720" cy="4434840"/>
          </a:xfrm>
          <a:prstGeom prst="roundRect">
            <a:avLst>
              <a:gd name="adj" fmla="val 2474"/>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0" name="Image 2" descr="/tmp/claude-0/-home-user-norte-sul-portfolio/b828416d-028b-56b8-943d-a9bc67fc20c3/scratchpad/pptx_out/fx/m5_bacia.jpg">    </p:cNvPr>
          <p:cNvPicPr>
            <a:picLocks noChangeAspect="1"/>
          </p:cNvPicPr>
          <p:nvPr/>
        </p:nvPicPr>
        <p:blipFill>
          <a:blip r:embed="rId3"/>
          <a:stretch>
            <a:fillRect/>
          </a:stretch>
        </p:blipFill>
        <p:spPr>
          <a:xfrm>
            <a:off x="731520" y="1728644"/>
            <a:ext cx="5577840" cy="3812193"/>
          </a:xfrm>
          <a:prstGeom prst="rect">
            <a:avLst/>
          </a:prstGeom>
        </p:spPr>
      </p:pic>
      <p:sp>
        <p:nvSpPr>
          <p:cNvPr id="11" name="Shape 6"/>
          <p:cNvSpPr/>
          <p:nvPr/>
        </p:nvSpPr>
        <p:spPr>
          <a:xfrm>
            <a:off x="6675120" y="1417320"/>
            <a:ext cx="2377440" cy="868680"/>
          </a:xfrm>
          <a:prstGeom prst="roundRect">
            <a:avLst>
              <a:gd name="adj" fmla="val 10526"/>
            </a:avLst>
          </a:prstGeom>
          <a:solidFill>
            <a:srgbClr val="FFFFFF"/>
          </a:solidFill>
          <a:ln w="9525">
            <a:solidFill>
              <a:srgbClr val="C9D6EA"/>
            </a:solidFill>
            <a:prstDash val="solid"/>
          </a:ln>
        </p:spPr>
      </p:sp>
      <p:sp>
        <p:nvSpPr>
          <p:cNvPr id="12" name="Text 7"/>
          <p:cNvSpPr txBox="1"/>
          <p:nvPr/>
        </p:nvSpPr>
        <p:spPr>
          <a:xfrm>
            <a:off x="6812280" y="1417320"/>
            <a:ext cx="2103120" cy="868680"/>
          </a:xfrm>
          <a:prstGeom prst="rect">
            <a:avLst/>
          </a:prstGeom>
          <a:noFill/>
          <a:ln/>
        </p:spPr>
        <p:txBody>
          <a:bodyPr wrap="square" lIns="0" tIns="0" rIns="0" bIns="0" rtlCol="0" anchor="ctr"/>
          <a:lstStyle/>
          <a:p>
            <a:pPr algn="ctr" indent="0" marL="0">
              <a:buNone/>
            </a:pPr>
            <a:r>
              <a:rPr lang="en-US" sz="1250" b="1" dirty="0">
                <a:solidFill>
                  <a:srgbClr val="0A3377"/>
                </a:solidFill>
              </a:rPr>
              <a:t>Novas galerias pluviais</a:t>
            </a:r>
            <a:endParaRPr lang="en-US" sz="1250" dirty="0"/>
          </a:p>
        </p:txBody>
      </p:sp>
      <p:sp>
        <p:nvSpPr>
          <p:cNvPr id="13" name="Shape 8"/>
          <p:cNvSpPr/>
          <p:nvPr/>
        </p:nvSpPr>
        <p:spPr>
          <a:xfrm>
            <a:off x="9189720" y="1417320"/>
            <a:ext cx="2377440" cy="868680"/>
          </a:xfrm>
          <a:prstGeom prst="roundRect">
            <a:avLst>
              <a:gd name="adj" fmla="val 10526"/>
            </a:avLst>
          </a:prstGeom>
          <a:solidFill>
            <a:srgbClr val="FFFFFF"/>
          </a:solidFill>
          <a:ln w="9525">
            <a:solidFill>
              <a:srgbClr val="C9D6EA"/>
            </a:solidFill>
            <a:prstDash val="solid"/>
          </a:ln>
        </p:spPr>
      </p:sp>
      <p:sp>
        <p:nvSpPr>
          <p:cNvPr id="14" name="Text 9"/>
          <p:cNvSpPr txBox="1"/>
          <p:nvPr/>
        </p:nvSpPr>
        <p:spPr>
          <a:xfrm>
            <a:off x="9326880" y="1417320"/>
            <a:ext cx="2103120" cy="868680"/>
          </a:xfrm>
          <a:prstGeom prst="rect">
            <a:avLst/>
          </a:prstGeom>
          <a:noFill/>
          <a:ln/>
        </p:spPr>
        <p:txBody>
          <a:bodyPr wrap="square" lIns="0" tIns="0" rIns="0" bIns="0" rtlCol="0" anchor="ctr"/>
          <a:lstStyle/>
          <a:p>
            <a:pPr algn="ctr" indent="0" marL="0">
              <a:buNone/>
            </a:pPr>
            <a:r>
              <a:rPr lang="en-US" sz="1250" b="1" dirty="0">
                <a:solidFill>
                  <a:srgbClr val="0A3377"/>
                </a:solidFill>
              </a:rPr>
              <a:t>Remanejamento e aumento de diâmetro</a:t>
            </a:r>
            <a:endParaRPr lang="en-US" sz="1250" dirty="0"/>
          </a:p>
        </p:txBody>
      </p:sp>
      <p:sp>
        <p:nvSpPr>
          <p:cNvPr id="15" name="Shape 10"/>
          <p:cNvSpPr/>
          <p:nvPr/>
        </p:nvSpPr>
        <p:spPr>
          <a:xfrm>
            <a:off x="6675120" y="2423160"/>
            <a:ext cx="2377440" cy="868680"/>
          </a:xfrm>
          <a:prstGeom prst="roundRect">
            <a:avLst>
              <a:gd name="adj" fmla="val 10526"/>
            </a:avLst>
          </a:prstGeom>
          <a:solidFill>
            <a:srgbClr val="FFFFFF"/>
          </a:solidFill>
          <a:ln w="9525">
            <a:solidFill>
              <a:srgbClr val="C9D6EA"/>
            </a:solidFill>
            <a:prstDash val="solid"/>
          </a:ln>
        </p:spPr>
      </p:sp>
      <p:sp>
        <p:nvSpPr>
          <p:cNvPr id="16" name="Text 11"/>
          <p:cNvSpPr txBox="1"/>
          <p:nvPr/>
        </p:nvSpPr>
        <p:spPr>
          <a:xfrm>
            <a:off x="6812280" y="2423160"/>
            <a:ext cx="2103120" cy="868680"/>
          </a:xfrm>
          <a:prstGeom prst="rect">
            <a:avLst/>
          </a:prstGeom>
          <a:noFill/>
          <a:ln/>
        </p:spPr>
        <p:txBody>
          <a:bodyPr wrap="square" lIns="0" tIns="0" rIns="0" bIns="0" rtlCol="0" anchor="ctr"/>
          <a:lstStyle/>
          <a:p>
            <a:pPr algn="ctr" indent="0" marL="0">
              <a:buNone/>
            </a:pPr>
            <a:r>
              <a:rPr lang="en-US" sz="1250" b="1" dirty="0">
                <a:solidFill>
                  <a:srgbClr val="0A3377"/>
                </a:solidFill>
              </a:rPr>
              <a:t>Novas bocas de lobo</a:t>
            </a:r>
            <a:endParaRPr lang="en-US" sz="1250" dirty="0"/>
          </a:p>
        </p:txBody>
      </p:sp>
      <p:sp>
        <p:nvSpPr>
          <p:cNvPr id="17" name="Shape 12"/>
          <p:cNvSpPr/>
          <p:nvPr/>
        </p:nvSpPr>
        <p:spPr>
          <a:xfrm>
            <a:off x="9189720" y="2423160"/>
            <a:ext cx="2377440" cy="868680"/>
          </a:xfrm>
          <a:prstGeom prst="roundRect">
            <a:avLst>
              <a:gd name="adj" fmla="val 10526"/>
            </a:avLst>
          </a:prstGeom>
          <a:solidFill>
            <a:srgbClr val="FFFFFF"/>
          </a:solidFill>
          <a:ln w="9525">
            <a:solidFill>
              <a:srgbClr val="C9D6EA"/>
            </a:solidFill>
            <a:prstDash val="solid"/>
          </a:ln>
        </p:spPr>
      </p:sp>
      <p:sp>
        <p:nvSpPr>
          <p:cNvPr id="18" name="Text 13"/>
          <p:cNvSpPr txBox="1"/>
          <p:nvPr/>
        </p:nvSpPr>
        <p:spPr>
          <a:xfrm>
            <a:off x="9326880" y="2423160"/>
            <a:ext cx="2103120" cy="868680"/>
          </a:xfrm>
          <a:prstGeom prst="rect">
            <a:avLst/>
          </a:prstGeom>
          <a:noFill/>
          <a:ln/>
        </p:spPr>
        <p:txBody>
          <a:bodyPr wrap="square" lIns="0" tIns="0" rIns="0" bIns="0" rtlCol="0" anchor="ctr"/>
          <a:lstStyle/>
          <a:p>
            <a:pPr algn="ctr" indent="0" marL="0">
              <a:buNone/>
            </a:pPr>
            <a:r>
              <a:rPr lang="en-US" sz="1250" b="1" dirty="0">
                <a:solidFill>
                  <a:srgbClr val="0A3377"/>
                </a:solidFill>
              </a:rPr>
              <a:t>Aumento de calha</a:t>
            </a:r>
            <a:endParaRPr lang="en-US" sz="1250" dirty="0"/>
          </a:p>
        </p:txBody>
      </p:sp>
      <p:sp>
        <p:nvSpPr>
          <p:cNvPr id="19" name="Shape 14"/>
          <p:cNvSpPr/>
          <p:nvPr/>
        </p:nvSpPr>
        <p:spPr>
          <a:xfrm>
            <a:off x="6675120" y="3429000"/>
            <a:ext cx="2377440" cy="868680"/>
          </a:xfrm>
          <a:prstGeom prst="roundRect">
            <a:avLst>
              <a:gd name="adj" fmla="val 10526"/>
            </a:avLst>
          </a:prstGeom>
          <a:solidFill>
            <a:srgbClr val="FFFFFF"/>
          </a:solidFill>
          <a:ln w="9525">
            <a:solidFill>
              <a:srgbClr val="C9D6EA"/>
            </a:solidFill>
            <a:prstDash val="solid"/>
          </a:ln>
        </p:spPr>
      </p:sp>
      <p:sp>
        <p:nvSpPr>
          <p:cNvPr id="20" name="Text 15"/>
          <p:cNvSpPr txBox="1"/>
          <p:nvPr/>
        </p:nvSpPr>
        <p:spPr>
          <a:xfrm>
            <a:off x="6812280" y="3429000"/>
            <a:ext cx="2103120" cy="868680"/>
          </a:xfrm>
          <a:prstGeom prst="rect">
            <a:avLst/>
          </a:prstGeom>
          <a:noFill/>
          <a:ln/>
        </p:spPr>
        <p:txBody>
          <a:bodyPr wrap="square" lIns="0" tIns="0" rIns="0" bIns="0" rtlCol="0" anchor="ctr"/>
          <a:lstStyle/>
          <a:p>
            <a:pPr algn="ctr" indent="0" marL="0">
              <a:buNone/>
            </a:pPr>
            <a:r>
              <a:rPr lang="en-US" sz="1250" b="1" dirty="0">
                <a:solidFill>
                  <a:srgbClr val="0A3377"/>
                </a:solidFill>
              </a:rPr>
              <a:t>Piscinões</a:t>
            </a:r>
            <a:endParaRPr lang="en-US" sz="1250" dirty="0"/>
          </a:p>
        </p:txBody>
      </p:sp>
      <p:sp>
        <p:nvSpPr>
          <p:cNvPr id="21" name="Shape 16"/>
          <p:cNvSpPr/>
          <p:nvPr/>
        </p:nvSpPr>
        <p:spPr>
          <a:xfrm>
            <a:off x="9189720" y="3429000"/>
            <a:ext cx="2377440" cy="868680"/>
          </a:xfrm>
          <a:prstGeom prst="roundRect">
            <a:avLst>
              <a:gd name="adj" fmla="val 10526"/>
            </a:avLst>
          </a:prstGeom>
          <a:solidFill>
            <a:srgbClr val="FFFFFF"/>
          </a:solidFill>
          <a:ln w="9525">
            <a:solidFill>
              <a:srgbClr val="C9D6EA"/>
            </a:solidFill>
            <a:prstDash val="solid"/>
          </a:ln>
        </p:spPr>
      </p:sp>
      <p:sp>
        <p:nvSpPr>
          <p:cNvPr id="22" name="Text 17"/>
          <p:cNvSpPr txBox="1"/>
          <p:nvPr/>
        </p:nvSpPr>
        <p:spPr>
          <a:xfrm>
            <a:off x="9326880" y="3429000"/>
            <a:ext cx="2103120" cy="868680"/>
          </a:xfrm>
          <a:prstGeom prst="rect">
            <a:avLst/>
          </a:prstGeom>
          <a:noFill/>
          <a:ln/>
        </p:spPr>
        <p:txBody>
          <a:bodyPr wrap="square" lIns="0" tIns="0" rIns="0" bIns="0" rtlCol="0" anchor="ctr"/>
          <a:lstStyle/>
          <a:p>
            <a:pPr algn="ctr" indent="0" marL="0">
              <a:buNone/>
            </a:pPr>
            <a:r>
              <a:rPr lang="en-US" sz="1250" b="1" dirty="0">
                <a:solidFill>
                  <a:srgbClr val="0A3377"/>
                </a:solidFill>
              </a:rPr>
              <a:t>Parques lineares para infiltração</a:t>
            </a:r>
            <a:endParaRPr lang="en-US" sz="1250" dirty="0"/>
          </a:p>
        </p:txBody>
      </p:sp>
      <p:sp>
        <p:nvSpPr>
          <p:cNvPr id="23" name="Shape 18"/>
          <p:cNvSpPr/>
          <p:nvPr/>
        </p:nvSpPr>
        <p:spPr>
          <a:xfrm>
            <a:off x="6675120" y="4434840"/>
            <a:ext cx="4892040" cy="868680"/>
          </a:xfrm>
          <a:prstGeom prst="roundRect">
            <a:avLst>
              <a:gd name="adj" fmla="val 10526"/>
            </a:avLst>
          </a:prstGeom>
          <a:solidFill>
            <a:srgbClr val="0A3377"/>
          </a:solidFill>
          <a:ln w="12700">
            <a:solidFill>
              <a:srgbClr val="0A3377"/>
            </a:solidFill>
            <a:prstDash val="solid"/>
          </a:ln>
        </p:spPr>
      </p:sp>
      <p:sp>
        <p:nvSpPr>
          <p:cNvPr id="24" name="Text 19"/>
          <p:cNvSpPr txBox="1"/>
          <p:nvPr/>
        </p:nvSpPr>
        <p:spPr>
          <a:xfrm>
            <a:off x="6675120" y="4434840"/>
            <a:ext cx="4892040" cy="868680"/>
          </a:xfrm>
          <a:prstGeom prst="rect">
            <a:avLst/>
          </a:prstGeom>
          <a:noFill/>
          <a:ln/>
        </p:spPr>
        <p:txBody>
          <a:bodyPr wrap="square" lIns="0" tIns="0" rIns="0" bIns="0" rtlCol="0" anchor="ctr"/>
          <a:lstStyle/>
          <a:p>
            <a:pPr algn="ctr" indent="0" marL="0">
              <a:buNone/>
            </a:pPr>
            <a:r>
              <a:rPr lang="en-US" sz="1500" b="1" dirty="0">
                <a:solidFill>
                  <a:srgbClr val="FFFFFF"/>
                </a:solidFill>
              </a:rPr>
              <a:t>Galerias Tanques de Retardo</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800" b="1" dirty="0">
                <a:solidFill>
                  <a:srgbClr val="0A3377"/>
                </a:solidFill>
              </a:rPr>
              <a:t>MICRO BACIA ACD-05 CARANDIRU TEN. ROCHA</a:t>
            </a:r>
            <a:endParaRPr lang="en-US" sz="28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O CASE</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Shape 5"/>
          <p:cNvSpPr/>
          <p:nvPr/>
        </p:nvSpPr>
        <p:spPr>
          <a:xfrm>
            <a:off x="640080" y="1463040"/>
            <a:ext cx="45720" cy="1005840"/>
          </a:xfrm>
          <a:prstGeom prst="rect">
            <a:avLst/>
          </a:prstGeom>
          <a:solidFill>
            <a:srgbClr val="38D4FF"/>
          </a:solidFill>
          <a:ln w="12700">
            <a:solidFill>
              <a:srgbClr val="38D4FF"/>
            </a:solidFill>
            <a:prstDash val="solid"/>
          </a:ln>
        </p:spPr>
      </p:sp>
      <p:sp>
        <p:nvSpPr>
          <p:cNvPr id="10" name="Text 6"/>
          <p:cNvSpPr txBox="1"/>
          <p:nvPr/>
        </p:nvSpPr>
        <p:spPr>
          <a:xfrm>
            <a:off x="841248" y="1463040"/>
            <a:ext cx="6016752" cy="731520"/>
          </a:xfrm>
          <a:prstGeom prst="rect">
            <a:avLst/>
          </a:prstGeom>
          <a:noFill/>
          <a:ln/>
        </p:spPr>
        <p:txBody>
          <a:bodyPr wrap="square" lIns="0" tIns="0" rIns="0" bIns="0" rtlCol="0" anchor="ctr"/>
          <a:lstStyle/>
          <a:p>
            <a:pPr indent="0" marL="0">
              <a:buNone/>
            </a:pPr>
            <a:r>
              <a:rPr lang="en-US" sz="3600" b="1" dirty="0">
                <a:solidFill>
                  <a:srgbClr val="38D4FF"/>
                </a:solidFill>
              </a:rPr>
              <a:t>91,4%</a:t>
            </a:r>
            <a:endParaRPr lang="en-US" sz="3600" dirty="0"/>
          </a:p>
        </p:txBody>
      </p:sp>
      <p:sp>
        <p:nvSpPr>
          <p:cNvPr id="11" name="Text 7"/>
          <p:cNvSpPr txBox="1"/>
          <p:nvPr/>
        </p:nvSpPr>
        <p:spPr>
          <a:xfrm>
            <a:off x="841248" y="2194560"/>
            <a:ext cx="6016752" cy="411480"/>
          </a:xfrm>
          <a:prstGeom prst="rect">
            <a:avLst/>
          </a:prstGeom>
          <a:noFill/>
          <a:ln/>
        </p:spPr>
        <p:txBody>
          <a:bodyPr wrap="square" lIns="0" tIns="0" rIns="0" bIns="0" rtlCol="0" anchor="t"/>
          <a:lstStyle/>
          <a:p>
            <a:pPr indent="0" marL="0">
              <a:buNone/>
            </a:pPr>
            <a:r>
              <a:rPr lang="en-US" sz="1100" dirty="0">
                <a:solidFill>
                  <a:srgbClr val="5B6B88"/>
                </a:solidFill>
              </a:rPr>
              <a:t>impermeabilização</a:t>
            </a:r>
            <a:endParaRPr lang="en-US" sz="1100" dirty="0"/>
          </a:p>
        </p:txBody>
      </p:sp>
      <p:sp>
        <p:nvSpPr>
          <p:cNvPr id="12" name="Shape 8"/>
          <p:cNvSpPr/>
          <p:nvPr/>
        </p:nvSpPr>
        <p:spPr>
          <a:xfrm>
            <a:off x="640080" y="2880360"/>
            <a:ext cx="3108960" cy="868680"/>
          </a:xfrm>
          <a:prstGeom prst="roundRect">
            <a:avLst>
              <a:gd name="adj" fmla="val 8421"/>
            </a:avLst>
          </a:prstGeom>
          <a:solidFill>
            <a:srgbClr val="FFFFFF"/>
          </a:solidFill>
          <a:ln w="9525">
            <a:solidFill>
              <a:srgbClr val="C9D6EA"/>
            </a:solidFill>
            <a:prstDash val="solid"/>
          </a:ln>
        </p:spPr>
      </p:sp>
      <p:sp>
        <p:nvSpPr>
          <p:cNvPr id="13" name="Text 9"/>
          <p:cNvSpPr txBox="1"/>
          <p:nvPr/>
        </p:nvSpPr>
        <p:spPr>
          <a:xfrm>
            <a:off x="822960" y="2880360"/>
            <a:ext cx="1097280" cy="868680"/>
          </a:xfrm>
          <a:prstGeom prst="rect">
            <a:avLst/>
          </a:prstGeom>
          <a:noFill/>
          <a:ln/>
        </p:spPr>
        <p:txBody>
          <a:bodyPr wrap="square" lIns="0" tIns="0" rIns="0" bIns="0" rtlCol="0" anchor="ctr"/>
          <a:lstStyle/>
          <a:p>
            <a:pPr indent="0" marL="0">
              <a:buNone/>
            </a:pPr>
            <a:r>
              <a:rPr lang="en-US" sz="1200" b="1" dirty="0">
                <a:solidFill>
                  <a:srgbClr val="38D4FF"/>
                </a:solidFill>
              </a:rPr>
              <a:t>A</a:t>
            </a:r>
            <a:endParaRPr lang="en-US" sz="1200" dirty="0"/>
          </a:p>
        </p:txBody>
      </p:sp>
      <p:sp>
        <p:nvSpPr>
          <p:cNvPr id="14" name="Text 10"/>
          <p:cNvSpPr txBox="1"/>
          <p:nvPr/>
        </p:nvSpPr>
        <p:spPr>
          <a:xfrm>
            <a:off x="1965960" y="2880360"/>
            <a:ext cx="1737360" cy="868680"/>
          </a:xfrm>
          <a:prstGeom prst="rect">
            <a:avLst/>
          </a:prstGeom>
          <a:noFill/>
          <a:ln/>
        </p:spPr>
        <p:txBody>
          <a:bodyPr wrap="square" lIns="0" tIns="0" rIns="0" bIns="0" rtlCol="0" anchor="ctr"/>
          <a:lstStyle/>
          <a:p>
            <a:pPr indent="0" marL="0">
              <a:buNone/>
            </a:pPr>
            <a:r>
              <a:rPr lang="en-US" sz="1250" b="1" dirty="0">
                <a:solidFill>
                  <a:srgbClr val="0A3377"/>
                </a:solidFill>
              </a:rPr>
              <a:t>250.420 m²</a:t>
            </a:r>
            <a:endParaRPr lang="en-US" sz="1250" dirty="0"/>
          </a:p>
          <a:p>
            <a:pPr indent="0" marL="0">
              <a:buNone/>
            </a:pPr>
            <a:r>
              <a:rPr lang="en-US" sz="1250" b="1" dirty="0">
                <a:solidFill>
                  <a:srgbClr val="0A3377"/>
                </a:solidFill>
              </a:rPr>
              <a:t>(0,25 km²)</a:t>
            </a:r>
            <a:endParaRPr lang="en-US" sz="1250" dirty="0"/>
          </a:p>
        </p:txBody>
      </p:sp>
      <p:sp>
        <p:nvSpPr>
          <p:cNvPr id="15" name="Shape 11"/>
          <p:cNvSpPr/>
          <p:nvPr/>
        </p:nvSpPr>
        <p:spPr>
          <a:xfrm>
            <a:off x="3886200" y="2880360"/>
            <a:ext cx="3108960" cy="868680"/>
          </a:xfrm>
          <a:prstGeom prst="roundRect">
            <a:avLst>
              <a:gd name="adj" fmla="val 8421"/>
            </a:avLst>
          </a:prstGeom>
          <a:solidFill>
            <a:srgbClr val="FFFFFF"/>
          </a:solidFill>
          <a:ln w="9525">
            <a:solidFill>
              <a:srgbClr val="C9D6EA"/>
            </a:solidFill>
            <a:prstDash val="solid"/>
          </a:ln>
        </p:spPr>
      </p:sp>
      <p:sp>
        <p:nvSpPr>
          <p:cNvPr id="16" name="Text 12"/>
          <p:cNvSpPr txBox="1"/>
          <p:nvPr/>
        </p:nvSpPr>
        <p:spPr>
          <a:xfrm>
            <a:off x="4069080" y="2880360"/>
            <a:ext cx="1097280" cy="868680"/>
          </a:xfrm>
          <a:prstGeom prst="rect">
            <a:avLst/>
          </a:prstGeom>
          <a:noFill/>
          <a:ln/>
        </p:spPr>
        <p:txBody>
          <a:bodyPr wrap="square" lIns="0" tIns="0" rIns="0" bIns="0" rtlCol="0" anchor="ctr"/>
          <a:lstStyle/>
          <a:p>
            <a:pPr indent="0" marL="0">
              <a:buNone/>
            </a:pPr>
            <a:r>
              <a:rPr lang="en-US" sz="1200" b="1" dirty="0">
                <a:solidFill>
                  <a:srgbClr val="38D4FF"/>
                </a:solidFill>
              </a:rPr>
              <a:t>L</a:t>
            </a:r>
            <a:endParaRPr lang="en-US" sz="1200" dirty="0"/>
          </a:p>
        </p:txBody>
      </p:sp>
      <p:sp>
        <p:nvSpPr>
          <p:cNvPr id="17" name="Text 13"/>
          <p:cNvSpPr txBox="1"/>
          <p:nvPr/>
        </p:nvSpPr>
        <p:spPr>
          <a:xfrm>
            <a:off x="5212080" y="2880360"/>
            <a:ext cx="1737360" cy="868680"/>
          </a:xfrm>
          <a:prstGeom prst="rect">
            <a:avLst/>
          </a:prstGeom>
          <a:noFill/>
          <a:ln/>
        </p:spPr>
        <p:txBody>
          <a:bodyPr wrap="square" lIns="0" tIns="0" rIns="0" bIns="0" rtlCol="0" anchor="ctr"/>
          <a:lstStyle/>
          <a:p>
            <a:pPr indent="0" marL="0">
              <a:buNone/>
            </a:pPr>
            <a:r>
              <a:rPr lang="en-US" sz="1250" b="1" dirty="0">
                <a:solidFill>
                  <a:srgbClr val="0A3377"/>
                </a:solidFill>
              </a:rPr>
              <a:t>1.100 m</a:t>
            </a:r>
            <a:endParaRPr lang="en-US" sz="1250" dirty="0"/>
          </a:p>
          <a:p>
            <a:pPr indent="0" marL="0">
              <a:buNone/>
            </a:pPr>
            <a:r>
              <a:rPr lang="en-US" sz="1250" b="1" dirty="0">
                <a:solidFill>
                  <a:srgbClr val="0A3377"/>
                </a:solidFill>
              </a:rPr>
              <a:t>talvegue</a:t>
            </a:r>
            <a:endParaRPr lang="en-US" sz="1250" dirty="0"/>
          </a:p>
        </p:txBody>
      </p:sp>
      <p:sp>
        <p:nvSpPr>
          <p:cNvPr id="18" name="Shape 14"/>
          <p:cNvSpPr/>
          <p:nvPr/>
        </p:nvSpPr>
        <p:spPr>
          <a:xfrm>
            <a:off x="640080" y="3886200"/>
            <a:ext cx="3108960" cy="868680"/>
          </a:xfrm>
          <a:prstGeom prst="roundRect">
            <a:avLst>
              <a:gd name="adj" fmla="val 8421"/>
            </a:avLst>
          </a:prstGeom>
          <a:solidFill>
            <a:srgbClr val="FFFFFF"/>
          </a:solidFill>
          <a:ln w="9525">
            <a:solidFill>
              <a:srgbClr val="C9D6EA"/>
            </a:solidFill>
            <a:prstDash val="solid"/>
          </a:ln>
        </p:spPr>
      </p:sp>
      <p:sp>
        <p:nvSpPr>
          <p:cNvPr id="19" name="Text 15"/>
          <p:cNvSpPr txBox="1"/>
          <p:nvPr/>
        </p:nvSpPr>
        <p:spPr>
          <a:xfrm>
            <a:off x="822960" y="3886200"/>
            <a:ext cx="1097280" cy="868680"/>
          </a:xfrm>
          <a:prstGeom prst="rect">
            <a:avLst/>
          </a:prstGeom>
          <a:noFill/>
          <a:ln/>
        </p:spPr>
        <p:txBody>
          <a:bodyPr wrap="square" lIns="0" tIns="0" rIns="0" bIns="0" rtlCol="0" anchor="ctr"/>
          <a:lstStyle/>
          <a:p>
            <a:pPr indent="0" marL="0">
              <a:buNone/>
            </a:pPr>
            <a:r>
              <a:rPr lang="en-US" sz="1200" b="1" dirty="0">
                <a:solidFill>
                  <a:srgbClr val="38D4FF"/>
                </a:solidFill>
              </a:rPr>
              <a:t>i</a:t>
            </a:r>
            <a:endParaRPr lang="en-US" sz="1200" dirty="0"/>
          </a:p>
        </p:txBody>
      </p:sp>
      <p:sp>
        <p:nvSpPr>
          <p:cNvPr id="20" name="Text 16"/>
          <p:cNvSpPr txBox="1"/>
          <p:nvPr/>
        </p:nvSpPr>
        <p:spPr>
          <a:xfrm>
            <a:off x="1965960" y="3886200"/>
            <a:ext cx="1737360" cy="868680"/>
          </a:xfrm>
          <a:prstGeom prst="rect">
            <a:avLst/>
          </a:prstGeom>
          <a:noFill/>
          <a:ln/>
        </p:spPr>
        <p:txBody>
          <a:bodyPr wrap="square" lIns="0" tIns="0" rIns="0" bIns="0" rtlCol="0" anchor="ctr"/>
          <a:lstStyle/>
          <a:p>
            <a:pPr indent="0" marL="0">
              <a:buNone/>
            </a:pPr>
            <a:r>
              <a:rPr lang="en-US" sz="1250" b="1" dirty="0">
                <a:solidFill>
                  <a:srgbClr val="0A3377"/>
                </a:solidFill>
              </a:rPr>
              <a:t>0,05 m/m</a:t>
            </a:r>
            <a:endParaRPr lang="en-US" sz="1250" dirty="0"/>
          </a:p>
          <a:p>
            <a:pPr indent="0" marL="0">
              <a:buNone/>
            </a:pPr>
            <a:r>
              <a:rPr lang="en-US" sz="1250" b="1" dirty="0">
                <a:solidFill>
                  <a:srgbClr val="0A3377"/>
                </a:solidFill>
              </a:rPr>
              <a:t>(5%)</a:t>
            </a:r>
            <a:endParaRPr lang="en-US" sz="1250" dirty="0"/>
          </a:p>
        </p:txBody>
      </p:sp>
      <p:sp>
        <p:nvSpPr>
          <p:cNvPr id="21" name="Shape 17"/>
          <p:cNvSpPr/>
          <p:nvPr/>
        </p:nvSpPr>
        <p:spPr>
          <a:xfrm>
            <a:off x="3886200" y="3886200"/>
            <a:ext cx="3108960" cy="868680"/>
          </a:xfrm>
          <a:prstGeom prst="roundRect">
            <a:avLst>
              <a:gd name="adj" fmla="val 8421"/>
            </a:avLst>
          </a:prstGeom>
          <a:solidFill>
            <a:srgbClr val="FFFFFF"/>
          </a:solidFill>
          <a:ln w="9525">
            <a:solidFill>
              <a:srgbClr val="C9D6EA"/>
            </a:solidFill>
            <a:prstDash val="solid"/>
          </a:ln>
        </p:spPr>
      </p:sp>
      <p:sp>
        <p:nvSpPr>
          <p:cNvPr id="22" name="Text 18"/>
          <p:cNvSpPr txBox="1"/>
          <p:nvPr/>
        </p:nvSpPr>
        <p:spPr>
          <a:xfrm>
            <a:off x="4069080" y="3886200"/>
            <a:ext cx="1097280" cy="868680"/>
          </a:xfrm>
          <a:prstGeom prst="rect">
            <a:avLst/>
          </a:prstGeom>
          <a:noFill/>
          <a:ln/>
        </p:spPr>
        <p:txBody>
          <a:bodyPr wrap="square" lIns="0" tIns="0" rIns="0" bIns="0" rtlCol="0" anchor="ctr"/>
          <a:lstStyle/>
          <a:p>
            <a:pPr indent="0" marL="0">
              <a:buNone/>
            </a:pPr>
            <a:r>
              <a:rPr lang="en-US" sz="1200" b="1" dirty="0">
                <a:solidFill>
                  <a:srgbClr val="38D4FF"/>
                </a:solidFill>
              </a:rPr>
              <a:t>Zmáx / Zmín</a:t>
            </a:r>
            <a:endParaRPr lang="en-US" sz="1200" dirty="0"/>
          </a:p>
        </p:txBody>
      </p:sp>
      <p:sp>
        <p:nvSpPr>
          <p:cNvPr id="23" name="Text 19"/>
          <p:cNvSpPr txBox="1"/>
          <p:nvPr/>
        </p:nvSpPr>
        <p:spPr>
          <a:xfrm>
            <a:off x="5212080" y="3886200"/>
            <a:ext cx="1737360" cy="868680"/>
          </a:xfrm>
          <a:prstGeom prst="rect">
            <a:avLst/>
          </a:prstGeom>
          <a:noFill/>
          <a:ln/>
        </p:spPr>
        <p:txBody>
          <a:bodyPr wrap="square" lIns="0" tIns="0" rIns="0" bIns="0" rtlCol="0" anchor="ctr"/>
          <a:lstStyle/>
          <a:p>
            <a:pPr indent="0" marL="0">
              <a:buNone/>
            </a:pPr>
            <a:r>
              <a:rPr lang="en-US" sz="1250" b="1" dirty="0">
                <a:solidFill>
                  <a:srgbClr val="0A3377"/>
                </a:solidFill>
              </a:rPr>
              <a:t>779,924 m / 724,580 m</a:t>
            </a:r>
            <a:endParaRPr lang="en-US" sz="1250" dirty="0"/>
          </a:p>
        </p:txBody>
      </p:sp>
      <p:sp>
        <p:nvSpPr>
          <p:cNvPr id="24" name="Shape 20"/>
          <p:cNvSpPr/>
          <p:nvPr/>
        </p:nvSpPr>
        <p:spPr>
          <a:xfrm>
            <a:off x="640080" y="4892040"/>
            <a:ext cx="3108960" cy="868680"/>
          </a:xfrm>
          <a:prstGeom prst="roundRect">
            <a:avLst>
              <a:gd name="adj" fmla="val 8421"/>
            </a:avLst>
          </a:prstGeom>
          <a:solidFill>
            <a:srgbClr val="FFFFFF"/>
          </a:solidFill>
          <a:ln w="9525">
            <a:solidFill>
              <a:srgbClr val="C9D6EA"/>
            </a:solidFill>
            <a:prstDash val="solid"/>
          </a:ln>
        </p:spPr>
      </p:sp>
      <p:sp>
        <p:nvSpPr>
          <p:cNvPr id="25" name="Text 21"/>
          <p:cNvSpPr txBox="1"/>
          <p:nvPr/>
        </p:nvSpPr>
        <p:spPr>
          <a:xfrm>
            <a:off x="822960" y="4892040"/>
            <a:ext cx="1097280" cy="868680"/>
          </a:xfrm>
          <a:prstGeom prst="rect">
            <a:avLst/>
          </a:prstGeom>
          <a:noFill/>
          <a:ln/>
        </p:spPr>
        <p:txBody>
          <a:bodyPr wrap="square" lIns="0" tIns="0" rIns="0" bIns="0" rtlCol="0" anchor="ctr"/>
          <a:lstStyle/>
          <a:p>
            <a:pPr indent="0" marL="0">
              <a:buNone/>
            </a:pPr>
            <a:r>
              <a:rPr lang="en-US" sz="1200" b="1" dirty="0">
                <a:solidFill>
                  <a:srgbClr val="38D4FF"/>
                </a:solidFill>
              </a:rPr>
              <a:t>Amplitude</a:t>
            </a:r>
            <a:endParaRPr lang="en-US" sz="1200" dirty="0"/>
          </a:p>
        </p:txBody>
      </p:sp>
      <p:sp>
        <p:nvSpPr>
          <p:cNvPr id="26" name="Text 22"/>
          <p:cNvSpPr txBox="1"/>
          <p:nvPr/>
        </p:nvSpPr>
        <p:spPr>
          <a:xfrm>
            <a:off x="1965960" y="4892040"/>
            <a:ext cx="1737360" cy="868680"/>
          </a:xfrm>
          <a:prstGeom prst="rect">
            <a:avLst/>
          </a:prstGeom>
          <a:noFill/>
          <a:ln/>
        </p:spPr>
        <p:txBody>
          <a:bodyPr wrap="square" lIns="0" tIns="0" rIns="0" bIns="0" rtlCol="0" anchor="ctr"/>
          <a:lstStyle/>
          <a:p>
            <a:pPr indent="0" marL="0">
              <a:buNone/>
            </a:pPr>
            <a:r>
              <a:rPr lang="en-US" sz="1250" b="1" dirty="0">
                <a:solidFill>
                  <a:srgbClr val="0A3377"/>
                </a:solidFill>
              </a:rPr>
              <a:t>55,344 m</a:t>
            </a:r>
            <a:endParaRPr lang="en-US" sz="1250" dirty="0"/>
          </a:p>
        </p:txBody>
      </p:sp>
      <p:sp>
        <p:nvSpPr>
          <p:cNvPr id="27" name="Shape 23"/>
          <p:cNvSpPr/>
          <p:nvPr/>
        </p:nvSpPr>
        <p:spPr>
          <a:xfrm>
            <a:off x="7315200" y="1325880"/>
            <a:ext cx="4251960" cy="4572000"/>
          </a:xfrm>
          <a:prstGeom prst="roundRect">
            <a:avLst>
              <a:gd name="adj" fmla="val 2581"/>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28" name="Image 2" descr="/tmp/claude-0/-home-user-norte-sul-portfolio/b828416d-028b-56b8-943d-a9bc67fc20c3/scratchpad/pptx_out/fx/m6_aerea.jpg">    </p:cNvPr>
          <p:cNvPicPr>
            <a:picLocks noChangeAspect="1"/>
          </p:cNvPicPr>
          <p:nvPr/>
        </p:nvPicPr>
        <p:blipFill>
          <a:blip r:embed="rId3"/>
          <a:stretch>
            <a:fillRect/>
          </a:stretch>
        </p:blipFill>
        <p:spPr>
          <a:xfrm>
            <a:off x="7629205" y="1417320"/>
            <a:ext cx="3623950" cy="43891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800" b="1" dirty="0">
                <a:solidFill>
                  <a:srgbClr val="0A3377"/>
                </a:solidFill>
              </a:rPr>
              <a:t>Diagnóstico Preliminar</a:t>
            </a:r>
            <a:endParaRPr lang="en-US" sz="28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DIAGNÓSTICO</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Shape 5"/>
          <p:cNvSpPr/>
          <p:nvPr/>
        </p:nvSpPr>
        <p:spPr>
          <a:xfrm>
            <a:off x="640080" y="1371600"/>
            <a:ext cx="6035040" cy="804672"/>
          </a:xfrm>
          <a:prstGeom prst="roundRect">
            <a:avLst>
              <a:gd name="adj" fmla="val 9091"/>
            </a:avLst>
          </a:prstGeom>
          <a:solidFill>
            <a:srgbClr val="FFFFFF"/>
          </a:solidFill>
          <a:ln w="9525">
            <a:solidFill>
              <a:srgbClr val="C9D6EA"/>
            </a:solidFill>
            <a:prstDash val="solid"/>
          </a:ln>
        </p:spPr>
      </p:sp>
      <p:sp>
        <p:nvSpPr>
          <p:cNvPr id="10" name="Shape 6"/>
          <p:cNvSpPr/>
          <p:nvPr/>
        </p:nvSpPr>
        <p:spPr>
          <a:xfrm>
            <a:off x="822960" y="1728216"/>
            <a:ext cx="91440" cy="91440"/>
          </a:xfrm>
          <a:prstGeom prst="ellipse">
            <a:avLst/>
          </a:prstGeom>
          <a:solidFill>
            <a:srgbClr val="38D4FF"/>
          </a:solidFill>
          <a:ln w="12700">
            <a:solidFill>
              <a:srgbClr val="38D4FF"/>
            </a:solidFill>
            <a:prstDash val="solid"/>
          </a:ln>
        </p:spPr>
      </p:sp>
      <p:sp>
        <p:nvSpPr>
          <p:cNvPr id="11" name="Text 7"/>
          <p:cNvSpPr txBox="1"/>
          <p:nvPr/>
        </p:nvSpPr>
        <p:spPr>
          <a:xfrm>
            <a:off x="1051560" y="1371600"/>
            <a:ext cx="5440680" cy="804672"/>
          </a:xfrm>
          <a:prstGeom prst="rect">
            <a:avLst/>
          </a:prstGeom>
          <a:noFill/>
          <a:ln/>
        </p:spPr>
        <p:txBody>
          <a:bodyPr wrap="square" lIns="0" tIns="0" rIns="0" bIns="0" rtlCol="0" anchor="ctr"/>
          <a:lstStyle/>
          <a:p>
            <a:pPr indent="0" marL="0">
              <a:buNone/>
            </a:pPr>
            <a:r>
              <a:rPr lang="en-US" sz="1150" dirty="0">
                <a:solidFill>
                  <a:srgbClr val="0A3377"/>
                </a:solidFill>
              </a:rPr>
              <a:t>A topografia acidentada impunha nos trechos mais elevados o escoamento superficial já que o segregado em tubulações implicam velocidades acima de 5 m/s</a:t>
            </a:r>
            <a:endParaRPr lang="en-US" sz="1150" dirty="0"/>
          </a:p>
        </p:txBody>
      </p:sp>
      <p:sp>
        <p:nvSpPr>
          <p:cNvPr id="12" name="Shape 8"/>
          <p:cNvSpPr/>
          <p:nvPr/>
        </p:nvSpPr>
        <p:spPr>
          <a:xfrm>
            <a:off x="640080" y="2267712"/>
            <a:ext cx="6035040" cy="804672"/>
          </a:xfrm>
          <a:prstGeom prst="roundRect">
            <a:avLst>
              <a:gd name="adj" fmla="val 9091"/>
            </a:avLst>
          </a:prstGeom>
          <a:solidFill>
            <a:srgbClr val="FFFFFF"/>
          </a:solidFill>
          <a:ln w="9525">
            <a:solidFill>
              <a:srgbClr val="C9D6EA"/>
            </a:solidFill>
            <a:prstDash val="solid"/>
          </a:ln>
        </p:spPr>
      </p:sp>
      <p:sp>
        <p:nvSpPr>
          <p:cNvPr id="13" name="Shape 9"/>
          <p:cNvSpPr/>
          <p:nvPr/>
        </p:nvSpPr>
        <p:spPr>
          <a:xfrm>
            <a:off x="822960" y="2624328"/>
            <a:ext cx="91440" cy="91440"/>
          </a:xfrm>
          <a:prstGeom prst="ellipse">
            <a:avLst/>
          </a:prstGeom>
          <a:solidFill>
            <a:srgbClr val="38D4FF"/>
          </a:solidFill>
          <a:ln w="12700">
            <a:solidFill>
              <a:srgbClr val="38D4FF"/>
            </a:solidFill>
            <a:prstDash val="solid"/>
          </a:ln>
        </p:spPr>
      </p:sp>
      <p:sp>
        <p:nvSpPr>
          <p:cNvPr id="14" name="Text 10"/>
          <p:cNvSpPr txBox="1"/>
          <p:nvPr/>
        </p:nvSpPr>
        <p:spPr>
          <a:xfrm>
            <a:off x="1051560" y="2267712"/>
            <a:ext cx="5440680" cy="804672"/>
          </a:xfrm>
          <a:prstGeom prst="rect">
            <a:avLst/>
          </a:prstGeom>
          <a:noFill/>
          <a:ln/>
        </p:spPr>
        <p:txBody>
          <a:bodyPr wrap="square" lIns="0" tIns="0" rIns="0" bIns="0" rtlCol="0" anchor="ctr"/>
          <a:lstStyle/>
          <a:p>
            <a:pPr indent="0" marL="0">
              <a:buNone/>
            </a:pPr>
            <a:r>
              <a:rPr lang="en-US" sz="1150" dirty="0">
                <a:solidFill>
                  <a:srgbClr val="0A3377"/>
                </a:solidFill>
              </a:rPr>
              <a:t>O tempo em que as vazões de chuva dos pontos mais elevados chegam aos pontos mais baixos é bastante curto (13 minutos).</a:t>
            </a:r>
            <a:endParaRPr lang="en-US" sz="1150" dirty="0"/>
          </a:p>
        </p:txBody>
      </p:sp>
      <p:sp>
        <p:nvSpPr>
          <p:cNvPr id="15" name="Shape 11"/>
          <p:cNvSpPr/>
          <p:nvPr/>
        </p:nvSpPr>
        <p:spPr>
          <a:xfrm>
            <a:off x="640080" y="3163824"/>
            <a:ext cx="6035040" cy="804672"/>
          </a:xfrm>
          <a:prstGeom prst="roundRect">
            <a:avLst>
              <a:gd name="adj" fmla="val 9091"/>
            </a:avLst>
          </a:prstGeom>
          <a:solidFill>
            <a:srgbClr val="FFFFFF"/>
          </a:solidFill>
          <a:ln w="9525">
            <a:solidFill>
              <a:srgbClr val="C9D6EA"/>
            </a:solidFill>
            <a:prstDash val="solid"/>
          </a:ln>
        </p:spPr>
      </p:sp>
      <p:sp>
        <p:nvSpPr>
          <p:cNvPr id="16" name="Shape 12"/>
          <p:cNvSpPr/>
          <p:nvPr/>
        </p:nvSpPr>
        <p:spPr>
          <a:xfrm>
            <a:off x="822960" y="3520440"/>
            <a:ext cx="91440" cy="91440"/>
          </a:xfrm>
          <a:prstGeom prst="ellipse">
            <a:avLst/>
          </a:prstGeom>
          <a:solidFill>
            <a:srgbClr val="38D4FF"/>
          </a:solidFill>
          <a:ln w="12700">
            <a:solidFill>
              <a:srgbClr val="38D4FF"/>
            </a:solidFill>
            <a:prstDash val="solid"/>
          </a:ln>
        </p:spPr>
      </p:sp>
      <p:sp>
        <p:nvSpPr>
          <p:cNvPr id="17" name="Text 13"/>
          <p:cNvSpPr txBox="1"/>
          <p:nvPr/>
        </p:nvSpPr>
        <p:spPr>
          <a:xfrm>
            <a:off x="1051560" y="3163824"/>
            <a:ext cx="5440680" cy="804672"/>
          </a:xfrm>
          <a:prstGeom prst="rect">
            <a:avLst/>
          </a:prstGeom>
          <a:noFill/>
          <a:ln/>
        </p:spPr>
        <p:txBody>
          <a:bodyPr wrap="square" lIns="0" tIns="0" rIns="0" bIns="0" rtlCol="0" anchor="ctr"/>
          <a:lstStyle/>
          <a:p>
            <a:pPr indent="0" marL="0">
              <a:buNone/>
            </a:pPr>
            <a:r>
              <a:rPr lang="en-US" sz="1150" dirty="0">
                <a:solidFill>
                  <a:srgbClr val="0A3377"/>
                </a:solidFill>
              </a:rPr>
              <a:t>A infraestrutura é insuficiente para as vazões geradas.</a:t>
            </a:r>
            <a:endParaRPr lang="en-US" sz="1150" dirty="0"/>
          </a:p>
        </p:txBody>
      </p:sp>
      <p:sp>
        <p:nvSpPr>
          <p:cNvPr id="18" name="Shape 14"/>
          <p:cNvSpPr/>
          <p:nvPr/>
        </p:nvSpPr>
        <p:spPr>
          <a:xfrm>
            <a:off x="640080" y="4059936"/>
            <a:ext cx="6035040" cy="804672"/>
          </a:xfrm>
          <a:prstGeom prst="roundRect">
            <a:avLst>
              <a:gd name="adj" fmla="val 9091"/>
            </a:avLst>
          </a:prstGeom>
          <a:solidFill>
            <a:srgbClr val="FFFFFF"/>
          </a:solidFill>
          <a:ln w="9525">
            <a:solidFill>
              <a:srgbClr val="C9D6EA"/>
            </a:solidFill>
            <a:prstDash val="solid"/>
          </a:ln>
        </p:spPr>
      </p:sp>
      <p:sp>
        <p:nvSpPr>
          <p:cNvPr id="19" name="Shape 15"/>
          <p:cNvSpPr/>
          <p:nvPr/>
        </p:nvSpPr>
        <p:spPr>
          <a:xfrm>
            <a:off x="822960" y="4416552"/>
            <a:ext cx="91440" cy="91440"/>
          </a:xfrm>
          <a:prstGeom prst="ellipse">
            <a:avLst/>
          </a:prstGeom>
          <a:solidFill>
            <a:srgbClr val="38D4FF"/>
          </a:solidFill>
          <a:ln w="12700">
            <a:solidFill>
              <a:srgbClr val="38D4FF"/>
            </a:solidFill>
            <a:prstDash val="solid"/>
          </a:ln>
        </p:spPr>
      </p:sp>
      <p:sp>
        <p:nvSpPr>
          <p:cNvPr id="20" name="Text 16"/>
          <p:cNvSpPr txBox="1"/>
          <p:nvPr/>
        </p:nvSpPr>
        <p:spPr>
          <a:xfrm>
            <a:off x="1051560" y="4059936"/>
            <a:ext cx="5440680" cy="804672"/>
          </a:xfrm>
          <a:prstGeom prst="rect">
            <a:avLst/>
          </a:prstGeom>
          <a:noFill/>
          <a:ln/>
        </p:spPr>
        <p:txBody>
          <a:bodyPr wrap="square" lIns="0" tIns="0" rIns="0" bIns="0" rtlCol="0" anchor="ctr"/>
          <a:lstStyle/>
          <a:p>
            <a:pPr indent="0" marL="0">
              <a:buNone/>
            </a:pPr>
            <a:r>
              <a:rPr lang="en-US" sz="1150" dirty="0">
                <a:solidFill>
                  <a:srgbClr val="0A3377"/>
                </a:solidFill>
              </a:rPr>
              <a:t>Os pontos em vermelho representam os pontos intransitáveis segundo o CET e CGE, na Av. Braz Leme e Rua Dr. Cesar, no bairro de Santana</a:t>
            </a:r>
            <a:endParaRPr lang="en-US" sz="1150" dirty="0"/>
          </a:p>
        </p:txBody>
      </p:sp>
      <p:sp>
        <p:nvSpPr>
          <p:cNvPr id="21" name="Shape 17"/>
          <p:cNvSpPr/>
          <p:nvPr/>
        </p:nvSpPr>
        <p:spPr>
          <a:xfrm>
            <a:off x="640080" y="4956048"/>
            <a:ext cx="6035040" cy="804672"/>
          </a:xfrm>
          <a:prstGeom prst="roundRect">
            <a:avLst>
              <a:gd name="adj" fmla="val 9091"/>
            </a:avLst>
          </a:prstGeom>
          <a:solidFill>
            <a:srgbClr val="FFFFFF"/>
          </a:solidFill>
          <a:ln w="9525">
            <a:solidFill>
              <a:srgbClr val="C9D6EA"/>
            </a:solidFill>
            <a:prstDash val="solid"/>
          </a:ln>
        </p:spPr>
      </p:sp>
      <p:sp>
        <p:nvSpPr>
          <p:cNvPr id="22" name="Shape 18"/>
          <p:cNvSpPr/>
          <p:nvPr/>
        </p:nvSpPr>
        <p:spPr>
          <a:xfrm>
            <a:off x="822960" y="5312664"/>
            <a:ext cx="91440" cy="91440"/>
          </a:xfrm>
          <a:prstGeom prst="ellipse">
            <a:avLst/>
          </a:prstGeom>
          <a:solidFill>
            <a:srgbClr val="38D4FF"/>
          </a:solidFill>
          <a:ln w="12700">
            <a:solidFill>
              <a:srgbClr val="38D4FF"/>
            </a:solidFill>
            <a:prstDash val="solid"/>
          </a:ln>
        </p:spPr>
      </p:sp>
      <p:sp>
        <p:nvSpPr>
          <p:cNvPr id="23" name="Text 19"/>
          <p:cNvSpPr txBox="1"/>
          <p:nvPr/>
        </p:nvSpPr>
        <p:spPr>
          <a:xfrm>
            <a:off x="1051560" y="4956048"/>
            <a:ext cx="5440680" cy="804672"/>
          </a:xfrm>
          <a:prstGeom prst="rect">
            <a:avLst/>
          </a:prstGeom>
          <a:noFill/>
          <a:ln/>
        </p:spPr>
        <p:txBody>
          <a:bodyPr wrap="square" lIns="0" tIns="0" rIns="0" bIns="0" rtlCol="0" anchor="ctr"/>
          <a:lstStyle/>
          <a:p>
            <a:pPr indent="0" marL="0">
              <a:buNone/>
            </a:pPr>
            <a:r>
              <a:rPr lang="en-US" sz="1150" dirty="0">
                <a:solidFill>
                  <a:srgbClr val="0A3377"/>
                </a:solidFill>
              </a:rPr>
              <a:t>Estudos da Fundação Centro Tecnológico de Hidráulica indica os trechos de ruas alagáveis na cor abóbora</a:t>
            </a:r>
            <a:endParaRPr lang="en-US" sz="1150" dirty="0"/>
          </a:p>
        </p:txBody>
      </p:sp>
      <p:sp>
        <p:nvSpPr>
          <p:cNvPr id="24" name="Shape 20"/>
          <p:cNvSpPr/>
          <p:nvPr/>
        </p:nvSpPr>
        <p:spPr>
          <a:xfrm>
            <a:off x="6949440" y="1371600"/>
            <a:ext cx="4617720" cy="4480560"/>
          </a:xfrm>
          <a:prstGeom prst="roundRect">
            <a:avLst>
              <a:gd name="adj" fmla="val 2449"/>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25" name="Image 2" descr="/tmp/claude-0/-home-user-norte-sul-portfolio/b828416d-028b-56b8-943d-a9bc67fc20c3/scratchpad/pptx_out/fx/m7_diag.jpg">    </p:cNvPr>
          <p:cNvPicPr>
            <a:picLocks noChangeAspect="1"/>
          </p:cNvPicPr>
          <p:nvPr/>
        </p:nvPicPr>
        <p:blipFill>
          <a:blip r:embed="rId3"/>
          <a:stretch>
            <a:fillRect/>
          </a:stretch>
        </p:blipFill>
        <p:spPr>
          <a:xfrm>
            <a:off x="7040880" y="2062235"/>
            <a:ext cx="4434840" cy="30992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800" b="1" dirty="0">
                <a:solidFill>
                  <a:srgbClr val="0A3377"/>
                </a:solidFill>
              </a:rPr>
              <a:t>Conferência do cadastro técnico</a:t>
            </a:r>
            <a:endParaRPr lang="en-US" sz="28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ENGENHARIA</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Shape 5"/>
          <p:cNvSpPr/>
          <p:nvPr/>
        </p:nvSpPr>
        <p:spPr>
          <a:xfrm>
            <a:off x="640080" y="1417320"/>
            <a:ext cx="5760720" cy="4434840"/>
          </a:xfrm>
          <a:prstGeom prst="roundRect">
            <a:avLst>
              <a:gd name="adj" fmla="val 2474"/>
            </a:avLst>
          </a:prstGeom>
          <a:solidFill>
            <a:srgbClr val="FFFFFF"/>
          </a:solidFill>
          <a:ln w="9525">
            <a:solidFill>
              <a:srgbClr val="C9D6EA"/>
            </a:solidFill>
            <a:prstDash val="solid"/>
          </a:ln>
          <a:effectLst>
            <a:outerShdw sx="100000" sy="100000" kx="0" ky="0" algn="bl" rotWithShape="0" blurRad="76200" dist="12700" dir="5400000">
              <a:srgbClr val="0A3377">
                <a:alpha val="8000"/>
              </a:srgbClr>
            </a:outerShdw>
          </a:effectLst>
        </p:spPr>
      </p:sp>
      <p:sp>
        <p:nvSpPr>
          <p:cNvPr id="10" name="Shape 6"/>
          <p:cNvSpPr/>
          <p:nvPr/>
        </p:nvSpPr>
        <p:spPr>
          <a:xfrm>
            <a:off x="749808" y="1417320"/>
            <a:ext cx="5541264" cy="45720"/>
          </a:xfrm>
          <a:prstGeom prst="rect">
            <a:avLst/>
          </a:prstGeom>
          <a:solidFill>
            <a:srgbClr val="38D4FF"/>
          </a:solidFill>
          <a:ln w="12700">
            <a:solidFill>
              <a:srgbClr val="38D4FF"/>
            </a:solidFill>
            <a:prstDash val="solid"/>
          </a:ln>
        </p:spPr>
      </p:sp>
      <p:sp>
        <p:nvSpPr>
          <p:cNvPr id="11" name="Text 7"/>
          <p:cNvSpPr txBox="1"/>
          <p:nvPr/>
        </p:nvSpPr>
        <p:spPr>
          <a:xfrm>
            <a:off x="868680" y="1645920"/>
            <a:ext cx="5303520" cy="4023360"/>
          </a:xfrm>
          <a:prstGeom prst="rect">
            <a:avLst/>
          </a:prstGeom>
          <a:noFill/>
          <a:ln/>
        </p:spPr>
        <p:txBody>
          <a:bodyPr wrap="square" lIns="0" tIns="0" rIns="0" bIns="0" rtlCol="0" anchor="t"/>
          <a:lstStyle/>
          <a:p>
            <a:pPr marL="152400" indent="-152400">
              <a:spcAft>
                <a:spcPts val="400"/>
              </a:spcAft>
              <a:buSzPct val="100000"/>
              <a:buChar char="•"/>
            </a:pPr>
            <a:r>
              <a:rPr lang="en-US" sz="1600" dirty="0">
                <a:solidFill>
                  <a:srgbClr val="5B6B88"/>
                </a:solidFill>
              </a:rPr>
              <a:t>A confiabilidade do resultado da modelagem é diretamente resultado de um cadastro técnico bem feito.</a:t>
            </a:r>
            <a:endParaRPr lang="en-US" sz="1600" dirty="0"/>
          </a:p>
          <a:p>
            <a:pPr marL="152400" indent="-152400">
              <a:spcAft>
                <a:spcPts val="400"/>
              </a:spcAft>
              <a:buSzPct val="100000"/>
              <a:buChar char="•"/>
            </a:pPr>
            <a:r>
              <a:rPr lang="en-US" sz="1600" dirty="0">
                <a:solidFill>
                  <a:srgbClr val="5B6B88"/>
                </a:solidFill>
              </a:rPr>
              <a:t>No presente caso, a conferência do cadastro foi fundamental na solução do problema da Braz Leme, onde constava rede circular diâmetro 1200 mm onde na realidade era galeria quadrada 1500 x 1400 mm</a:t>
            </a:r>
            <a:endParaRPr lang="en-US" sz="1600" dirty="0"/>
          </a:p>
        </p:txBody>
      </p:sp>
      <p:sp>
        <p:nvSpPr>
          <p:cNvPr id="12" name="Shape 8"/>
          <p:cNvSpPr/>
          <p:nvPr/>
        </p:nvSpPr>
        <p:spPr>
          <a:xfrm>
            <a:off x="6675120" y="1417320"/>
            <a:ext cx="4892040" cy="2514600"/>
          </a:xfrm>
          <a:prstGeom prst="roundRect">
            <a:avLst>
              <a:gd name="adj" fmla="val 4364"/>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3" name="Image 2" descr="/tmp/claude-0/-home-user-norte-sul-portfolio/b828416d-028b-56b8-943d-a9bc67fc20c3/scratchpad/pptx_out/fx/m8_cadastro.jpg">    </p:cNvPr>
          <p:cNvPicPr>
            <a:picLocks noChangeAspect="1"/>
          </p:cNvPicPr>
          <p:nvPr/>
        </p:nvPicPr>
        <p:blipFill>
          <a:blip r:embed="rId3"/>
          <a:stretch>
            <a:fillRect/>
          </a:stretch>
        </p:blipFill>
        <p:spPr>
          <a:xfrm>
            <a:off x="7754834" y="1508760"/>
            <a:ext cx="2732612" cy="2331720"/>
          </a:xfrm>
          <a:prstGeom prst="rect">
            <a:avLst/>
          </a:prstGeom>
        </p:spPr>
      </p:pic>
      <p:sp>
        <p:nvSpPr>
          <p:cNvPr id="14" name="Shape 9"/>
          <p:cNvSpPr/>
          <p:nvPr/>
        </p:nvSpPr>
        <p:spPr>
          <a:xfrm>
            <a:off x="6675120" y="4069080"/>
            <a:ext cx="4892040" cy="1783080"/>
          </a:xfrm>
          <a:prstGeom prst="roundRect">
            <a:avLst>
              <a:gd name="adj" fmla="val 6154"/>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5" name="Image 3" descr="/tmp/claude-0/-home-user-norte-sul-portfolio/b828416d-028b-56b8-943d-a9bc67fc20c3/scratchpad/pptx_out/fx/m8_planta.jpg">    </p:cNvPr>
          <p:cNvPicPr>
            <a:picLocks noChangeAspect="1"/>
          </p:cNvPicPr>
          <p:nvPr/>
        </p:nvPicPr>
        <p:blipFill>
          <a:blip r:embed="rId4"/>
          <a:stretch>
            <a:fillRect/>
          </a:stretch>
        </p:blipFill>
        <p:spPr>
          <a:xfrm>
            <a:off x="6891684" y="4160520"/>
            <a:ext cx="4458913" cy="160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800" b="1" dirty="0">
                <a:solidFill>
                  <a:srgbClr val="0A3377"/>
                </a:solidFill>
              </a:rPr>
              <a:t>Parâmetros Hidrológicos</a:t>
            </a:r>
            <a:endParaRPr lang="en-US" sz="28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ENGENHARIA</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Shape 5"/>
          <p:cNvSpPr/>
          <p:nvPr/>
        </p:nvSpPr>
        <p:spPr>
          <a:xfrm>
            <a:off x="640080" y="1417320"/>
            <a:ext cx="4937760" cy="4434840"/>
          </a:xfrm>
          <a:prstGeom prst="roundRect">
            <a:avLst>
              <a:gd name="adj" fmla="val 2474"/>
            </a:avLst>
          </a:prstGeom>
          <a:solidFill>
            <a:srgbClr val="FFFFFF"/>
          </a:solidFill>
          <a:ln w="9525">
            <a:solidFill>
              <a:srgbClr val="C9D6EA"/>
            </a:solidFill>
            <a:prstDash val="solid"/>
          </a:ln>
          <a:effectLst>
            <a:outerShdw sx="100000" sy="100000" kx="0" ky="0" algn="bl" rotWithShape="0" blurRad="76200" dist="12700" dir="5400000">
              <a:srgbClr val="0A3377">
                <a:alpha val="8000"/>
              </a:srgbClr>
            </a:outerShdw>
          </a:effectLst>
        </p:spPr>
      </p:sp>
      <p:sp>
        <p:nvSpPr>
          <p:cNvPr id="10" name="Shape 6"/>
          <p:cNvSpPr/>
          <p:nvPr/>
        </p:nvSpPr>
        <p:spPr>
          <a:xfrm>
            <a:off x="749808" y="1417320"/>
            <a:ext cx="4718304" cy="45720"/>
          </a:xfrm>
          <a:prstGeom prst="rect">
            <a:avLst/>
          </a:prstGeom>
          <a:solidFill>
            <a:srgbClr val="38D4FF"/>
          </a:solidFill>
          <a:ln w="12700">
            <a:solidFill>
              <a:srgbClr val="38D4FF"/>
            </a:solidFill>
            <a:prstDash val="solid"/>
          </a:ln>
        </p:spPr>
      </p:sp>
      <p:sp>
        <p:nvSpPr>
          <p:cNvPr id="11" name="Text 7"/>
          <p:cNvSpPr txBox="1"/>
          <p:nvPr/>
        </p:nvSpPr>
        <p:spPr>
          <a:xfrm>
            <a:off x="868680" y="1645920"/>
            <a:ext cx="4480560" cy="402336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5B6B88"/>
                </a:solidFill>
              </a:rPr>
              <a:t>Com os dados da micro bacia relativos ao tempo de concentração e a intensidade de chuvas é definido o hietograma que representa o comportamento das chuvas durante um período determinado.</a:t>
            </a:r>
            <a:endParaRPr lang="en-US" sz="1400" dirty="0"/>
          </a:p>
          <a:p>
            <a:pPr marL="152400" indent="-152400">
              <a:spcAft>
                <a:spcPts val="400"/>
              </a:spcAft>
              <a:buSzPct val="100000"/>
              <a:buChar char="•"/>
            </a:pPr>
            <a:r>
              <a:rPr lang="en-US" sz="1400" dirty="0">
                <a:solidFill>
                  <a:srgbClr val="5B6B88"/>
                </a:solidFill>
              </a:rPr>
              <a:t>Em termos simples, ele funciona como o "perfil" de uma tempestade, mostrando exatamente em quais momentos a chuva foi mais fraca, quando atingiu o seu pico (o chamado extremo ou pico do hietograma) e quando começou a cessar.</a:t>
            </a:r>
            <a:endParaRPr lang="en-US" sz="1400" dirty="0"/>
          </a:p>
        </p:txBody>
      </p:sp>
      <p:sp>
        <p:nvSpPr>
          <p:cNvPr id="12" name="Shape 8"/>
          <p:cNvSpPr/>
          <p:nvPr/>
        </p:nvSpPr>
        <p:spPr>
          <a:xfrm>
            <a:off x="5852160" y="1417320"/>
            <a:ext cx="5715000" cy="4434840"/>
          </a:xfrm>
          <a:prstGeom prst="roundRect">
            <a:avLst>
              <a:gd name="adj" fmla="val 2474"/>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3" name="Image 2" descr="/tmp/claude-0/-home-user-norte-sul-portfolio/b828416d-028b-56b8-943d-a9bc67fc20c3/scratchpad/pptx_out/fx/m9_hieto.jpg">    </p:cNvPr>
          <p:cNvPicPr>
            <a:picLocks noChangeAspect="1"/>
          </p:cNvPicPr>
          <p:nvPr/>
        </p:nvPicPr>
        <p:blipFill>
          <a:blip r:embed="rId3"/>
          <a:stretch>
            <a:fillRect/>
          </a:stretch>
        </p:blipFill>
        <p:spPr>
          <a:xfrm>
            <a:off x="5943600" y="1759725"/>
            <a:ext cx="5532120" cy="3439135"/>
          </a:xfrm>
          <a:prstGeom prst="rect">
            <a:avLst/>
          </a:prstGeom>
        </p:spPr>
      </p:pic>
      <p:sp>
        <p:nvSpPr>
          <p:cNvPr id="14" name="Text 9"/>
          <p:cNvSpPr txBox="1"/>
          <p:nvPr/>
        </p:nvSpPr>
        <p:spPr>
          <a:xfrm>
            <a:off x="5961888" y="5504688"/>
            <a:ext cx="5495544" cy="310896"/>
          </a:xfrm>
          <a:prstGeom prst="rect">
            <a:avLst/>
          </a:prstGeom>
          <a:noFill/>
          <a:ln/>
        </p:spPr>
        <p:txBody>
          <a:bodyPr wrap="square" lIns="0" tIns="0" rIns="0" bIns="0" rtlCol="0" anchor="ctr"/>
          <a:lstStyle/>
          <a:p>
            <a:pPr algn="ctr" indent="0" marL="0">
              <a:buNone/>
            </a:pPr>
            <a:r>
              <a:rPr lang="en-US" sz="950" i="1" dirty="0">
                <a:solidFill>
                  <a:srgbClr val="5B6B88"/>
                </a:solidFill>
              </a:rPr>
              <a:t>Hietograma da micro para uma chuva com duração de 60 minutos.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endParaRPr lang="en-US" sz="28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A ESTRATÉGIA</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Shape 5"/>
          <p:cNvSpPr/>
          <p:nvPr/>
        </p:nvSpPr>
        <p:spPr>
          <a:xfrm>
            <a:off x="640080" y="1737360"/>
            <a:ext cx="3520440" cy="3566160"/>
          </a:xfrm>
          <a:prstGeom prst="roundRect">
            <a:avLst>
              <a:gd name="adj" fmla="val 3117"/>
            </a:avLst>
          </a:prstGeom>
          <a:solidFill>
            <a:srgbClr val="FFFFFF"/>
          </a:solidFill>
          <a:ln w="9525">
            <a:solidFill>
              <a:srgbClr val="C9D6EA"/>
            </a:solidFill>
            <a:prstDash val="solid"/>
          </a:ln>
          <a:effectLst>
            <a:outerShdw sx="100000" sy="100000" kx="0" ky="0" algn="bl" rotWithShape="0" blurRad="76200" dist="12700" dir="5400000">
              <a:srgbClr val="0A3377">
                <a:alpha val="8000"/>
              </a:srgbClr>
            </a:outerShdw>
          </a:effectLst>
        </p:spPr>
      </p:sp>
      <p:sp>
        <p:nvSpPr>
          <p:cNvPr id="10" name="Shape 6"/>
          <p:cNvSpPr/>
          <p:nvPr/>
        </p:nvSpPr>
        <p:spPr>
          <a:xfrm>
            <a:off x="749808" y="1737360"/>
            <a:ext cx="3300984" cy="45720"/>
          </a:xfrm>
          <a:prstGeom prst="rect">
            <a:avLst/>
          </a:prstGeom>
          <a:solidFill>
            <a:srgbClr val="38D4FF"/>
          </a:solidFill>
          <a:ln w="12700">
            <a:solidFill>
              <a:srgbClr val="38D4FF"/>
            </a:solidFill>
            <a:prstDash val="solid"/>
          </a:ln>
        </p:spPr>
      </p:sp>
      <p:sp>
        <p:nvSpPr>
          <p:cNvPr id="11" name="Text 7"/>
          <p:cNvSpPr txBox="1"/>
          <p:nvPr/>
        </p:nvSpPr>
        <p:spPr>
          <a:xfrm>
            <a:off x="868680" y="1965960"/>
            <a:ext cx="3063240" cy="502920"/>
          </a:xfrm>
          <a:prstGeom prst="rect">
            <a:avLst/>
          </a:prstGeom>
          <a:noFill/>
          <a:ln/>
        </p:spPr>
        <p:txBody>
          <a:bodyPr wrap="square" lIns="0" tIns="0" rIns="0" bIns="0" rtlCol="0" anchor="t"/>
          <a:lstStyle/>
          <a:p>
            <a:pPr indent="0" marL="0">
              <a:buNone/>
            </a:pPr>
            <a:r>
              <a:rPr lang="en-US" sz="2200" b="1" dirty="0">
                <a:solidFill>
                  <a:srgbClr val="0A3377"/>
                </a:solidFill>
              </a:rPr>
              <a:t>Captação na Fonte</a:t>
            </a:r>
            <a:endParaRPr lang="en-US" sz="2200" dirty="0"/>
          </a:p>
        </p:txBody>
      </p:sp>
      <p:sp>
        <p:nvSpPr>
          <p:cNvPr id="12" name="Text 8"/>
          <p:cNvSpPr txBox="1"/>
          <p:nvPr/>
        </p:nvSpPr>
        <p:spPr>
          <a:xfrm>
            <a:off x="868680" y="2514600"/>
            <a:ext cx="3063240" cy="2606040"/>
          </a:xfrm>
          <a:prstGeom prst="rect">
            <a:avLst/>
          </a:prstGeom>
          <a:noFill/>
          <a:ln/>
        </p:spPr>
        <p:txBody>
          <a:bodyPr wrap="square" lIns="0" tIns="0" rIns="0" bIns="0" rtlCol="0" anchor="t"/>
          <a:lstStyle/>
          <a:p>
            <a:pPr indent="0" marL="0">
              <a:buNone/>
            </a:pPr>
            <a:r>
              <a:rPr lang="en-US" sz="1800" dirty="0">
                <a:solidFill>
                  <a:srgbClr val="5B6B88"/>
                </a:solidFill>
              </a:rPr>
              <a:t>Bocas de lobo interceptam a chuva nas cotas intermediárias, desviando o fluxo para o interior das galerias tanques de retardo antes de atingir o fundo de vale.</a:t>
            </a:r>
            <a:endParaRPr lang="en-US" sz="1800" dirty="0"/>
          </a:p>
        </p:txBody>
      </p:sp>
      <p:sp>
        <p:nvSpPr>
          <p:cNvPr id="13" name="Shape 9"/>
          <p:cNvSpPr/>
          <p:nvPr/>
        </p:nvSpPr>
        <p:spPr>
          <a:xfrm>
            <a:off x="4343400" y="1737360"/>
            <a:ext cx="3520440" cy="3566160"/>
          </a:xfrm>
          <a:prstGeom prst="roundRect">
            <a:avLst>
              <a:gd name="adj" fmla="val 3117"/>
            </a:avLst>
          </a:prstGeom>
          <a:solidFill>
            <a:srgbClr val="FFFFFF"/>
          </a:solidFill>
          <a:ln w="9525">
            <a:solidFill>
              <a:srgbClr val="C9D6EA"/>
            </a:solidFill>
            <a:prstDash val="solid"/>
          </a:ln>
          <a:effectLst>
            <a:outerShdw sx="100000" sy="100000" kx="0" ky="0" algn="bl" rotWithShape="0" blurRad="76200" dist="12700" dir="5400000">
              <a:srgbClr val="0A3377">
                <a:alpha val="8000"/>
              </a:srgbClr>
            </a:outerShdw>
          </a:effectLst>
        </p:spPr>
      </p:sp>
      <p:sp>
        <p:nvSpPr>
          <p:cNvPr id="14" name="Shape 10"/>
          <p:cNvSpPr/>
          <p:nvPr/>
        </p:nvSpPr>
        <p:spPr>
          <a:xfrm>
            <a:off x="4453128" y="1737360"/>
            <a:ext cx="3300984" cy="45720"/>
          </a:xfrm>
          <a:prstGeom prst="rect">
            <a:avLst/>
          </a:prstGeom>
          <a:solidFill>
            <a:srgbClr val="38D4FF"/>
          </a:solidFill>
          <a:ln w="12700">
            <a:solidFill>
              <a:srgbClr val="38D4FF"/>
            </a:solidFill>
            <a:prstDash val="solid"/>
          </a:ln>
        </p:spPr>
      </p:sp>
      <p:sp>
        <p:nvSpPr>
          <p:cNvPr id="15" name="Text 11"/>
          <p:cNvSpPr txBox="1"/>
          <p:nvPr/>
        </p:nvSpPr>
        <p:spPr>
          <a:xfrm>
            <a:off x="4572000" y="1965960"/>
            <a:ext cx="3063240" cy="502920"/>
          </a:xfrm>
          <a:prstGeom prst="rect">
            <a:avLst/>
          </a:prstGeom>
          <a:noFill/>
          <a:ln/>
        </p:spPr>
        <p:txBody>
          <a:bodyPr wrap="square" lIns="0" tIns="0" rIns="0" bIns="0" rtlCol="0" anchor="t"/>
          <a:lstStyle/>
          <a:p>
            <a:pPr indent="0" marL="0">
              <a:buNone/>
            </a:pPr>
            <a:r>
              <a:rPr lang="en-US" sz="2200" b="1" dirty="0">
                <a:solidFill>
                  <a:srgbClr val="0A3377"/>
                </a:solidFill>
              </a:rPr>
              <a:t>Retenção Temporária</a:t>
            </a:r>
            <a:endParaRPr lang="en-US" sz="2200" dirty="0"/>
          </a:p>
        </p:txBody>
      </p:sp>
      <p:sp>
        <p:nvSpPr>
          <p:cNvPr id="16" name="Text 12"/>
          <p:cNvSpPr txBox="1"/>
          <p:nvPr/>
        </p:nvSpPr>
        <p:spPr>
          <a:xfrm>
            <a:off x="4572000" y="2514600"/>
            <a:ext cx="3063240" cy="2606040"/>
          </a:xfrm>
          <a:prstGeom prst="rect">
            <a:avLst/>
          </a:prstGeom>
          <a:noFill/>
          <a:ln/>
        </p:spPr>
        <p:txBody>
          <a:bodyPr wrap="square" lIns="0" tIns="0" rIns="0" bIns="0" rtlCol="0" anchor="t"/>
          <a:lstStyle/>
          <a:p>
            <a:pPr indent="0" marL="0">
              <a:buNone/>
            </a:pPr>
            <a:r>
              <a:rPr lang="en-US" sz="1800" dirty="0">
                <a:solidFill>
                  <a:srgbClr val="5B6B88"/>
                </a:solidFill>
              </a:rPr>
              <a:t>As galerias tanques de retardo armazenam o volume excedente que sobrecarregaria as estruturas de fundo de vale durante as chuvas.</a:t>
            </a:r>
            <a:endParaRPr lang="en-US" sz="1800" dirty="0"/>
          </a:p>
        </p:txBody>
      </p:sp>
      <p:sp>
        <p:nvSpPr>
          <p:cNvPr id="17" name="Shape 13"/>
          <p:cNvSpPr/>
          <p:nvPr/>
        </p:nvSpPr>
        <p:spPr>
          <a:xfrm>
            <a:off x="8046720" y="1737360"/>
            <a:ext cx="3520440" cy="3566160"/>
          </a:xfrm>
          <a:prstGeom prst="roundRect">
            <a:avLst>
              <a:gd name="adj" fmla="val 3117"/>
            </a:avLst>
          </a:prstGeom>
          <a:solidFill>
            <a:srgbClr val="FFFFFF"/>
          </a:solidFill>
          <a:ln w="9525">
            <a:solidFill>
              <a:srgbClr val="C9D6EA"/>
            </a:solidFill>
            <a:prstDash val="solid"/>
          </a:ln>
          <a:effectLst>
            <a:outerShdw sx="100000" sy="100000" kx="0" ky="0" algn="bl" rotWithShape="0" blurRad="76200" dist="12700" dir="5400000">
              <a:srgbClr val="0A3377">
                <a:alpha val="8000"/>
              </a:srgbClr>
            </a:outerShdw>
          </a:effectLst>
        </p:spPr>
      </p:sp>
      <p:sp>
        <p:nvSpPr>
          <p:cNvPr id="18" name="Shape 14"/>
          <p:cNvSpPr/>
          <p:nvPr/>
        </p:nvSpPr>
        <p:spPr>
          <a:xfrm>
            <a:off x="8156448" y="1737360"/>
            <a:ext cx="3300984" cy="45720"/>
          </a:xfrm>
          <a:prstGeom prst="rect">
            <a:avLst/>
          </a:prstGeom>
          <a:solidFill>
            <a:srgbClr val="38D4FF"/>
          </a:solidFill>
          <a:ln w="12700">
            <a:solidFill>
              <a:srgbClr val="38D4FF"/>
            </a:solidFill>
            <a:prstDash val="solid"/>
          </a:ln>
        </p:spPr>
      </p:sp>
      <p:sp>
        <p:nvSpPr>
          <p:cNvPr id="19" name="Text 15"/>
          <p:cNvSpPr txBox="1"/>
          <p:nvPr/>
        </p:nvSpPr>
        <p:spPr>
          <a:xfrm>
            <a:off x="8275320" y="1965960"/>
            <a:ext cx="3063240" cy="502920"/>
          </a:xfrm>
          <a:prstGeom prst="rect">
            <a:avLst/>
          </a:prstGeom>
          <a:noFill/>
          <a:ln/>
        </p:spPr>
        <p:txBody>
          <a:bodyPr wrap="square" lIns="0" tIns="0" rIns="0" bIns="0" rtlCol="0" anchor="t"/>
          <a:lstStyle/>
          <a:p>
            <a:pPr indent="0" marL="0">
              <a:buNone/>
            </a:pPr>
            <a:r>
              <a:rPr lang="en-US" sz="2200" b="1" dirty="0">
                <a:solidFill>
                  <a:srgbClr val="0A3377"/>
                </a:solidFill>
              </a:rPr>
              <a:t>Descarga Controlada</a:t>
            </a:r>
            <a:endParaRPr lang="en-US" sz="2200" dirty="0"/>
          </a:p>
        </p:txBody>
      </p:sp>
      <p:sp>
        <p:nvSpPr>
          <p:cNvPr id="20" name="Text 16"/>
          <p:cNvSpPr txBox="1"/>
          <p:nvPr/>
        </p:nvSpPr>
        <p:spPr>
          <a:xfrm>
            <a:off x="8275320" y="2514600"/>
            <a:ext cx="3063240" cy="2606040"/>
          </a:xfrm>
          <a:prstGeom prst="rect">
            <a:avLst/>
          </a:prstGeom>
          <a:noFill/>
          <a:ln/>
        </p:spPr>
        <p:txBody>
          <a:bodyPr wrap="square" lIns="0" tIns="0" rIns="0" bIns="0" rtlCol="0" anchor="t"/>
          <a:lstStyle/>
          <a:p>
            <a:pPr indent="0" marL="0">
              <a:buNone/>
            </a:pPr>
            <a:r>
              <a:rPr lang="en-US" sz="1800" dirty="0">
                <a:solidFill>
                  <a:srgbClr val="5B6B88"/>
                </a:solidFill>
              </a:rPr>
              <a:t>A água armazenada é liberada de forma contínua, dentro da capacidade nominal da infraestrutura existente a jusante.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800" b="1" dirty="0">
                <a:solidFill>
                  <a:srgbClr val="0A3377"/>
                </a:solidFill>
              </a:rPr>
              <a:t>O que são galerias tanque de retardo?</a:t>
            </a:r>
            <a:endParaRPr lang="en-US" sz="28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ENGENHARIA</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Shape 5"/>
          <p:cNvSpPr/>
          <p:nvPr/>
        </p:nvSpPr>
        <p:spPr>
          <a:xfrm>
            <a:off x="640080" y="1417320"/>
            <a:ext cx="5120640" cy="4434840"/>
          </a:xfrm>
          <a:prstGeom prst="roundRect">
            <a:avLst>
              <a:gd name="adj" fmla="val 2474"/>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0" name="Image 2" descr="/tmp/claude-0/-home-user-norte-sul-portfolio/b828416d-028b-56b8-943d-a9bc67fc20c3/scratchpad/pptx_out/fx/m11_iso.jpg">    </p:cNvPr>
          <p:cNvPicPr>
            <a:picLocks noChangeAspect="1"/>
          </p:cNvPicPr>
          <p:nvPr/>
        </p:nvPicPr>
        <p:blipFill>
          <a:blip r:embed="rId3"/>
          <a:stretch>
            <a:fillRect/>
          </a:stretch>
        </p:blipFill>
        <p:spPr>
          <a:xfrm>
            <a:off x="731520" y="2410176"/>
            <a:ext cx="4937760" cy="2449129"/>
          </a:xfrm>
          <a:prstGeom prst="rect">
            <a:avLst/>
          </a:prstGeom>
        </p:spPr>
      </p:pic>
      <p:sp>
        <p:nvSpPr>
          <p:cNvPr id="11" name="Shape 6"/>
          <p:cNvSpPr/>
          <p:nvPr/>
        </p:nvSpPr>
        <p:spPr>
          <a:xfrm>
            <a:off x="5943600" y="1417320"/>
            <a:ext cx="5623560" cy="4434840"/>
          </a:xfrm>
          <a:prstGeom prst="roundRect">
            <a:avLst>
              <a:gd name="adj" fmla="val 2474"/>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2" name="Image 3" descr="/tmp/claude-0/-home-user-norte-sul-portfolio/b828416d-028b-56b8-943d-a9bc67fc20c3/scratchpad/pptx_out/fx/m11_corte.jpg">    </p:cNvPr>
          <p:cNvPicPr>
            <a:picLocks noChangeAspect="1"/>
          </p:cNvPicPr>
          <p:nvPr/>
        </p:nvPicPr>
        <p:blipFill>
          <a:blip r:embed="rId4"/>
          <a:stretch>
            <a:fillRect/>
          </a:stretch>
        </p:blipFill>
        <p:spPr>
          <a:xfrm>
            <a:off x="6035040" y="2118979"/>
            <a:ext cx="5440680" cy="303152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800" b="1" dirty="0">
                <a:solidFill>
                  <a:srgbClr val="0A3377"/>
                </a:solidFill>
              </a:rPr>
              <a:t>MTR em trechos com GAP</a:t>
            </a:r>
            <a:endParaRPr lang="en-US" sz="28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ENGENHARIA</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Shape 5"/>
          <p:cNvSpPr/>
          <p:nvPr/>
        </p:nvSpPr>
        <p:spPr>
          <a:xfrm>
            <a:off x="640080" y="1325880"/>
            <a:ext cx="10927080" cy="4572000"/>
          </a:xfrm>
          <a:prstGeom prst="roundRect">
            <a:avLst>
              <a:gd name="adj" fmla="val 2400"/>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0" name="Image 2" descr="/tmp/claude-0/-home-user-norte-sul-portfolio/b828416d-028b-56b8-943d-a9bc67fc20c3/scratchpad/pptx_out/fx/m12_gap.jpg">    </p:cNvPr>
          <p:cNvPicPr>
            <a:picLocks noChangeAspect="1"/>
          </p:cNvPicPr>
          <p:nvPr/>
        </p:nvPicPr>
        <p:blipFill>
          <a:blip r:embed="rId3"/>
          <a:stretch>
            <a:fillRect/>
          </a:stretch>
        </p:blipFill>
        <p:spPr>
          <a:xfrm>
            <a:off x="2285607" y="1417320"/>
            <a:ext cx="7636025" cy="43891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800" b="1" dirty="0">
                <a:solidFill>
                  <a:srgbClr val="0A3377"/>
                </a:solidFill>
              </a:rPr>
              <a:t>MTR em trechos sem GAP</a:t>
            </a:r>
            <a:endParaRPr lang="en-US" sz="28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ENGENHARIA</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Shape 5"/>
          <p:cNvSpPr/>
          <p:nvPr/>
        </p:nvSpPr>
        <p:spPr>
          <a:xfrm>
            <a:off x="640080" y="1325880"/>
            <a:ext cx="10927080" cy="4572000"/>
          </a:xfrm>
          <a:prstGeom prst="roundRect">
            <a:avLst>
              <a:gd name="adj" fmla="val 2400"/>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0" name="Image 2" descr="/tmp/claude-0/-home-user-norte-sul-portfolio/b828416d-028b-56b8-943d-a9bc67fc20c3/scratchpad/pptx_out/fx/m13_semgap.jpg">    </p:cNvPr>
          <p:cNvPicPr>
            <a:picLocks noChangeAspect="1"/>
          </p:cNvPicPr>
          <p:nvPr/>
        </p:nvPicPr>
        <p:blipFill>
          <a:blip r:embed="rId3"/>
          <a:stretch>
            <a:fillRect/>
          </a:stretch>
        </p:blipFill>
        <p:spPr>
          <a:xfrm>
            <a:off x="1186757" y="1417320"/>
            <a:ext cx="9833727" cy="43891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822960"/>
          </a:xfrm>
          <a:prstGeom prst="rect">
            <a:avLst/>
          </a:prstGeom>
          <a:noFill/>
          <a:ln/>
        </p:spPr>
        <p:txBody>
          <a:bodyPr wrap="square" lIns="0" tIns="0" rIns="0" bIns="0" rtlCol="0" anchor="t"/>
          <a:lstStyle/>
          <a:p>
            <a:pPr indent="0" marL="0">
              <a:buNone/>
            </a:pPr>
            <a:endParaRPr lang="en-US" sz="2800" dirty="0"/>
          </a:p>
        </p:txBody>
      </p:sp>
      <p:sp>
        <p:nvSpPr>
          <p:cNvPr id="3" name="Shape 1"/>
          <p:cNvSpPr/>
          <p:nvPr/>
        </p:nvSpPr>
        <p:spPr>
          <a:xfrm>
            <a:off x="0" y="6291072"/>
            <a:ext cx="12191695" cy="566928"/>
          </a:xfrm>
          <a:prstGeom prst="rect">
            <a:avLst/>
          </a:prstGeom>
          <a:solidFill>
            <a:srgbClr val="FFFFFF"/>
          </a:solidFill>
          <a:ln w="9525">
            <a:solidFill>
              <a:srgbClr val="C9D6EA"/>
            </a:solidFill>
            <a:prstDash val="solid"/>
          </a:ln>
        </p:spPr>
      </p:sp>
      <p:pic>
        <p:nvPicPr>
          <p:cNvPr id="4"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5" name="Shape 2"/>
          <p:cNvSpPr/>
          <p:nvPr/>
        </p:nvSpPr>
        <p:spPr>
          <a:xfrm>
            <a:off x="1188720" y="6419088"/>
            <a:ext cx="0" cy="310896"/>
          </a:xfrm>
          <a:prstGeom prst="line">
            <a:avLst/>
          </a:prstGeom>
          <a:noFill/>
          <a:ln w="9525">
            <a:solidFill>
              <a:srgbClr val="C9D6EA"/>
            </a:solidFill>
            <a:prstDash val="solid"/>
          </a:ln>
        </p:spPr>
      </p:sp>
      <p:pic>
        <p:nvPicPr>
          <p:cNvPr id="6"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7" name="Text 3"/>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8" name="Text 4"/>
          <p:cNvSpPr txBox="1"/>
          <p:nvPr/>
        </p:nvSpPr>
        <p:spPr>
          <a:xfrm>
            <a:off x="640080" y="2240280"/>
            <a:ext cx="5303520" cy="228600"/>
          </a:xfrm>
          <a:prstGeom prst="rect">
            <a:avLst/>
          </a:prstGeom>
          <a:noFill/>
          <a:ln/>
        </p:spPr>
        <p:txBody>
          <a:bodyPr wrap="square" lIns="0" tIns="0" rIns="0" bIns="0" rtlCol="0" anchor="ctr"/>
          <a:lstStyle/>
          <a:p>
            <a:pPr indent="0" marL="0">
              <a:buNone/>
            </a:pPr>
            <a:r>
              <a:rPr lang="en-US" sz="900" b="1" spc="300" kern="0" dirty="0">
                <a:solidFill>
                  <a:srgbClr val="38D4FF"/>
                </a:solidFill>
              </a:rPr>
              <a:t>ENGENHARIA</a:t>
            </a:r>
            <a:endParaRPr lang="en-US" sz="900" dirty="0"/>
          </a:p>
        </p:txBody>
      </p:sp>
      <p:sp>
        <p:nvSpPr>
          <p:cNvPr id="9" name="Text 5"/>
          <p:cNvSpPr txBox="1"/>
          <p:nvPr/>
        </p:nvSpPr>
        <p:spPr>
          <a:xfrm>
            <a:off x="640080" y="2514600"/>
            <a:ext cx="5303520" cy="1188720"/>
          </a:xfrm>
          <a:prstGeom prst="rect">
            <a:avLst/>
          </a:prstGeom>
          <a:noFill/>
          <a:ln/>
        </p:spPr>
        <p:txBody>
          <a:bodyPr wrap="square" lIns="0" tIns="0" rIns="0" bIns="0" rtlCol="0" anchor="t"/>
          <a:lstStyle/>
          <a:p>
            <a:pPr indent="0" marL="0">
              <a:buNone/>
            </a:pPr>
            <a:r>
              <a:rPr lang="en-US" sz="2800" b="1" dirty="0">
                <a:solidFill>
                  <a:srgbClr val="0A3377"/>
                </a:solidFill>
              </a:rPr>
              <a:t>DISTRIBUIÇÃO DAS</a:t>
            </a:r>
            <a:endParaRPr lang="en-US" sz="2800" dirty="0"/>
          </a:p>
          <a:p>
            <a:pPr indent="0" marL="0">
              <a:buNone/>
            </a:pPr>
            <a:r>
              <a:rPr lang="en-US" sz="2800" b="1" dirty="0">
                <a:solidFill>
                  <a:srgbClr val="0A3377"/>
                </a:solidFill>
              </a:rPr>
              <a:t>GALERIAS TANQUE DE RETARDO</a:t>
            </a:r>
            <a:endParaRPr lang="en-US" sz="2800" dirty="0"/>
          </a:p>
        </p:txBody>
      </p:sp>
      <p:sp>
        <p:nvSpPr>
          <p:cNvPr id="10" name="Shape 6"/>
          <p:cNvSpPr/>
          <p:nvPr/>
        </p:nvSpPr>
        <p:spPr>
          <a:xfrm>
            <a:off x="6217920" y="320040"/>
            <a:ext cx="5349240" cy="5623560"/>
          </a:xfrm>
          <a:prstGeom prst="roundRect">
            <a:avLst>
              <a:gd name="adj" fmla="val 2051"/>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1" name="Image 2" descr="/tmp/claude-0/-home-user-norte-sul-portfolio/b828416d-028b-56b8-943d-a9bc67fc20c3/scratchpad/pptx_out/fx/m14_distrib.jpg">    </p:cNvPr>
          <p:cNvPicPr>
            <a:picLocks noChangeAspect="1"/>
          </p:cNvPicPr>
          <p:nvPr/>
        </p:nvPicPr>
        <p:blipFill>
          <a:blip r:embed="rId3"/>
          <a:stretch>
            <a:fillRect/>
          </a:stretch>
        </p:blipFill>
        <p:spPr>
          <a:xfrm>
            <a:off x="6443327" y="411480"/>
            <a:ext cx="4898426" cy="54406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800" b="1" dirty="0">
                <a:solidFill>
                  <a:srgbClr val="0A3377"/>
                </a:solidFill>
              </a:rPr>
              <a:t>MANCHA DE INUNDAÇÃO</a:t>
            </a:r>
            <a:endParaRPr lang="en-US" sz="28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RESULTADO</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Shape 5"/>
          <p:cNvSpPr/>
          <p:nvPr/>
        </p:nvSpPr>
        <p:spPr>
          <a:xfrm>
            <a:off x="640080" y="1325880"/>
            <a:ext cx="5349240" cy="4572000"/>
          </a:xfrm>
          <a:prstGeom prst="roundRect">
            <a:avLst>
              <a:gd name="adj" fmla="val 2400"/>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0" name="Image 2" descr="/tmp/claude-0/-home-user-norte-sul-portfolio/b828416d-028b-56b8-943d-a9bc67fc20c3/scratchpad/pptx_out/fx/m15_atual.jpg">    </p:cNvPr>
          <p:cNvPicPr>
            <a:picLocks noChangeAspect="1"/>
          </p:cNvPicPr>
          <p:nvPr/>
        </p:nvPicPr>
        <p:blipFill>
          <a:blip r:embed="rId3"/>
          <a:stretch>
            <a:fillRect/>
          </a:stretch>
        </p:blipFill>
        <p:spPr>
          <a:xfrm>
            <a:off x="936056" y="1417320"/>
            <a:ext cx="4757289" cy="4078224"/>
          </a:xfrm>
          <a:prstGeom prst="rect">
            <a:avLst/>
          </a:prstGeom>
        </p:spPr>
      </p:pic>
      <p:sp>
        <p:nvSpPr>
          <p:cNvPr id="11" name="Text 6"/>
          <p:cNvSpPr txBox="1"/>
          <p:nvPr/>
        </p:nvSpPr>
        <p:spPr>
          <a:xfrm>
            <a:off x="749808" y="5550408"/>
            <a:ext cx="5129784" cy="310896"/>
          </a:xfrm>
          <a:prstGeom prst="rect">
            <a:avLst/>
          </a:prstGeom>
          <a:noFill/>
          <a:ln/>
        </p:spPr>
        <p:txBody>
          <a:bodyPr wrap="square" lIns="0" tIns="0" rIns="0" bIns="0" rtlCol="0" anchor="ctr"/>
          <a:lstStyle/>
          <a:p>
            <a:pPr algn="ctr" indent="0" marL="0">
              <a:buNone/>
            </a:pPr>
            <a:r>
              <a:rPr lang="en-US" sz="950" i="1" dirty="0">
                <a:solidFill>
                  <a:srgbClr val="5B6B88"/>
                </a:solidFill>
              </a:rPr>
              <a:t>CENÁRIO ATUAL</a:t>
            </a:r>
            <a:endParaRPr lang="en-US" sz="950" dirty="0"/>
          </a:p>
        </p:txBody>
      </p:sp>
      <p:sp>
        <p:nvSpPr>
          <p:cNvPr id="12" name="Shape 7"/>
          <p:cNvSpPr/>
          <p:nvPr/>
        </p:nvSpPr>
        <p:spPr>
          <a:xfrm>
            <a:off x="6217920" y="1325880"/>
            <a:ext cx="5349240" cy="4572000"/>
          </a:xfrm>
          <a:prstGeom prst="roundRect">
            <a:avLst>
              <a:gd name="adj" fmla="val 2400"/>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3" name="Image 3" descr="/tmp/claude-0/-home-user-norte-sul-portfolio/b828416d-028b-56b8-943d-a9bc67fc20c3/scratchpad/pptx_out/fx/m15_mtr.jpg">    </p:cNvPr>
          <p:cNvPicPr>
            <a:picLocks noChangeAspect="1"/>
          </p:cNvPicPr>
          <p:nvPr/>
        </p:nvPicPr>
        <p:blipFill>
          <a:blip r:embed="rId4"/>
          <a:stretch>
            <a:fillRect/>
          </a:stretch>
        </p:blipFill>
        <p:spPr>
          <a:xfrm>
            <a:off x="6513896" y="1417320"/>
            <a:ext cx="4757289" cy="4078224"/>
          </a:xfrm>
          <a:prstGeom prst="rect">
            <a:avLst/>
          </a:prstGeom>
        </p:spPr>
      </p:pic>
      <p:sp>
        <p:nvSpPr>
          <p:cNvPr id="14" name="Text 8"/>
          <p:cNvSpPr txBox="1"/>
          <p:nvPr/>
        </p:nvSpPr>
        <p:spPr>
          <a:xfrm>
            <a:off x="6327648" y="5550408"/>
            <a:ext cx="5129784" cy="310896"/>
          </a:xfrm>
          <a:prstGeom prst="rect">
            <a:avLst/>
          </a:prstGeom>
          <a:noFill/>
          <a:ln/>
        </p:spPr>
        <p:txBody>
          <a:bodyPr wrap="square" lIns="0" tIns="0" rIns="0" bIns="0" rtlCol="0" anchor="ctr"/>
          <a:lstStyle/>
          <a:p>
            <a:pPr algn="ctr" indent="0" marL="0">
              <a:buNone/>
            </a:pPr>
            <a:r>
              <a:rPr lang="en-US" sz="950" i="1" dirty="0">
                <a:solidFill>
                  <a:srgbClr val="5B6B88"/>
                </a:solidFill>
              </a:rPr>
              <a:t>COM MTR</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800" b="1" dirty="0">
                <a:solidFill>
                  <a:srgbClr val="0A3377"/>
                </a:solidFill>
              </a:rPr>
              <a:t>Vantagens da modelagem no diagnóstico de drenagem</a:t>
            </a:r>
            <a:endParaRPr lang="en-US" sz="28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INOVAÇÃO</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Shape 5"/>
          <p:cNvSpPr/>
          <p:nvPr/>
        </p:nvSpPr>
        <p:spPr>
          <a:xfrm>
            <a:off x="640080" y="1554480"/>
            <a:ext cx="3520440" cy="3840480"/>
          </a:xfrm>
          <a:prstGeom prst="roundRect">
            <a:avLst>
              <a:gd name="adj" fmla="val 3117"/>
            </a:avLst>
          </a:prstGeom>
          <a:solidFill>
            <a:srgbClr val="FFFFFF"/>
          </a:solidFill>
          <a:ln w="9525">
            <a:solidFill>
              <a:srgbClr val="C9D6EA"/>
            </a:solidFill>
            <a:prstDash val="solid"/>
          </a:ln>
          <a:effectLst>
            <a:outerShdw sx="100000" sy="100000" kx="0" ky="0" algn="bl" rotWithShape="0" blurRad="76200" dist="12700" dir="5400000">
              <a:srgbClr val="0A3377">
                <a:alpha val="8000"/>
              </a:srgbClr>
            </a:outerShdw>
          </a:effectLst>
        </p:spPr>
      </p:sp>
      <p:sp>
        <p:nvSpPr>
          <p:cNvPr id="10" name="Shape 6"/>
          <p:cNvSpPr/>
          <p:nvPr/>
        </p:nvSpPr>
        <p:spPr>
          <a:xfrm>
            <a:off x="749808" y="1554480"/>
            <a:ext cx="3300984" cy="45720"/>
          </a:xfrm>
          <a:prstGeom prst="rect">
            <a:avLst/>
          </a:prstGeom>
          <a:solidFill>
            <a:srgbClr val="38D4FF"/>
          </a:solidFill>
          <a:ln w="12700">
            <a:solidFill>
              <a:srgbClr val="38D4FF"/>
            </a:solidFill>
            <a:prstDash val="solid"/>
          </a:ln>
        </p:spPr>
      </p:sp>
      <p:sp>
        <p:nvSpPr>
          <p:cNvPr id="11" name="Text 7"/>
          <p:cNvSpPr txBox="1"/>
          <p:nvPr/>
        </p:nvSpPr>
        <p:spPr>
          <a:xfrm>
            <a:off x="868680" y="1783080"/>
            <a:ext cx="3063240" cy="822960"/>
          </a:xfrm>
          <a:prstGeom prst="rect">
            <a:avLst/>
          </a:prstGeom>
          <a:noFill/>
          <a:ln/>
        </p:spPr>
        <p:txBody>
          <a:bodyPr wrap="square" lIns="0" tIns="0" rIns="0" bIns="0" rtlCol="0" anchor="t"/>
          <a:lstStyle/>
          <a:p>
            <a:pPr indent="0" marL="0">
              <a:buNone/>
            </a:pPr>
            <a:r>
              <a:rPr lang="en-US" sz="1900" b="1" dirty="0">
                <a:solidFill>
                  <a:srgbClr val="0A3377"/>
                </a:solidFill>
              </a:rPr>
              <a:t>Otimização da Capacidade Hidráulica</a:t>
            </a:r>
            <a:endParaRPr lang="en-US" sz="1900" dirty="0"/>
          </a:p>
        </p:txBody>
      </p:sp>
      <p:sp>
        <p:nvSpPr>
          <p:cNvPr id="12" name="Text 8"/>
          <p:cNvSpPr txBox="1"/>
          <p:nvPr/>
        </p:nvSpPr>
        <p:spPr>
          <a:xfrm>
            <a:off x="868680" y="2651760"/>
            <a:ext cx="3063240" cy="2560320"/>
          </a:xfrm>
          <a:prstGeom prst="rect">
            <a:avLst/>
          </a:prstGeom>
          <a:noFill/>
          <a:ln/>
        </p:spPr>
        <p:txBody>
          <a:bodyPr wrap="square" lIns="0" tIns="0" rIns="0" bIns="0" rtlCol="0" anchor="t"/>
          <a:lstStyle/>
          <a:p>
            <a:pPr indent="0" marL="0">
              <a:buNone/>
            </a:pPr>
            <a:r>
              <a:rPr lang="en-US" sz="1650" dirty="0">
                <a:solidFill>
                  <a:srgbClr val="5B6B88"/>
                </a:solidFill>
              </a:rPr>
              <a:t>A simulação hidráulica evita obras superdimensionadas, encontrando o diâmetro e a declividade exatos para cada trecho.</a:t>
            </a:r>
            <a:endParaRPr lang="en-US" sz="1650" dirty="0"/>
          </a:p>
        </p:txBody>
      </p:sp>
      <p:sp>
        <p:nvSpPr>
          <p:cNvPr id="13" name="Shape 9"/>
          <p:cNvSpPr/>
          <p:nvPr/>
        </p:nvSpPr>
        <p:spPr>
          <a:xfrm>
            <a:off x="4343400" y="1554480"/>
            <a:ext cx="3520440" cy="3840480"/>
          </a:xfrm>
          <a:prstGeom prst="roundRect">
            <a:avLst>
              <a:gd name="adj" fmla="val 3117"/>
            </a:avLst>
          </a:prstGeom>
          <a:solidFill>
            <a:srgbClr val="FFFFFF"/>
          </a:solidFill>
          <a:ln w="9525">
            <a:solidFill>
              <a:srgbClr val="C9D6EA"/>
            </a:solidFill>
            <a:prstDash val="solid"/>
          </a:ln>
          <a:effectLst>
            <a:outerShdw sx="100000" sy="100000" kx="0" ky="0" algn="bl" rotWithShape="0" blurRad="76200" dist="12700" dir="5400000">
              <a:srgbClr val="0A3377">
                <a:alpha val="8000"/>
              </a:srgbClr>
            </a:outerShdw>
          </a:effectLst>
        </p:spPr>
      </p:sp>
      <p:sp>
        <p:nvSpPr>
          <p:cNvPr id="14" name="Shape 10"/>
          <p:cNvSpPr/>
          <p:nvPr/>
        </p:nvSpPr>
        <p:spPr>
          <a:xfrm>
            <a:off x="4453128" y="1554480"/>
            <a:ext cx="3300984" cy="45720"/>
          </a:xfrm>
          <a:prstGeom prst="rect">
            <a:avLst/>
          </a:prstGeom>
          <a:solidFill>
            <a:srgbClr val="38D4FF"/>
          </a:solidFill>
          <a:ln w="12700">
            <a:solidFill>
              <a:srgbClr val="38D4FF"/>
            </a:solidFill>
            <a:prstDash val="solid"/>
          </a:ln>
        </p:spPr>
      </p:sp>
      <p:sp>
        <p:nvSpPr>
          <p:cNvPr id="15" name="Text 11"/>
          <p:cNvSpPr txBox="1"/>
          <p:nvPr/>
        </p:nvSpPr>
        <p:spPr>
          <a:xfrm>
            <a:off x="4572000" y="1783080"/>
            <a:ext cx="3063240" cy="1143000"/>
          </a:xfrm>
          <a:prstGeom prst="rect">
            <a:avLst/>
          </a:prstGeom>
          <a:noFill/>
          <a:ln/>
        </p:spPr>
        <p:txBody>
          <a:bodyPr wrap="square" lIns="0" tIns="0" rIns="0" bIns="0" rtlCol="0" anchor="t"/>
          <a:lstStyle/>
          <a:p>
            <a:pPr indent="0" marL="0">
              <a:buNone/>
            </a:pPr>
            <a:r>
              <a:rPr lang="en-US" sz="1900" b="1" dirty="0">
                <a:solidFill>
                  <a:srgbClr val="0A3377"/>
                </a:solidFill>
              </a:rPr>
              <a:t>Investimento com a máxima eficiência e menor custo global</a:t>
            </a:r>
            <a:endParaRPr lang="en-US" sz="1900" dirty="0"/>
          </a:p>
        </p:txBody>
      </p:sp>
      <p:sp>
        <p:nvSpPr>
          <p:cNvPr id="16" name="Text 12"/>
          <p:cNvSpPr txBox="1"/>
          <p:nvPr/>
        </p:nvSpPr>
        <p:spPr>
          <a:xfrm>
            <a:off x="4572000" y="2971800"/>
            <a:ext cx="3063240" cy="2240280"/>
          </a:xfrm>
          <a:prstGeom prst="rect">
            <a:avLst/>
          </a:prstGeom>
          <a:noFill/>
          <a:ln/>
        </p:spPr>
        <p:txBody>
          <a:bodyPr wrap="square" lIns="0" tIns="0" rIns="0" bIns="0" rtlCol="0" anchor="t"/>
          <a:lstStyle/>
          <a:p>
            <a:pPr indent="0" marL="0">
              <a:buNone/>
            </a:pPr>
            <a:r>
              <a:rPr lang="en-US" sz="1650" dirty="0">
                <a:solidFill>
                  <a:srgbClr val="5B6B88"/>
                </a:solidFill>
              </a:rPr>
              <a:t>Você conhece o resultado antes de investir.</a:t>
            </a:r>
            <a:endParaRPr lang="en-US" sz="1650" dirty="0"/>
          </a:p>
        </p:txBody>
      </p:sp>
      <p:sp>
        <p:nvSpPr>
          <p:cNvPr id="17" name="Shape 13"/>
          <p:cNvSpPr/>
          <p:nvPr/>
        </p:nvSpPr>
        <p:spPr>
          <a:xfrm>
            <a:off x="8046720" y="1554480"/>
            <a:ext cx="3520440" cy="3840480"/>
          </a:xfrm>
          <a:prstGeom prst="roundRect">
            <a:avLst>
              <a:gd name="adj" fmla="val 3117"/>
            </a:avLst>
          </a:prstGeom>
          <a:solidFill>
            <a:srgbClr val="FFFFFF"/>
          </a:solidFill>
          <a:ln w="9525">
            <a:solidFill>
              <a:srgbClr val="C9D6EA"/>
            </a:solidFill>
            <a:prstDash val="solid"/>
          </a:ln>
          <a:effectLst>
            <a:outerShdw sx="100000" sy="100000" kx="0" ky="0" algn="bl" rotWithShape="0" blurRad="76200" dist="12700" dir="5400000">
              <a:srgbClr val="0A3377">
                <a:alpha val="8000"/>
              </a:srgbClr>
            </a:outerShdw>
          </a:effectLst>
        </p:spPr>
      </p:sp>
      <p:sp>
        <p:nvSpPr>
          <p:cNvPr id="18" name="Shape 14"/>
          <p:cNvSpPr/>
          <p:nvPr/>
        </p:nvSpPr>
        <p:spPr>
          <a:xfrm>
            <a:off x="8156448" y="1554480"/>
            <a:ext cx="3300984" cy="45720"/>
          </a:xfrm>
          <a:prstGeom prst="rect">
            <a:avLst/>
          </a:prstGeom>
          <a:solidFill>
            <a:srgbClr val="38D4FF"/>
          </a:solidFill>
          <a:ln w="12700">
            <a:solidFill>
              <a:srgbClr val="38D4FF"/>
            </a:solidFill>
            <a:prstDash val="solid"/>
          </a:ln>
        </p:spPr>
      </p:sp>
      <p:sp>
        <p:nvSpPr>
          <p:cNvPr id="19" name="Text 15"/>
          <p:cNvSpPr txBox="1"/>
          <p:nvPr/>
        </p:nvSpPr>
        <p:spPr>
          <a:xfrm>
            <a:off x="8275320" y="1783080"/>
            <a:ext cx="3063240" cy="1143000"/>
          </a:xfrm>
          <a:prstGeom prst="rect">
            <a:avLst/>
          </a:prstGeom>
          <a:noFill/>
          <a:ln/>
        </p:spPr>
        <p:txBody>
          <a:bodyPr wrap="square" lIns="0" tIns="0" rIns="0" bIns="0" rtlCol="0" anchor="t"/>
          <a:lstStyle/>
          <a:p>
            <a:pPr indent="0" marL="0">
              <a:buNone/>
            </a:pPr>
            <a:r>
              <a:rPr lang="en-US" sz="1900" b="1" dirty="0">
                <a:solidFill>
                  <a:srgbClr val="0A3377"/>
                </a:solidFill>
              </a:rPr>
              <a:t>Possibilita simulações para infraestrutura Verde (SUDS)</a:t>
            </a:r>
            <a:endParaRPr lang="en-US" sz="1900" dirty="0"/>
          </a:p>
        </p:txBody>
      </p:sp>
      <p:sp>
        <p:nvSpPr>
          <p:cNvPr id="20" name="Text 16"/>
          <p:cNvSpPr txBox="1"/>
          <p:nvPr/>
        </p:nvSpPr>
        <p:spPr>
          <a:xfrm>
            <a:off x="8275320" y="3017520"/>
            <a:ext cx="3063240" cy="2286000"/>
          </a:xfrm>
          <a:prstGeom prst="rect">
            <a:avLst/>
          </a:prstGeom>
          <a:noFill/>
          <a:ln/>
        </p:spPr>
        <p:txBody>
          <a:bodyPr wrap="square" lIns="0" tIns="0" rIns="0" bIns="0" rtlCol="0" anchor="t"/>
          <a:lstStyle/>
          <a:p>
            <a:pPr marL="152400" indent="-152400">
              <a:spcAft>
                <a:spcPts val="800"/>
              </a:spcAft>
              <a:buSzPct val="100000"/>
              <a:buChar char="•"/>
            </a:pPr>
            <a:r>
              <a:rPr lang="en-US" sz="1650" b="1" dirty="0">
                <a:solidFill>
                  <a:srgbClr val="0A3377"/>
                </a:solidFill>
              </a:rPr>
              <a:t>Jardins de Chuva: </a:t>
            </a:r>
            <a:r>
              <a:rPr lang="en-US" sz="1650" dirty="0">
                <a:solidFill>
                  <a:srgbClr val="5B6B88"/>
                </a:solidFill>
              </a:rPr>
              <a:t>Biorretenção e infiltração na fonte</a:t>
            </a:r>
            <a:endParaRPr lang="en-US" sz="1650" dirty="0"/>
          </a:p>
          <a:p>
            <a:pPr marL="152400" indent="-152400">
              <a:spcAft>
                <a:spcPts val="800"/>
              </a:spcAft>
              <a:buSzPct val="100000"/>
              <a:buChar char="•"/>
            </a:pPr>
            <a:r>
              <a:rPr lang="en-US" sz="1650" b="1" dirty="0">
                <a:solidFill>
                  <a:srgbClr val="0A3377"/>
                </a:solidFill>
              </a:rPr>
              <a:t>Pavimentos Permeáveis: </a:t>
            </a:r>
            <a:r>
              <a:rPr lang="en-US" sz="1650" dirty="0">
                <a:solidFill>
                  <a:srgbClr val="5B6B88"/>
                </a:solidFill>
              </a:rPr>
              <a:t>Retenção direta no piso urbano.</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38D4FF"/>
        </a:solidFill>
      </p:bgPr>
    </p:bg>
    <p:spTree>
      <p:nvGrpSpPr>
        <p:cNvPr id="1" name=""/>
        <p:cNvGrpSpPr/>
        <p:nvPr/>
      </p:nvGrpSpPr>
      <p:grpSpPr>
        <a:xfrm>
          <a:off x="0" y="0"/>
          <a:ext cx="0" cy="0"/>
          <a:chOff x="0" y="0"/>
          <a:chExt cx="0" cy="0"/>
        </a:xfrm>
      </p:grpSpPr>
      <p:sp>
        <p:nvSpPr>
          <p:cNvPr id="2" name="Text 0"/>
          <p:cNvSpPr txBox="1"/>
          <p:nvPr/>
        </p:nvSpPr>
        <p:spPr>
          <a:xfrm>
            <a:off x="640080" y="1097280"/>
            <a:ext cx="6400800" cy="1005840"/>
          </a:xfrm>
          <a:prstGeom prst="rect">
            <a:avLst/>
          </a:prstGeom>
          <a:noFill/>
          <a:ln/>
        </p:spPr>
        <p:txBody>
          <a:bodyPr wrap="square" lIns="0" tIns="0" rIns="0" bIns="0" rtlCol="0" anchor="b"/>
          <a:lstStyle/>
          <a:p>
            <a:pPr indent="0" marL="0">
              <a:buNone/>
            </a:pPr>
            <a:r>
              <a:rPr lang="en-US" sz="4800" b="1" dirty="0">
                <a:solidFill>
                  <a:srgbClr val="0A3377"/>
                </a:solidFill>
              </a:rPr>
              <a:t>OBRIGADO:</a:t>
            </a:r>
            <a:endParaRPr lang="en-US" sz="4800" dirty="0"/>
          </a:p>
        </p:txBody>
      </p:sp>
      <p:sp>
        <p:nvSpPr>
          <p:cNvPr id="3" name="Text 1"/>
          <p:cNvSpPr txBox="1"/>
          <p:nvPr/>
        </p:nvSpPr>
        <p:spPr>
          <a:xfrm>
            <a:off x="640080" y="2377440"/>
            <a:ext cx="5852160" cy="2926080"/>
          </a:xfrm>
          <a:prstGeom prst="rect">
            <a:avLst/>
          </a:prstGeom>
          <a:noFill/>
          <a:ln/>
        </p:spPr>
        <p:txBody>
          <a:bodyPr wrap="square" lIns="0" tIns="0" rIns="0" bIns="0" rtlCol="0" anchor="t"/>
          <a:lstStyle/>
          <a:p>
            <a:pPr indent="0" marL="0">
              <a:buNone/>
            </a:pPr>
            <a:r>
              <a:rPr lang="en-US" sz="1600" b="1" dirty="0">
                <a:solidFill>
                  <a:srgbClr val="0A3377"/>
                </a:solidFill>
              </a:rPr>
              <a:t>Arnaldo Boa Sorte de Oliveira</a:t>
            </a:r>
            <a:endParaRPr lang="en-US" sz="1600" dirty="0"/>
          </a:p>
          <a:p>
            <a:pPr indent="0" marL="0">
              <a:buNone/>
            </a:pPr>
            <a:r>
              <a:rPr lang="en-US" sz="1300" dirty="0">
                <a:solidFill>
                  <a:srgbClr val="0A3377"/>
                </a:solidFill>
              </a:rPr>
              <a:t>Consultor Sênior Norte Sul Hidrotecnologia</a:t>
            </a:r>
            <a:endParaRPr lang="en-US" sz="1600" dirty="0"/>
          </a:p>
          <a:p>
            <a:pPr indent="0" marL="0">
              <a:buNone/>
            </a:pPr>
            <a:r>
              <a:rPr lang="en-US" sz="1300" dirty="0">
                <a:solidFill>
                  <a:srgbClr val="0A3377"/>
                </a:solidFill>
              </a:rPr>
              <a:t>Gestao.servicostec@nortesultec.com.br</a:t>
            </a:r>
            <a:endParaRPr lang="en-US" sz="1600" dirty="0"/>
          </a:p>
          <a:p>
            <a:pPr indent="0" marL="0">
              <a:buNone/>
            </a:pPr>
            <a:r>
              <a:rPr lang="en-US" sz="800" dirty="0">
                <a:solidFill>
                  <a:srgbClr val="0A3377"/>
                </a:solidFill>
              </a:rPr>
              <a:t> </a:t>
            </a:r>
            <a:endParaRPr lang="en-US" sz="1600" dirty="0"/>
          </a:p>
          <a:p>
            <a:pPr indent="0" marL="0">
              <a:buNone/>
            </a:pPr>
            <a:r>
              <a:rPr lang="en-US" sz="1600" b="1" dirty="0">
                <a:solidFill>
                  <a:srgbClr val="0A3377"/>
                </a:solidFill>
              </a:rPr>
              <a:t>Luan Pacheco</a:t>
            </a:r>
            <a:endParaRPr lang="en-US" sz="1600" dirty="0"/>
          </a:p>
          <a:p>
            <a:pPr indent="0" marL="0">
              <a:buNone/>
            </a:pPr>
            <a:r>
              <a:rPr lang="en-US" sz="1300" dirty="0">
                <a:solidFill>
                  <a:srgbClr val="0A3377"/>
                </a:solidFill>
              </a:rPr>
              <a:t>Técnico em Saneamento – Norte Sul Hidrotecnologia</a:t>
            </a:r>
            <a:endParaRPr lang="en-US" sz="1600" dirty="0"/>
          </a:p>
          <a:p>
            <a:pPr indent="0" marL="0">
              <a:buNone/>
            </a:pPr>
            <a:r>
              <a:rPr lang="en-US" sz="1300" dirty="0">
                <a:solidFill>
                  <a:srgbClr val="0A3377"/>
                </a:solidFill>
              </a:rPr>
              <a:t>Servicostec.sp1@nortesultec.com.br</a:t>
            </a:r>
            <a:endParaRPr lang="en-US" sz="16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Tree>
  </p:cSld>
  <p:clrMapOvr>
    <a:masterClrMapping/>
  </p:clrMapOvr>
</p:sld>
</file>

<file path=ppt/theme/theme1.xml><?xml version="1.0" encoding="utf-8"?>
<a:theme xmlns:a="http://schemas.openxmlformats.org/drawingml/2006/main" name="Gestão Performance">
  <a:themeElements>
    <a:clrScheme name="Gestão Performance">
      <a:dk1>
        <a:srgbClr val="05204E"/>
      </a:dk1>
      <a:lt1>
        <a:srgbClr val="FFFFFF"/>
      </a:lt1>
      <a:dk2>
        <a:srgbClr val="0A3377"/>
      </a:dk2>
      <a:lt2>
        <a:srgbClr val="F3F6FB"/>
      </a:lt2>
      <a:accent1>
        <a:srgbClr val="38D4FF"/>
      </a:accent1>
      <a:accent2>
        <a:srgbClr val="0A3377"/>
      </a:accent2>
      <a:accent3>
        <a:srgbClr val="0E3F8C"/>
      </a:accent3>
      <a:accent4>
        <a:srgbClr val="5B6B88"/>
      </a:accent4>
      <a:accent5>
        <a:srgbClr val="CFE6FF"/>
      </a:accent5>
      <a:accent6>
        <a:srgbClr val="C9D6EA"/>
      </a:accent6>
      <a:hlink>
        <a:srgbClr val="0563C1"/>
      </a:hlink>
      <a:folHlink>
        <a:srgbClr val="954F72"/>
      </a:folHlink>
    </a:clrScheme>
    <a:fontScheme name="Gestão Performan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Norte Sul Hidrotecnologia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2026-10-20T05:17:45Z</dcterms:created>
  <dcterms:modified xsi:type="dcterms:W3CDTF">2026-10-20T05:17:45Z</dcterms:modified>
</cp:coreProperties>
</file>