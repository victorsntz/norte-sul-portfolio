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image" Target="../media/image-7-5.jpg"/><Relationship Id="rId6" Type="http://schemas.openxmlformats.org/officeDocument/2006/relationships/image" Target="../media/image-7-6.jpg"/><Relationship Id="rId7" Type="http://schemas.openxmlformats.org/officeDocument/2006/relationships/image" Target="../media/image-7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502920"/>
            <a:ext cx="4663440" cy="5212080"/>
          </a:xfrm>
          <a:prstGeom prst="roundRect">
            <a:avLst>
              <a:gd name="adj" fmla="val 6863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pic>
        <p:nvPicPr>
          <p:cNvPr id="3" name="Image 0" descr="/tmp/claude-0/-home-user-norte-sul-portfolio/b828416d-028b-56b8-943d-a9bc67fc20c3/scratchpad/pptx_out/cropped/psa_media/capa_4.8x5.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640080"/>
            <a:ext cx="4389120" cy="4937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822960"/>
            <a:ext cx="6035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PLANO DE SEGURANÇA DA ÁGUA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9319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20 de outubro de 2026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4864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Palestrante: Engª Rosângela C. M. de Carvalho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554480"/>
            <a:ext cx="73152" cy="23774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155448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Nós estamos em </a:t>
            </a:r>
            <a:r>
              <a:rPr lang="en-US" sz="3800" b="1" dirty="0">
                <a:solidFill>
                  <a:srgbClr val="38D4FF"/>
                </a:solidFill>
              </a:rPr>
              <a:t>perigo</a:t>
            </a:r>
            <a:r>
              <a:rPr lang="en-US" sz="3800" b="1" dirty="0">
                <a:solidFill>
                  <a:srgbClr val="FFFFFF"/>
                </a:solidFill>
              </a:rPr>
              <a:t> e </a:t>
            </a:r>
            <a:r>
              <a:rPr lang="en-US" sz="3800" b="1" dirty="0">
                <a:solidFill>
                  <a:srgbClr val="38D4FF"/>
                </a:solidFill>
              </a:rPr>
              <a:t>somos o perigo</a:t>
            </a:r>
            <a:r>
              <a:rPr lang="en-US" sz="3800" b="1" dirty="0">
                <a:solidFill>
                  <a:srgbClr val="FFFFFF"/>
                </a:solidFill>
              </a:rPr>
              <a:t>, mas podemos ser a </a:t>
            </a:r>
            <a:r>
              <a:rPr lang="en-US" sz="3800" b="1" dirty="0">
                <a:solidFill>
                  <a:srgbClr val="38D4FF"/>
                </a:solidFill>
              </a:rPr>
              <a:t>solução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4206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Frase da reunião da ONU no dia do Meio Ambiente – 05/06/2024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Mudanças Climáticas e seus efeitos em relação à água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SAÚDE PÚBLICA E SANEAMENTO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psa_media/clima_escassez_2.69x2.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44752"/>
            <a:ext cx="2459736" cy="20116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41248" y="3611880"/>
            <a:ext cx="2203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Escassez de Água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841248" y="4389120"/>
            <a:ext cx="2203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Diminuição das chuvas e a alteração dos padrões de precipitação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342900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14" name="Image 3" descr="/tmp/claude-0/-home-user-norte-sul-portfolio/b828416d-028b-56b8-943d-a9bc67fc20c3/scratchpad/pptx_out/cropped/psa_media/clima_poluicao_2.69x2.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152" y="1444752"/>
            <a:ext cx="2459736" cy="20116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630168" y="3611880"/>
            <a:ext cx="2203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Poluição das Águas Superficiais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3630168" y="4389120"/>
            <a:ext cx="2203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Aumento nas temperaturas pode afetar a qualidade da água</a:t>
            </a:r>
            <a:endParaRPr lang="en-US" sz="1350" dirty="0"/>
          </a:p>
        </p:txBody>
      </p:sp>
      <p:sp>
        <p:nvSpPr>
          <p:cNvPr id="17" name="Shape 11"/>
          <p:cNvSpPr/>
          <p:nvPr/>
        </p:nvSpPr>
        <p:spPr>
          <a:xfrm>
            <a:off x="621792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18" name="Image 4" descr="/tmp/claude-0/-home-user-norte-sul-portfolio/b828416d-028b-56b8-943d-a9bc67fc20c3/scratchpad/pptx_out/cropped/psa_media/clima_eventos_2.69x2.2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1072" y="1444752"/>
            <a:ext cx="2459736" cy="201168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419088" y="3611880"/>
            <a:ext cx="2203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Aumento de Eventos Climáticos Extremos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6419088" y="4389120"/>
            <a:ext cx="2203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Tempestades mais intensas e inundações podem causar o carreamento de poluentes para fontes de água</a:t>
            </a:r>
            <a:endParaRPr lang="en-US" sz="1350" dirty="0"/>
          </a:p>
        </p:txBody>
      </p:sp>
      <p:sp>
        <p:nvSpPr>
          <p:cNvPr id="21" name="Shape 14"/>
          <p:cNvSpPr/>
          <p:nvPr/>
        </p:nvSpPr>
        <p:spPr>
          <a:xfrm>
            <a:off x="900684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22" name="Image 5" descr="/tmp/claude-0/-home-user-norte-sul-portfolio/b828416d-028b-56b8-943d-a9bc67fc20c3/scratchpad/pptx_out/cropped/psa_media/clima_aquecimento_2.69x2.2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9992" y="1444752"/>
            <a:ext cx="2459736" cy="201168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9208008" y="3611880"/>
            <a:ext cx="22037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Aquecimento Global e Disseminação de doenças</a:t>
            </a:r>
            <a:endParaRPr lang="en-US" sz="1500" dirty="0"/>
          </a:p>
        </p:txBody>
      </p:sp>
      <p:sp>
        <p:nvSpPr>
          <p:cNvPr id="24" name="Text 16"/>
          <p:cNvSpPr txBox="1"/>
          <p:nvPr/>
        </p:nvSpPr>
        <p:spPr>
          <a:xfrm>
            <a:off x="9208008" y="4389120"/>
            <a:ext cx="2203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O aumento das temperaturas pode favorecer a propagação de doenças transmitidas pela água.</a:t>
            </a:r>
            <a:endParaRPr lang="en-US" sz="1350" dirty="0"/>
          </a:p>
        </p:txBody>
      </p:sp>
      <p:sp>
        <p:nvSpPr>
          <p:cNvPr id="25" name="Text 17"/>
          <p:cNvSpPr txBox="1"/>
          <p:nvPr/>
        </p:nvSpPr>
        <p:spPr>
          <a:xfrm>
            <a:off x="640080" y="5897880"/>
            <a:ext cx="10927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B88"/>
                </a:solidFill>
              </a:rPr>
              <a:t>UCCW PSA Profª Roseane Souza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ONU - Resolução A/RES/64/292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4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640080" y="1371600"/>
            <a:ext cx="658368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749808" y="1371600"/>
            <a:ext cx="63642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160020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A ONU na Assembleia geral em 2010 declarou: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196596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88"/>
                </a:solidFill>
              </a:rPr>
              <a:t>“A água limpa e segura e o saneamento, é um direito humano essencial para gozar plenamente a vida e todos os direitos humanos.”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3291840"/>
            <a:ext cx="658368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49808" y="3291840"/>
            <a:ext cx="63642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68680" y="352044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OMS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" y="388620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88"/>
                </a:solidFill>
              </a:rPr>
              <a:t>“Todas as pessoas, em quaisquer estágios de desenvolvimento e condições sócio-econômicas têm o direito de ter acesso a um suprimento adequado de água potável e segura”.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640080" y="530352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2960" y="53035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O que é água segura?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498080" y="1371600"/>
            <a:ext cx="406908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9" name="Image 2" descr="/tmp/claude-0/-home-user-norte-sul-portfolio/b828416d-028b-56b8-943d-a9bc67fc20c3/scratchpad/pptx_out/cropped/psa_media/onu_1_4.29x2.19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1232" y="1444752"/>
            <a:ext cx="3922776" cy="2002536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498080" y="3657600"/>
            <a:ext cx="406908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21" name="Image 3" descr="/tmp/claude-0/-home-user-norte-sul-portfolio/b828416d-028b-56b8-943d-a9bc67fc20c3/scratchpad/pptx_out/cropped/psa_media/onu_2_4.29x2.19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1232" y="3730752"/>
            <a:ext cx="3922776" cy="200253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40080" y="5943600"/>
            <a:ext cx="10927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B88"/>
                </a:solidFill>
              </a:rPr>
              <a:t>UCCW PSA – Profª Roseane Souza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ÁGUA SEGURA: DIREITO À SAÚDE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4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640080" y="1371600"/>
            <a:ext cx="5852160" cy="2148840"/>
          </a:xfrm>
          <a:prstGeom prst="roundRect">
            <a:avLst>
              <a:gd name="adj" fmla="val 5106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914400" y="16002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8D4FF"/>
                </a:solidFill>
              </a:rPr>
              <a:t>O que é água segura para OMS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914400" y="2011680"/>
            <a:ext cx="5303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“Segura”, neste contexto, refere-se a uma oferta de água que não representa um risco significativo à saúde, que é de quantidade suficiente para atender a todas as necessidades domésticas, que estão disponíveis continuamente e que tenham um custo acessível.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40080" y="3657600"/>
            <a:ext cx="1097280" cy="457200"/>
          </a:xfrm>
          <a:prstGeom prst="roundRect">
            <a:avLst>
              <a:gd name="adj" fmla="val 50000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40080" y="3657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3377"/>
                </a:solidFill>
              </a:rPr>
              <a:t>Qualidade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1828800" y="3657600"/>
            <a:ext cx="1097280" cy="457200"/>
          </a:xfrm>
          <a:prstGeom prst="roundRect">
            <a:avLst>
              <a:gd name="adj" fmla="val 50000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828800" y="3657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3377"/>
                </a:solidFill>
              </a:rPr>
              <a:t>Quantidade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3017520" y="3657600"/>
            <a:ext cx="1097280" cy="457200"/>
          </a:xfrm>
          <a:prstGeom prst="roundRect">
            <a:avLst>
              <a:gd name="adj" fmla="val 50000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017520" y="3657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3377"/>
                </a:solidFill>
              </a:rPr>
              <a:t>Continuidade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206240" y="3657600"/>
            <a:ext cx="1097280" cy="457200"/>
          </a:xfrm>
          <a:prstGeom prst="roundRect">
            <a:avLst>
              <a:gd name="adj" fmla="val 50000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206240" y="3657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3377"/>
                </a:solidFill>
              </a:rPr>
              <a:t>Cobertura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5394960" y="3657600"/>
            <a:ext cx="1097280" cy="457200"/>
          </a:xfrm>
          <a:prstGeom prst="roundRect">
            <a:avLst>
              <a:gd name="adj" fmla="val 50000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394960" y="3657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A3377"/>
                </a:solidFill>
              </a:rPr>
              <a:t>Custo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640080" y="4297680"/>
            <a:ext cx="58521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749808" y="4297680"/>
            <a:ext cx="563270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68680" y="452628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8"/>
                </a:solidFill>
              </a:rPr>
              <a:t>Erro em tratamento deixa água de cidade inteira cor-de-rosa no Canadá. Uma falha em válvula e entrou permanganato de potássio no reservatório.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6766560" y="1371600"/>
            <a:ext cx="480060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25" name="Image 2" descr="/tmp/claude-0/-home-user-norte-sul-portfolio/b828416d-028b-56b8-943d-a9bc67fc20c3/scratchpad/pptx_out/cropped/psa_media/segura_maos_5.09x2.19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712" y="1444752"/>
            <a:ext cx="4654296" cy="2002536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766560" y="3657600"/>
            <a:ext cx="1691640" cy="21488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27" name="Image 3" descr="/tmp/claude-0/-home-user-norte-sul-portfolio/b828416d-028b-56b8-943d-a9bc67fc20c3/scratchpad/pptx_out/cropped/psa_media/segura_rosa_1.69x2.19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9712" y="3730752"/>
            <a:ext cx="1545336" cy="2002536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8595360" y="3657600"/>
            <a:ext cx="297180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29" name="Image 4" descr="/tmp/claude-0/-home-user-norte-sul-portfolio/b828416d-028b-56b8-943d-a9bc67fc20c3/scratchpad/pptx_out/cropped/psa_media/segura_naopotavel_3.09x2.19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3730752"/>
            <a:ext cx="2825496" cy="200253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640080" y="5943600"/>
            <a:ext cx="10927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B88"/>
                </a:solidFill>
              </a:rPr>
              <a:t>UCCW PSA – Profª Roseane Souza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Níveis mínimos de acesso à água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4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123444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8"/>
                </a:solidFill>
              </a:rPr>
              <a:t>Comunicado da ONU sobre o direito humano à água e saneamento, os níveis mínimos de acesso à água devem ser compreendidos da seguinte forma: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640080" y="1874520"/>
            <a:ext cx="70408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1874520"/>
            <a:ext cx="457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1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280160" y="1874520"/>
            <a:ext cx="6217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3377"/>
                </a:solidFill>
              </a:rPr>
              <a:t>Suficiente:</a:t>
            </a:r>
            <a:r>
              <a:rPr lang="en-US" sz="1350" dirty="0">
                <a:solidFill>
                  <a:srgbClr val="5B6B88"/>
                </a:solidFill>
              </a:rPr>
              <a:t> o acesso à água entre 50 e 100 litros por pessoa ao dia.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40080" y="2679192"/>
            <a:ext cx="70408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" y="2679192"/>
            <a:ext cx="457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1280160" y="2679192"/>
            <a:ext cx="6217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3377"/>
                </a:solidFill>
              </a:rPr>
              <a:t>Segura:</a:t>
            </a:r>
            <a:r>
              <a:rPr lang="en-US" sz="1350" dirty="0">
                <a:solidFill>
                  <a:srgbClr val="5B6B88"/>
                </a:solidFill>
              </a:rPr>
              <a:t> água livre de microrganismos, substâncias químicas e ameaças radiológicas.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40080" y="3483864"/>
            <a:ext cx="70408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2960" y="3483864"/>
            <a:ext cx="457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1280160" y="3483864"/>
            <a:ext cx="6217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3377"/>
                </a:solidFill>
              </a:rPr>
              <a:t>Aceitável:</a:t>
            </a:r>
            <a:r>
              <a:rPr lang="en-US" sz="1350" dirty="0">
                <a:solidFill>
                  <a:srgbClr val="5B6B88"/>
                </a:solidFill>
              </a:rPr>
              <a:t> água deve estar sem sabor, cor e cheiro.</a:t>
            </a:r>
            <a:endParaRPr lang="en-US" sz="1350" dirty="0"/>
          </a:p>
        </p:txBody>
      </p:sp>
      <p:sp>
        <p:nvSpPr>
          <p:cNvPr id="18" name="Shape 14"/>
          <p:cNvSpPr/>
          <p:nvPr/>
        </p:nvSpPr>
        <p:spPr>
          <a:xfrm>
            <a:off x="640080" y="4288536"/>
            <a:ext cx="70408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22960" y="4288536"/>
            <a:ext cx="457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4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1280160" y="4288536"/>
            <a:ext cx="6217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3377"/>
                </a:solidFill>
              </a:rPr>
              <a:t>Acessível:</a:t>
            </a:r>
            <a:r>
              <a:rPr lang="en-US" sz="1350" dirty="0">
                <a:solidFill>
                  <a:srgbClr val="5B6B88"/>
                </a:solidFill>
              </a:rPr>
              <a:t> a menos de 1.000 metros do lar e com tempo de coleta não superior a 30 minutos por dia.</a:t>
            </a:r>
            <a:endParaRPr lang="en-US" sz="1350" dirty="0"/>
          </a:p>
        </p:txBody>
      </p:sp>
      <p:sp>
        <p:nvSpPr>
          <p:cNvPr id="21" name="Shape 17"/>
          <p:cNvSpPr/>
          <p:nvPr/>
        </p:nvSpPr>
        <p:spPr>
          <a:xfrm>
            <a:off x="640080" y="5093208"/>
            <a:ext cx="70408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22960" y="5093208"/>
            <a:ext cx="457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D4FF"/>
                </a:solidFill>
              </a:rPr>
              <a:t>5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1280160" y="5093208"/>
            <a:ext cx="6217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3377"/>
                </a:solidFill>
              </a:rPr>
              <a:t>Preços razoáveis:</a:t>
            </a:r>
            <a:r>
              <a:rPr lang="en-US" sz="1350" dirty="0">
                <a:solidFill>
                  <a:srgbClr val="5B6B88"/>
                </a:solidFill>
              </a:rPr>
              <a:t> custo do serviço não deve exceder 5% da renda</a:t>
            </a:r>
            <a:endParaRPr lang="en-US" sz="1350" dirty="0"/>
          </a:p>
        </p:txBody>
      </p:sp>
      <p:sp>
        <p:nvSpPr>
          <p:cNvPr id="24" name="Shape 20"/>
          <p:cNvSpPr/>
          <p:nvPr/>
        </p:nvSpPr>
        <p:spPr>
          <a:xfrm>
            <a:off x="7955280" y="1371600"/>
            <a:ext cx="3611880" cy="443484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25" name="Image 2" descr="/tmp/claude-0/-home-user-norte-sul-portfolio/b828416d-028b-56b8-943d-a9bc67fc20c3/scratchpad/pptx_out/cropped/psa_media/niveis_familia_3.79x4.37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432" y="1444752"/>
            <a:ext cx="3465576" cy="399592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065008" y="5477256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Famílias sem acesso à água</a:t>
            </a:r>
            <a:endParaRPr lang="en-US" sz="900" dirty="0"/>
          </a:p>
        </p:txBody>
      </p:sp>
      <p:sp>
        <p:nvSpPr>
          <p:cNvPr id="27" name="Text 22"/>
          <p:cNvSpPr txBox="1"/>
          <p:nvPr/>
        </p:nvSpPr>
        <p:spPr>
          <a:xfrm>
            <a:off x="640080" y="5943600"/>
            <a:ext cx="10927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B88"/>
                </a:solidFill>
              </a:rPr>
              <a:t>UCCW PSA – Profª Roseane Souza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Exigências do Consumidor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2057400" cy="44348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psa_media/exig_segura_2.09x2.9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44752"/>
            <a:ext cx="1911096" cy="26517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41248" y="4251960"/>
            <a:ext cx="16550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A água deve ser segura: água potável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2857500" y="1371600"/>
            <a:ext cx="2057400" cy="44348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psa_media/exig_sabor_2.09x2.9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0652" y="1444752"/>
            <a:ext cx="1911096" cy="265176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058668" y="4251960"/>
            <a:ext cx="16550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Deve ter sabor, odor e aparência agradáveis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5074920" y="1371600"/>
            <a:ext cx="2057400" cy="44348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16" name="Image 4" descr="/tmp/claude-0/-home-user-norte-sul-portfolio/b828416d-028b-56b8-943d-a9bc67fc20c3/scratchpad/pptx_out/cropped/psa_media/exig_preco_2.09x2.9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48072" y="1444752"/>
            <a:ext cx="1911096" cy="265176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276088" y="4251960"/>
            <a:ext cx="16550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Preço socialmente aceitável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7292340" y="1371600"/>
            <a:ext cx="2057400" cy="44348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19" name="Image 5" descr="/tmp/claude-0/-home-user-norte-sul-portfolio/b828416d-028b-56b8-943d-a9bc67fc20c3/scratchpad/pptx_out/cropped/psa_media/exig_quantidade_2.09x2.9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65492" y="1444752"/>
            <a:ext cx="1911096" cy="265176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493508" y="4251960"/>
            <a:ext cx="16550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Deve ter quantidade com fornecimento contínuo e pressão adequada</a:t>
            </a:r>
            <a:endParaRPr lang="en-US" sz="1400" dirty="0"/>
          </a:p>
        </p:txBody>
      </p:sp>
      <p:sp>
        <p:nvSpPr>
          <p:cNvPr id="21" name="Shape 13"/>
          <p:cNvSpPr/>
          <p:nvPr/>
        </p:nvSpPr>
        <p:spPr>
          <a:xfrm>
            <a:off x="9509760" y="1371600"/>
            <a:ext cx="2057400" cy="443484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pic>
        <p:nvPicPr>
          <p:cNvPr id="22" name="Image 6" descr="/tmp/claude-0/-home-user-norte-sul-portfolio/b828416d-028b-56b8-943d-a9bc67fc20c3/scratchpad/pptx_out/cropped/psa_media/exig_domestica_2.09x2.9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82912" y="1444752"/>
            <a:ext cx="1911096" cy="265176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9710928" y="4251960"/>
            <a:ext cx="16550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Deve atender às necessidades domésticas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LEGISLAÇÕES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4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Legislações e Normas que envolvem um PSA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4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114300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O PSA deve levar em consideração a legislação vigente a níveis federal, estaduais e municipais.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Algumas legislações e normas que envolvem um PSA: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40080" y="17373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73736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9659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A3377"/>
                </a:solidFill>
              </a:rPr>
              <a:t>Resolução CONAMA nº357/2005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423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B88"/>
                </a:solidFill>
              </a:rPr>
              <a:t>Dispõe sobre a classificação dos corpos de água e diretrizes ambientais para o seu enquadramento;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4343400" y="17373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453128" y="173736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572000" y="19659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A3377"/>
                </a:solidFill>
              </a:rPr>
              <a:t>Lei Federal nº11.445, de 5 de janeiro de 2007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2423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B88"/>
                </a:solidFill>
              </a:rPr>
              <a:t>Estabelece diretrizes nacionais para o saneamento básico; cria o Comitê Interministerial de Saneamento Básico; altera as leis nº 6.766 de 19 de dezembro de 1979; nº 8.036 de 11 de maio de 1990; nº 8.666 de 21 de junho de 1993; nº8.987 de 13 de fevereiro de 1995; revoga a Lei nº6.528 de 11 de maio de 1978; e dá outras providências.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8046720" y="17373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156448" y="173736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275320" y="19659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A3377"/>
                </a:solidFill>
              </a:rPr>
              <a:t>Resolução CONAMA nº396/2008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8275320" y="2423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B88"/>
                </a:solidFill>
              </a:rPr>
              <a:t>Dispõe sobre a classificação e diretrizes ambientais para o enquadramento das águas subterrâneas e dá outras providências;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640080" y="38862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749808" y="38862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68680" y="41148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A3377"/>
                </a:solidFill>
              </a:rPr>
              <a:t>Resolução nº467/2015</a:t>
            </a:r>
            <a:endParaRPr lang="en-US" sz="1150" dirty="0"/>
          </a:p>
        </p:txBody>
      </p:sp>
      <p:sp>
        <p:nvSpPr>
          <p:cNvPr id="24" name="Text 20"/>
          <p:cNvSpPr txBox="1"/>
          <p:nvPr/>
        </p:nvSpPr>
        <p:spPr>
          <a:xfrm>
            <a:off x="868680" y="4572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B88"/>
                </a:solidFill>
              </a:rPr>
              <a:t>Dispõe sobre critérios para a autorização de uso de produtos ou de agentes de processos físicos, químicos ou biológicos para o controle de organismos ou contaminantes em corpos hídricos superficiais;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4343400" y="38862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4453128" y="38862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572000" y="41148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A3377"/>
                </a:solidFill>
              </a:rPr>
              <a:t>Portaria GM/MS Nº888/2021</a:t>
            </a:r>
            <a:endParaRPr lang="en-US" sz="1150" dirty="0"/>
          </a:p>
        </p:txBody>
      </p:sp>
      <p:sp>
        <p:nvSpPr>
          <p:cNvPr id="28" name="Text 24"/>
          <p:cNvSpPr txBox="1"/>
          <p:nvPr/>
        </p:nvSpPr>
        <p:spPr>
          <a:xfrm>
            <a:off x="4572000" y="4572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B88"/>
                </a:solidFill>
              </a:rPr>
              <a:t>Altera o Anexo XX da Portaria de Consolidação GM/MS nº5, de 28 de setembro de 2017, para dispor sobre os procedimentos de controle e de vigilância da qualidade da água para consumo humano e seu padrão de potabilidade;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8046720" y="38862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8156448" y="38862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275320" y="41148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A3377"/>
                </a:solidFill>
              </a:rPr>
              <a:t>Norma Brasileira ABNT NBR 17080 de 2023</a:t>
            </a:r>
            <a:endParaRPr lang="en-US" sz="1150" dirty="0"/>
          </a:p>
        </p:txBody>
      </p:sp>
      <p:sp>
        <p:nvSpPr>
          <p:cNvPr id="32" name="Text 28"/>
          <p:cNvSpPr txBox="1"/>
          <p:nvPr/>
        </p:nvSpPr>
        <p:spPr>
          <a:xfrm>
            <a:off x="8275320" y="4572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B88"/>
                </a:solidFill>
              </a:rPr>
              <a:t>Esta Norma apresenta os requisitos para elaboração, implementação e avaliação de planos de segurança da água com finalidade de assegurar o fornecimento de água segura e potável, por meio de um enfoque de avaliação e gestão de risco desde o manancial ou fonte até o ponto de consumo, independentemente do seu porte e das tecnologias de tratamento utilizadas.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LEGISLAÇÃO – Portaria GM/MS 888/2021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4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640080" y="1371600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914400" y="1600200"/>
            <a:ext cx="10378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FFFFFF"/>
                </a:solidFill>
              </a:rPr>
              <a:t>Portaria GM/MS Nº888/2021 – Altera o Anexo XX da Portaria de Consolidação GM/MS nº5, de 28 de setembro de 2017, para dispor sobre os procedimentos de controle e de vigilância da qualidade da água para consumo humano e seu padrão de potabilidade;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O tema "Plano de Segurança da Água", está contemplado na Portaria GM/MS 888/21 Capítulo VIII - Disposições Finais e Transitórias no seguinte contexto: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640080" y="2926080"/>
            <a:ext cx="5349240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749808" y="292608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68680" y="31546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A3377"/>
                </a:solidFill>
              </a:rPr>
              <a:t>Art. 48.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3566160"/>
            <a:ext cx="48920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8"/>
                </a:solidFill>
              </a:rPr>
              <a:t>Sempre que forem identificadas situações de risco à saúde, os responsáveis pelo SAA (sistema de abastecimento de água para consumo humano) ou SAC (solução alternativa coletiva) e as autoridades de saúde pública devem, em conjunto, elaborar um plano de ação e tomar as medidas cabíveis, incluindo a eficaz comunicação à população, sem prejuízo das providências imediatas para a correção das não conformidades.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217920" y="2926080"/>
            <a:ext cx="5349240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27648" y="292608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446520" y="31546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A3377"/>
                </a:solidFill>
              </a:rPr>
              <a:t>Art. 49.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6446520" y="3566160"/>
            <a:ext cx="48920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8"/>
                </a:solidFill>
              </a:rPr>
              <a:t>A Autoridade de Saúde Pública poderá exigir dos responsáveis por SAA e SAC a elaboração e implementação de Plano de Segurança da Água (PSA), conforme a metodologia e o conteúdo preconizados pela Organização Mundial de Saúde ou definidos em diretrizes do Ministério da saúde, para fins de gestão preventiva de risco à saúde.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LEGISLAÇÃO – Portaria GM/MS 888/2021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4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640080" y="1371600"/>
            <a:ext cx="10927080" cy="1143000"/>
          </a:xfrm>
          <a:prstGeom prst="roundRect">
            <a:avLst>
              <a:gd name="adj" fmla="val 9600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914400" y="1600200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8D4FF"/>
                </a:solidFill>
              </a:rPr>
              <a:t>Art. 50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914400" y="2011680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É facultado ao responsável por SAA ou SAC solicitar à autoridade de saúde pública alteração dos parâmetros monitorados e da frequência mínima de amostragem, mediante apresentação de: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4008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749808" y="269748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68680" y="2926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I -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868680" y="32461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histórico mínimo de dois anos de monitoramento da qualidade da água bruta, tratada e distribuída, considerando o plano de amostragem estabelecido neste Anexo; e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21792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327648" y="269748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446520" y="2926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II -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32461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PSA, conforme Art. 49.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40080" y="4069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749808" y="406908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68680" y="42976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§ 1º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868680" y="461772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 autoridade de saúde pública deve emitir parecer sobre a solicitação prevista no caput deste Artigo, no prazo máximo de 120 (cento e vinte) dias, com base em análise fundamentada nos documentos referidos nos incisos I e II deste artigo.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217920" y="4069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6327648" y="406908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446520" y="42976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§ 2º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6446520" y="461772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As alterações do plano de amostragem autorizadas pela autoridade de saúde pública terão validade máxima de dois anos, podendo ser suspensa caso ocorram alterações na bacia hidrográfica ou nos sistemas e soluções alternativas coletivas de abastecimento de água que justifiquem.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LEGISLAÇÃO – Portaria GM/MS 888/2021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4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640080" y="137160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749808" y="13716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1600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8D4FF"/>
                </a:solidFill>
              </a:rPr>
              <a:t>§ 3º</a:t>
            </a:r>
            <a:endParaRPr lang="en-US" sz="32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103120"/>
            <a:ext cx="30632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88"/>
                </a:solidFill>
              </a:rPr>
              <a:t>Para renovação da autorização prevista no caput deste artigo, o responsável por SAA ou SAC deverá encaminhar à autoridade de saúde pública a solicitação de renovação acompanhada da revisão do PSA.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343400" y="137160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453128" y="13716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572000" y="1600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8D4FF"/>
                </a:solidFill>
              </a:rPr>
              <a:t>§ 4º</a:t>
            </a:r>
            <a:endParaRPr 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2103120"/>
            <a:ext cx="30632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88"/>
                </a:solidFill>
              </a:rPr>
              <a:t>A autoridade de saúde pública deve emitir parecer sobre a solicitação de renovação, no prazo máximo de 60 (sessenta) dias, com base na análise da revisão do PSA.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8046720" y="1371600"/>
            <a:ext cx="3520440" cy="44348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156448" y="13716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275320" y="160020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8D4FF"/>
                </a:solidFill>
              </a:rPr>
              <a:t>§ 5º</a:t>
            </a:r>
            <a:endParaRPr lang="en-US" sz="3200" dirty="0"/>
          </a:p>
        </p:txBody>
      </p:sp>
      <p:sp>
        <p:nvSpPr>
          <p:cNvPr id="19" name="Text 15"/>
          <p:cNvSpPr txBox="1"/>
          <p:nvPr/>
        </p:nvSpPr>
        <p:spPr>
          <a:xfrm>
            <a:off x="8275320" y="2103120"/>
            <a:ext cx="30632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88"/>
                </a:solidFill>
              </a:rPr>
              <a:t>Quando observada a não implementação do PSA por parte do responsável por SAA ou SAC, será exigido o cumprimento integral do plano de amostragem estabelecido neste Anexo.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PSA – PLANO DE SEGURANÇA DA ÁGUA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4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Publicações sobre PSA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4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640080" y="1600200"/>
            <a:ext cx="8138160" cy="3465576"/>
          </a:xfrm>
          <a:prstGeom prst="roundRect">
            <a:avLst>
              <a:gd name="adj" fmla="val 316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9" name="Image 2" descr="/tmp/claude-0/-home-user-norte-sul-portfolio/b828416d-028b-56b8-943d-a9bc67fc20c3/scratchpad/pptx_out/cropped/psa_media/publicacoes_8.74x3.6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673352"/>
            <a:ext cx="7991856" cy="3319272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9006840" y="1371600"/>
            <a:ext cx="2560320" cy="2999232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1" name="Image 3" descr="/tmp/claude-0/-home-user-norte-sul-portfolio/b828416d-028b-56b8-943d-a9bc67fc20c3/scratchpad/pptx_out/cropped/psa_media/nbr_2.64x3.1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9992" y="1444752"/>
            <a:ext cx="2414016" cy="285292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Publicações sobre PSA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4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640080" y="1371600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22960" y="1805940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051560" y="137160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3377"/>
                </a:solidFill>
              </a:rPr>
              <a:t>Bonn Charter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40080" y="2441448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875788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051560" y="2441448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3377"/>
                </a:solidFill>
              </a:rPr>
              <a:t>PSA para Sistemas Públicos – Univ. Minho – Portugal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3511296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2960" y="3945636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051560" y="3511296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3377"/>
                </a:solidFill>
              </a:rPr>
              <a:t>PSA para Sistemas Públicos IRAR (Depart. de Qualid. da Água do Instituto Regulador de Águas e Resíduos)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640080" y="4581144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22960" y="5015484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51560" y="4581144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3377"/>
                </a:solidFill>
              </a:rPr>
              <a:t>WSP Manual 2009 (Water Safety Plan Manual)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217920" y="1371600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400800" y="1805940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629400" y="137160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3377"/>
                </a:solidFill>
              </a:rPr>
              <a:t>User Manual -2012 (Water Safety Plan Quality Assurance Tool)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6217920" y="2441448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400800" y="2875788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629400" y="2441448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3377"/>
                </a:solidFill>
              </a:rPr>
              <a:t>Identification and description of hazard for water supply systems (Techneau)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6217920" y="3511296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400800" y="3945636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629400" y="3511296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3377"/>
                </a:solidFill>
              </a:rPr>
              <a:t>Plano de Segurança da água - 2012 (Ministério da Saúde)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6217920" y="4581144"/>
            <a:ext cx="5349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6400800" y="5015484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6629400" y="4581144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3377"/>
                </a:solidFill>
              </a:rPr>
              <a:t>Guidelines for Drinking-water Quality - FOURTH EDITION (World Health Organization 2011)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NORMA BRASILEIRA ABNT NBR - 2023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4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640080" y="1371600"/>
            <a:ext cx="3566160" cy="4178808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9" name="Image 2" descr="/tmp/claude-0/-home-user-norte-sul-portfolio/b828416d-028b-56b8-943d-a9bc67fc20c3/scratchpad/pptx_out/cropped/psa_media/nbr_3.74x4.41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44752"/>
            <a:ext cx="3419856" cy="4032504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4480560" y="1371600"/>
            <a:ext cx="7086600" cy="4178808"/>
          </a:xfrm>
          <a:prstGeom prst="roundRect">
            <a:avLst>
              <a:gd name="adj" fmla="val 2626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4754880" y="1600200"/>
            <a:ext cx="6537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8D4FF"/>
                </a:solidFill>
              </a:rPr>
              <a:t>Norma Brasileira ABNT NBR 17080 de 2023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4754880" y="2011680"/>
            <a:ext cx="6537960" cy="3355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Esta Norma apresenta os requisitos para elaboração, implementação e avaliação de planos de segurança da água com finalidade de assegurar o fornecimento de água segura e potável, por meio de um enfoque de avaliação e gestão de risco desde o manancial ou fonte até o ponto de consumo, independentemente do seu porte e das tecnologias de tratamento utilizadas.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Conceito de PSA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4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640080" y="137160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914400" y="160020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8D4FF"/>
                </a:solidFill>
              </a:rPr>
              <a:t>Planos de Segurança da Água (PSA), segundo a ABNT NBR 17080: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914400" y="2011680"/>
            <a:ext cx="4800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Documento, baseado na metodologia integrada de avaliação e gestão de riscos que englobe todas as etapas do abastecimento de água desde o manancial até o ponto de consumo, visando desenvolver medidas de controle para assegurar o fornecimento de água segura.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217920" y="137160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327648" y="137160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46520" y="1600200"/>
            <a:ext cx="48920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88"/>
                </a:solidFill>
              </a:rPr>
              <a:t>Definição segundo a OMS, Plano de Segurança da Água é uma ferramenta de avaliação e gerenciamento de riscos à saúde, associados aos sistemas de abastecimento de água, desde a captação até o consumidor (Ministério da Saúde, 2012)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Por que precisamos do PSA?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822960" y="1828800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37160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A3377"/>
                </a:solidFill>
              </a:rPr>
              <a:t>Redução de riscos de incidentes, que possam resultar em algum tipo de dano ao consumidor;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40080" y="2487168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944368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051560" y="248716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A3377"/>
                </a:solidFill>
              </a:rPr>
              <a:t>Identificação de perigos e Pontos de controle críticos em sistemas de abastecimento de água;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40080" y="3602736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22960" y="4059936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3602736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A3377"/>
                </a:solidFill>
              </a:rPr>
              <a:t>Orientação para o desenvolvimento e implantação de ações de controle e de monitoramento;</a:t>
            </a:r>
            <a:endParaRPr lang="en-US" sz="1350" dirty="0"/>
          </a:p>
        </p:txBody>
      </p:sp>
      <p:sp>
        <p:nvSpPr>
          <p:cNvPr id="18" name="Shape 14"/>
          <p:cNvSpPr/>
          <p:nvPr/>
        </p:nvSpPr>
        <p:spPr>
          <a:xfrm>
            <a:off x="640080" y="4718304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22960" y="5175504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051560" y="4718304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A3377"/>
                </a:solidFill>
              </a:rPr>
              <a:t>Baixa capacidade para o alerta rápido da população, em casos de contaminação da água</a:t>
            </a:r>
            <a:endParaRPr lang="en-US" sz="1350" dirty="0"/>
          </a:p>
        </p:txBody>
      </p:sp>
      <p:sp>
        <p:nvSpPr>
          <p:cNvPr id="21" name="Shape 17"/>
          <p:cNvSpPr/>
          <p:nvPr/>
        </p:nvSpPr>
        <p:spPr>
          <a:xfrm>
            <a:off x="6217920" y="1371600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400800" y="1828800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629400" y="137160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A3377"/>
                </a:solidFill>
              </a:rPr>
              <a:t>Risco epidemiológico: probabilidade de ocorrência de um evento ou agravo relacionado à saúde</a:t>
            </a:r>
            <a:endParaRPr lang="en-US" sz="1350" dirty="0"/>
          </a:p>
        </p:txBody>
      </p:sp>
      <p:sp>
        <p:nvSpPr>
          <p:cNvPr id="24" name="Shape 20"/>
          <p:cNvSpPr/>
          <p:nvPr/>
        </p:nvSpPr>
        <p:spPr>
          <a:xfrm>
            <a:off x="6217920" y="2487168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400800" y="2944368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629400" y="248716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A3377"/>
                </a:solidFill>
              </a:rPr>
              <a:t>As empresas tem foco nos custos e também querem garantir a reputação e credibilidade (imagem)</a:t>
            </a:r>
            <a:endParaRPr lang="en-US" sz="1350" dirty="0"/>
          </a:p>
        </p:txBody>
      </p:sp>
      <p:sp>
        <p:nvSpPr>
          <p:cNvPr id="27" name="Shape 23"/>
          <p:cNvSpPr/>
          <p:nvPr/>
        </p:nvSpPr>
        <p:spPr>
          <a:xfrm>
            <a:off x="6217920" y="3602736"/>
            <a:ext cx="53492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400800" y="4059936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29400" y="3602736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A3377"/>
                </a:solidFill>
              </a:rPr>
              <a:t>Mecanismos eficientes de alerta e resposta, regionais e/ou globais, acesso à informação e o apoio técnico e logístico,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Benefícios do PSA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822960" y="1655064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37160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Identificar perigos e riscos antecipando problemas mais sérios;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40080" y="2103120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386584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051560" y="210312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Compreensão mais clara dos papéis e responsabilidades;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40080" y="2834640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22960" y="3118104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283464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Orientar as decisões sobre investimentos, priorizando os recursos limitados de forma mais eficaz;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40080" y="3566160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22960" y="3849624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051560" y="356616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Claro direcionamento e justificativa de investimento com base no risco;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40080" y="4297680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22960" y="4581144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51560" y="429768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Reduzir custos no tratamento, tais como quantidade de análises, excesso de produtos químicos;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640080" y="5029200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22960" y="5312664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51560" y="502920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Aumentar a eficiência dos processos através da sistematização de documentos e procedimentos operacionais existentes;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6217920" y="1371600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6400800" y="1655064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29400" y="137160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Garantir o atendimento dos padrões de qualidade de água conforme a legislação vigente;</a:t>
            </a:r>
            <a:endParaRPr lang="en-US" sz="1150" dirty="0"/>
          </a:p>
        </p:txBody>
      </p:sp>
      <p:sp>
        <p:nvSpPr>
          <p:cNvPr id="30" name="Shape 26"/>
          <p:cNvSpPr/>
          <p:nvPr/>
        </p:nvSpPr>
        <p:spPr>
          <a:xfrm>
            <a:off x="6217920" y="2103120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6400800" y="2386584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629400" y="210312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Manter o sistema de abastecimento atualizada em relação aos novos desafios em relação à qualidade da água;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6217920" y="2834640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400800" y="3118104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629400" y="283464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Confiabilidade dos consumidores garantindo a Imagem do sistema de abastecimento de água;</a:t>
            </a:r>
            <a:endParaRPr lang="en-US" sz="1150" dirty="0"/>
          </a:p>
        </p:txBody>
      </p:sp>
      <p:sp>
        <p:nvSpPr>
          <p:cNvPr id="36" name="Shape 32"/>
          <p:cNvSpPr/>
          <p:nvPr/>
        </p:nvSpPr>
        <p:spPr>
          <a:xfrm>
            <a:off x="6217920" y="3566160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6400800" y="3849624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629400" y="356616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Profissionais mais qualificados;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6217920" y="4297680"/>
            <a:ext cx="5349240" cy="658368"/>
          </a:xfrm>
          <a:prstGeom prst="roundRect">
            <a:avLst>
              <a:gd name="adj" fmla="val 11111"/>
            </a:avLst>
          </a:prstGeom>
          <a:solidFill>
            <a:srgbClr val="0E3F8C"/>
          </a:solidFill>
          <a:ln w="9525">
            <a:solidFill>
              <a:srgbClr val="0E3F8C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6400800" y="4581144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629400" y="429768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Água Segura.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Quem poderá solicitar o seu Plano de Segurança da Água?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2057400" cy="4343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371600"/>
            <a:ext cx="183794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0020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Agência Reguladora de Saneamento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423160"/>
            <a:ext cx="1600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Pode exigir PSA para garantir a conformidade dos serviços de abastecimento. Por exemplo: ARSESP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2857500" y="1371600"/>
            <a:ext cx="2057400" cy="4343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2967228" y="1371600"/>
            <a:ext cx="183794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086100" y="160020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Órgãos Ambientais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3086100" y="2423160"/>
            <a:ext cx="1600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Podem requerer PSA para prevenir impactos ambientais no abastecimento. Por exemplo: CETESB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074920" y="1371600"/>
            <a:ext cx="2057400" cy="4343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184648" y="1371600"/>
            <a:ext cx="183794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303520" y="160020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Comitês de Bacia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5303520" y="2423160"/>
            <a:ext cx="1600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Autorizados a solicitar PSA para manter a integridade hídrica. Por exemplo: Comitê PCJ - Comitês da Bacia Hidrográfica dos rios Piracicaba, Capivari e Jundiaí.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7292340" y="1371600"/>
            <a:ext cx="2057400" cy="4343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7402068" y="1371600"/>
            <a:ext cx="183794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520940" y="160020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Ministério Público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7520940" y="2423160"/>
            <a:ext cx="1600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Pode solicitar o PSA para assegurar a saúde pública e ambiental. Por exemplo: MPSP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9509760" y="1371600"/>
            <a:ext cx="2057400" cy="4343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9619488" y="1371600"/>
            <a:ext cx="183794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9738360" y="160020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Vigilância em Saúde (Sanitária/Ambiental)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9738360" y="2423160"/>
            <a:ext cx="1600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Pode pedir o PSA para supervisionar e proteger a qualidade da água para garantia da saúde pública. Por exemplo: Vigilância Sanitária do Estado.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640080" y="5852160"/>
            <a:ext cx="10927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B88"/>
                </a:solidFill>
              </a:rPr>
              <a:t>Comentário da Profª Roseane Maria Garcia Lopes de Souza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Recomendações da OMS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13258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D4FF"/>
                </a:solidFill>
              </a:rPr>
              <a:t>5 Etapas fundamentais para segurança da água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7498080" y="132588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D4FF"/>
                </a:solidFill>
              </a:rPr>
              <a:t>Entidades responsáveis em cada Etapa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40080" y="1737360"/>
            <a:ext cx="6035040" cy="731520"/>
          </a:xfrm>
          <a:prstGeom prst="roundRect">
            <a:avLst>
              <a:gd name="adj" fmla="val 10000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41248" y="2057400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097280" y="1737360"/>
            <a:ext cx="5440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Objetivos baseados em proteção da saúde pública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498080" y="1737360"/>
            <a:ext cx="4069080" cy="731520"/>
          </a:xfrm>
          <a:prstGeom prst="roundRect">
            <a:avLst>
              <a:gd name="adj" fmla="val 10000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726680" y="17373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Autoridades de Saúde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858000" y="2103120"/>
            <a:ext cx="457200" cy="0"/>
          </a:xfrm>
          <a:prstGeom prst="line">
            <a:avLst/>
          </a:prstGeom>
          <a:noFill/>
          <a:ln w="19050">
            <a:solidFill>
              <a:srgbClr val="38D4FF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640080" y="2651760"/>
            <a:ext cx="6035040" cy="2240280"/>
          </a:xfrm>
          <a:prstGeom prst="roundRect">
            <a:avLst>
              <a:gd name="adj" fmla="val 4082"/>
            </a:avLst>
          </a:prstGeom>
          <a:ln w="15875">
            <a:solidFill>
              <a:srgbClr val="38D4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68680" y="2724912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D4FF"/>
                </a:solidFill>
              </a:rPr>
              <a:t>Plano de segurança da água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822960" y="3090672"/>
            <a:ext cx="5669280" cy="512064"/>
          </a:xfrm>
          <a:prstGeom prst="roundRect">
            <a:avLst>
              <a:gd name="adj" fmla="val 14286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1024128" y="3300984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280160" y="3090672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Avaliação do sistema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822960" y="3675888"/>
            <a:ext cx="5669280" cy="512064"/>
          </a:xfrm>
          <a:prstGeom prst="roundRect">
            <a:avLst>
              <a:gd name="adj" fmla="val 14286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024128" y="3886200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280160" y="3675888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Monitoramento operacional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822960" y="4261104"/>
            <a:ext cx="5669280" cy="512064"/>
          </a:xfrm>
          <a:prstGeom prst="roundRect">
            <a:avLst>
              <a:gd name="adj" fmla="val 14286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024128" y="4471416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280160" y="4261104"/>
            <a:ext cx="5074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Planos de gestão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7498080" y="2651760"/>
            <a:ext cx="4069080" cy="2240280"/>
          </a:xfrm>
          <a:prstGeom prst="roundRect">
            <a:avLst>
              <a:gd name="adj" fmla="val 3265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7726680" y="2651760"/>
            <a:ext cx="36118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Entidades Gestoras de Sistemas de Abastecimento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6858000" y="3771900"/>
            <a:ext cx="457200" cy="0"/>
          </a:xfrm>
          <a:prstGeom prst="line">
            <a:avLst/>
          </a:prstGeom>
          <a:noFill/>
          <a:ln w="19050">
            <a:solidFill>
              <a:srgbClr val="38D4F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40080" y="5074920"/>
            <a:ext cx="6035040" cy="731520"/>
          </a:xfrm>
          <a:prstGeom prst="roundRect">
            <a:avLst>
              <a:gd name="adj" fmla="val 10000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841248" y="5394960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97280" y="5074920"/>
            <a:ext cx="5440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Sistema de vigilância independente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7498080" y="5074920"/>
            <a:ext cx="4069080" cy="731520"/>
          </a:xfrm>
          <a:prstGeom prst="roundRect">
            <a:avLst>
              <a:gd name="adj" fmla="val 10000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726680" y="507492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Entidades Reguladoras</a:t>
            </a:r>
            <a:endParaRPr lang="en-US" sz="1400" dirty="0"/>
          </a:p>
        </p:txBody>
      </p:sp>
      <p:sp>
        <p:nvSpPr>
          <p:cNvPr id="36" name="Shape 32"/>
          <p:cNvSpPr/>
          <p:nvPr/>
        </p:nvSpPr>
        <p:spPr>
          <a:xfrm>
            <a:off x="6858000" y="5440680"/>
            <a:ext cx="457200" cy="0"/>
          </a:xfrm>
          <a:prstGeom prst="line">
            <a:avLst/>
          </a:prstGeom>
          <a:noFill/>
          <a:ln w="19050">
            <a:solidFill>
              <a:srgbClr val="38D4FF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Metodologia para o PSA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37160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00200"/>
            <a:ext cx="21488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Deve abordar todos os componentes de abastecimento de água</a:t>
            </a:r>
            <a:endParaRPr lang="en-US" sz="14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Irá variar em complexidade de acordo com a situação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42900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538728" y="137160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657600" y="16002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Objetivos: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3657600" y="2011680"/>
            <a:ext cx="214884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Minimizar contaminação da fonte de água</a:t>
            </a:r>
            <a:endParaRPr lang="en-US" sz="14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Reduzir ou eliminar a contaminação por tratamento</a:t>
            </a:r>
            <a:endParaRPr lang="en-US" sz="14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Evitar a contaminação durante o armazenamento, distribuição e manuseio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21792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327648" y="137160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46520" y="1600200"/>
            <a:ext cx="21488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Pontos-chave de controle são conhecidos e monitorados efetivamente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9006840" y="1371600"/>
            <a:ext cx="2606040" cy="4434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9116568" y="137160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9235440" y="160020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Não necessitam de recomeçar: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9235440" y="2331720"/>
            <a:ext cx="2148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Aproveitar os procedimentos existentes</a:t>
            </a:r>
            <a:endParaRPr lang="en-US" sz="14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5B6B88"/>
                </a:solidFill>
              </a:rPr>
              <a:t>Melhoria contínua com experiência transparente e compartilhada com todas as partes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Requisitos para fazer o PSA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9" name="Shape 5"/>
          <p:cNvSpPr/>
          <p:nvPr/>
        </p:nvSpPr>
        <p:spPr>
          <a:xfrm>
            <a:off x="640080" y="210312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21031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14400" y="228600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Compromisso da Gestão</a:t>
            </a:r>
            <a:endParaRPr lang="en-US" sz="2100" dirty="0"/>
          </a:p>
        </p:txBody>
      </p:sp>
      <p:sp>
        <p:nvSpPr>
          <p:cNvPr id="12" name="Shape 8"/>
          <p:cNvSpPr/>
          <p:nvPr/>
        </p:nvSpPr>
        <p:spPr>
          <a:xfrm>
            <a:off x="3429000" y="210312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38728" y="21031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703320" y="228600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Equipe de PSA adequada</a:t>
            </a:r>
            <a:endParaRPr lang="en-US" sz="2100" dirty="0"/>
          </a:p>
        </p:txBody>
      </p:sp>
      <p:sp>
        <p:nvSpPr>
          <p:cNvPr id="15" name="Shape 11"/>
          <p:cNvSpPr/>
          <p:nvPr/>
        </p:nvSpPr>
        <p:spPr>
          <a:xfrm>
            <a:off x="6217920" y="210312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327648" y="21031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492240" y="228600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Pessoal competente e treinado</a:t>
            </a:r>
            <a:endParaRPr lang="en-US" sz="2100" dirty="0"/>
          </a:p>
        </p:txBody>
      </p:sp>
      <p:sp>
        <p:nvSpPr>
          <p:cNvPr id="18" name="Shape 14"/>
          <p:cNvSpPr/>
          <p:nvPr/>
        </p:nvSpPr>
        <p:spPr>
          <a:xfrm>
            <a:off x="9006840" y="2103120"/>
            <a:ext cx="2606040" cy="2377440"/>
          </a:xfrm>
          <a:prstGeom prst="roundRect">
            <a:avLst>
              <a:gd name="adj" fmla="val 4615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9116568" y="21031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281160" y="228600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Cultura organizacional “assertiva”</a:t>
            </a:r>
            <a:endParaRPr lang="en-US" sz="2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Conclusões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VISÃO GERAL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822960" y="2011680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37160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A3377"/>
                </a:solidFill>
              </a:rPr>
              <a:t>O PSA pode ser utilizado como melhoria no Processo de Gestão;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2852928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3493008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051560" y="2852928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A3377"/>
                </a:solidFill>
              </a:rPr>
              <a:t>O fornecimento de água potável não depende da existência de um PSA. A Portaria GM/MS 888/21 já define a qualidade da água que deve ser distribuída;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640080" y="4334256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22960" y="4974336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4334256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A3377"/>
                </a:solidFill>
              </a:rPr>
              <a:t>A complexidade de um PSA pode variar muito. E o tempo necessário para sua implantação inicial depende dessa decisão;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217920" y="1371600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00800" y="2011680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629400" y="137160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A3377"/>
                </a:solidFill>
              </a:rPr>
              <a:t>O PSA é aplicado em sistemas simplificados até os mais complexos, podendo atender desde água servida por caminhão pipa, sistemas rurais até sistemas altamente tecnológicos.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6217920" y="2852928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400800" y="3493008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629400" y="2852928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A3377"/>
                </a:solidFill>
              </a:rPr>
              <a:t>O modelo é aplicado a todos os sistemas de abastecimento. Mas nem todos os sistemas seriam significativamente impactados com um PSA. Depende da fonte da água bruta e da complexidade do processo de tratamento;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6217920" y="4334256"/>
            <a:ext cx="53492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400800" y="4974336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629400" y="4334256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A3377"/>
                </a:solidFill>
              </a:rPr>
              <a:t>Autoriza o monitoramento de qualidade de um sistema baseado no seu respectivo PSA, em substituição ao monitoramento padrão da Portaria GM/MS 888/21, pode ser um indutor de desenvolvimento deste processo.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Problemas enfrentados hoje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ESCASSEZ DE ÁGUA: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109270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822960" y="1714500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37160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Necessidade de buscar água em mananciais cada vez mais distantes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40080" y="2258568"/>
            <a:ext cx="109270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601468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051560" y="2258568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Exploração de poços;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40080" y="3145536"/>
            <a:ext cx="109270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22960" y="3488436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3145536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Mananciais degradados apresentam riscos potenciais à população em decorrência de sua utilização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640080" y="4032504"/>
            <a:ext cx="109270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22960" y="4375404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051560" y="4032504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População tem a tendência de buscar água não seguras quando a escassez se apresenta ou a água apresenta condições organolépticas não satisfatória para o consumidor, embora esteja potável.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640080" y="4919472"/>
            <a:ext cx="109270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22960" y="5262372"/>
            <a:ext cx="91440" cy="9144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51560" y="4919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3377"/>
                </a:solidFill>
              </a:rPr>
              <a:t>O lançamento de efluentes domésticos e industriais comprometem os recursos de água disponíveis.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Desafios e suas Consequências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4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640080" y="1371600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749808" y="1371600"/>
            <a:ext cx="10707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1600200"/>
            <a:ext cx="10469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8"/>
                </a:solidFill>
              </a:rPr>
              <a:t>Temos cerca de 204 milhões de substâncias orgânicas e inorgânicas catalogadas (*), fazendo com que os processos naturais não sejam capazes de atenuar os impactos gerados, sendo que muitas dessas substâncias estão disponíveis comercialmente (mercados, farmácias,...);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40080" y="2852928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749808" y="2852928"/>
            <a:ext cx="10707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68680" y="3081528"/>
            <a:ext cx="10469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8"/>
                </a:solidFill>
              </a:rPr>
              <a:t>Com o tempo, estamos tendo que buscar tratamentos de efluentes domésticos e industriais cada vez mais complexos e caros para tentar driblar os mais variados tipos de compostos químicos gerados todos os dias;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40080" y="4334256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49808" y="4334256"/>
            <a:ext cx="10707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68680" y="4562856"/>
            <a:ext cx="10469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8"/>
                </a:solidFill>
              </a:rPr>
              <a:t>Dificuldades para atender as novas exigências legais no tratamento de água, desde à execução dos monitoramentos exigidos, assim como a qualidade dos mananciais que vem sendo contaminado com produtos agrotóxicos e outras substâncias de indústrias, as quais não são fiscalizadas pelas dificuldades diversas dos órgãos competentes.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40080" y="5943600"/>
            <a:ext cx="10927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CFE6FF"/>
                </a:solidFill>
              </a:rPr>
              <a:t>(*) https://www.cas.org/cas-data/cas-registry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Desafios do PSA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PRINCIPAIS DESAFIOS DO PSA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3716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002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Apoio da liderança no Plano de Segurança da água é fundamental;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4343400" y="13716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453128" y="13716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572000" y="16002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Equipe treinada, com disponibilidade de tempo e com conhecimento da área de atuação (qualificada);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8046720" y="13716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156448" y="13716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75320" y="16002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Comunicação eficaz;</a:t>
            </a:r>
            <a:endParaRPr lang="en-US" sz="1350" dirty="0"/>
          </a:p>
        </p:txBody>
      </p:sp>
      <p:sp>
        <p:nvSpPr>
          <p:cNvPr id="18" name="Shape 14"/>
          <p:cNvSpPr/>
          <p:nvPr/>
        </p:nvSpPr>
        <p:spPr>
          <a:xfrm>
            <a:off x="640080" y="288036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749808" y="288036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68680" y="31089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Estabelecer metas e prazos que realmente a equipe possa atender;</a:t>
            </a:r>
            <a:endParaRPr lang="en-US" sz="1350" dirty="0"/>
          </a:p>
        </p:txBody>
      </p:sp>
      <p:sp>
        <p:nvSpPr>
          <p:cNvPr id="21" name="Shape 17"/>
          <p:cNvSpPr/>
          <p:nvPr/>
        </p:nvSpPr>
        <p:spPr>
          <a:xfrm>
            <a:off x="4343400" y="288036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453128" y="288036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572000" y="31089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Conseguir identificar todos ou os principais perigos e riscos, fazendo as devidas justificativas;</a:t>
            </a:r>
            <a:endParaRPr lang="en-US" sz="1350" dirty="0"/>
          </a:p>
        </p:txBody>
      </p:sp>
      <p:sp>
        <p:nvSpPr>
          <p:cNvPr id="24" name="Shape 20"/>
          <p:cNvSpPr/>
          <p:nvPr/>
        </p:nvSpPr>
        <p:spPr>
          <a:xfrm>
            <a:off x="8046720" y="288036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8156448" y="288036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275320" y="31089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Incerteza na avaliação de risco ou inconsistência;</a:t>
            </a:r>
            <a:endParaRPr lang="en-US" sz="1350" dirty="0"/>
          </a:p>
        </p:txBody>
      </p:sp>
      <p:sp>
        <p:nvSpPr>
          <p:cNvPr id="27" name="Shape 23"/>
          <p:cNvSpPr/>
          <p:nvPr/>
        </p:nvSpPr>
        <p:spPr>
          <a:xfrm>
            <a:off x="640080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749808" y="43891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68680" y="461772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Estabelecer limites críticos, a fim de proteger a operação e garantir que água não saia do padrão de potabilidade;</a:t>
            </a:r>
            <a:endParaRPr lang="en-US" sz="1350" dirty="0"/>
          </a:p>
        </p:txBody>
      </p:sp>
      <p:sp>
        <p:nvSpPr>
          <p:cNvPr id="30" name="Shape 26"/>
          <p:cNvSpPr/>
          <p:nvPr/>
        </p:nvSpPr>
        <p:spPr>
          <a:xfrm>
            <a:off x="4343400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4453128" y="43891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4572000" y="461772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Montar e concluir os planos de ação</a:t>
            </a:r>
            <a:endParaRPr lang="en-US" sz="1350" dirty="0"/>
          </a:p>
        </p:txBody>
      </p:sp>
      <p:sp>
        <p:nvSpPr>
          <p:cNvPr id="33" name="Shape 29"/>
          <p:cNvSpPr/>
          <p:nvPr/>
        </p:nvSpPr>
        <p:spPr>
          <a:xfrm>
            <a:off x="8046720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34" name="Shape 30"/>
          <p:cNvSpPr/>
          <p:nvPr/>
        </p:nvSpPr>
        <p:spPr>
          <a:xfrm>
            <a:off x="8156448" y="43891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275320" y="461772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8"/>
                </a:solidFill>
              </a:rPr>
              <a:t>Assegurar recursos financeiros.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38D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0A3377"/>
                </a:solidFill>
              </a:rPr>
              <a:t>OBRIGADA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10896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Engª Rosângela Cássia Martins de Carvalho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0A3377"/>
                </a:solidFill>
              </a:rPr>
              <a:t>E-mail: rosangela.sabesp@hotmail.com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0A3377"/>
                </a:solidFill>
              </a:rPr>
              <a:t>Whatsapp: (11)999357764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stão Performance">
  <a:themeElements>
    <a:clrScheme name="Gestão Performance">
      <a:dk1>
        <a:srgbClr val="05204E"/>
      </a:dk1>
      <a:lt1>
        <a:srgbClr val="FFFFFF"/>
      </a:lt1>
      <a:dk2>
        <a:srgbClr val="0A3377"/>
      </a:dk2>
      <a:lt2>
        <a:srgbClr val="F3F6FB"/>
      </a:lt2>
      <a:accent1>
        <a:srgbClr val="38D4FF"/>
      </a:accent1>
      <a:accent2>
        <a:srgbClr val="0A3377"/>
      </a:accent2>
      <a:accent3>
        <a:srgbClr val="0E3F8C"/>
      </a:accent3>
      <a:accent4>
        <a:srgbClr val="5B6B88"/>
      </a:accent4>
      <a:accent5>
        <a:srgbClr val="CFE6FF"/>
      </a:accent5>
      <a:accent6>
        <a:srgbClr val="C9D6EA"/>
      </a:accent6>
      <a:hlink>
        <a:srgbClr val="0563C1"/>
      </a:hlink>
      <a:folHlink>
        <a:srgbClr val="954F72"/>
      </a:folHlink>
    </a:clrScheme>
    <a:fontScheme name="Gestão Performan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Norte Sul Hidrotecnologia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2026-10-18T18:51:03Z</dcterms:created>
  <dcterms:modified xsi:type="dcterms:W3CDTF">2026-10-18T18:51:03Z</dcterms:modified>
</cp:coreProperties>
</file>