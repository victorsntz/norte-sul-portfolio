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02920"/>
            <a:ext cx="4663440" cy="5212080"/>
          </a:xfrm>
          <a:prstGeom prst="roundRect">
            <a:avLst>
              <a:gd name="adj" fmla="val 6863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pic>
        <p:nvPicPr>
          <p:cNvPr id="3" name="Image 0" descr="/tmp/claude-0/-home-user-norte-sul-portfolio/b828416d-028b-56b8-943d-a9bc67fc20c3/scratchpad/pptx_out/cropped/psa_media/capa_4.8x5.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40080"/>
            <a:ext cx="438912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Plano de Segurança da Água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Curso PSA · CRQ · 20 de outubro de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Palestrante: Engª Rosângela C. M. de Carvalho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10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0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73152" cy="23774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“Nós estamos em perigo e </a:t>
            </a:r>
            <a:pPr indent="0" marL="0">
              <a:buNone/>
            </a:pPr>
            <a:r>
              <a:rPr lang="en-US" sz="3800" b="1" dirty="0">
                <a:solidFill>
                  <a:srgbClr val="38D4FF"/>
                </a:solidFill>
              </a:rPr>
              <a:t>somos o perigo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, mas podemos ser </a:t>
            </a:r>
            <a:pPr indent="0" marL="0">
              <a:buNone/>
            </a:pPr>
            <a:r>
              <a:rPr lang="en-US" sz="3800" b="1" dirty="0">
                <a:solidFill>
                  <a:srgbClr val="38D4FF"/>
                </a:solidFill>
              </a:rPr>
              <a:t>a solução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.”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Frase da reunião da ONU no Dia do Meio Ambiente · 05/06/2024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6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Mudanças climáticas e seus efeitos na água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SAÚDE PÚBLICA E SANEAMENTO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sa_media/clima_escassez_2.69x2.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2459736" cy="2011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" y="361188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Escassez de água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41248" y="43891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Diminuição das chuvas e alteração dos padrões de precipitação.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342900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4" name="Image 3" descr="/tmp/claude-0/-home-user-norte-sul-portfolio/b828416d-028b-56b8-943d-a9bc67fc20c3/scratchpad/pptx_out/cropped/psa_media/clima_poluicao_2.69x2.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444752"/>
            <a:ext cx="2459736" cy="2011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630168" y="361188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Poluição das águas superficiais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3630168" y="43891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O aumento das temperaturas pode afetar a qualidade da água.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21792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8" name="Image 4" descr="/tmp/claude-0/-home-user-norte-sul-portfolio/b828416d-028b-56b8-943d-a9bc67fc20c3/scratchpad/pptx_out/cropped/psa_media/clima_eventos_2.69x2.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444752"/>
            <a:ext cx="2459736" cy="20116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19088" y="361188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Aumento de eventos climáticos extremos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419088" y="43891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Tempestades mais intensas e inundações podem carrear poluentes para as fontes de água.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900684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22" name="Image 5" descr="/tmp/claude-0/-home-user-norte-sul-portfolio/b828416d-028b-56b8-943d-a9bc67fc20c3/scratchpad/pptx_out/cropped/psa_media/clima_aquecimento_2.69x2.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1444752"/>
            <a:ext cx="2459736" cy="20116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208008" y="361188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Aquecimento global e disseminação de doenças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9208008" y="43891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O aumento das temperaturas pode favorecer a propagação de doenças transmitidas pela água.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640080" y="589788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8"/>
                </a:solidFill>
              </a:rPr>
              <a:t>UCCW PSA · Profª Roseane Souza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ONU · Resolução A/RES/64/292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ÁGUA COMO DIREITO HUMANO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6583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371600"/>
            <a:ext cx="63642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002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 ONU, na Assembleia Geral de 2010, declarou: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1965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“A água limpa e segura e o saneamento são um direito humano essencial para gozar plenamente a vida e todos os direitos humanos.”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3291840"/>
            <a:ext cx="6583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291840"/>
            <a:ext cx="63642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8680" y="35204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OMS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8862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“Todas as pessoas, em quaisquer estágios de desenvolvimento e condições socioeconômicas, têm o direito de ter acesso a um suprimento adequado de água potável e segura.”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" y="530352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303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E o que é água segura?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498080" y="1371600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0" name="Image 2" descr="/tmp/claude-0/-home-user-norte-sul-portfolio/b828416d-028b-56b8-943d-a9bc67fc20c3/scratchpad/pptx_out/cropped/psa_media/onu_1_4.29x2.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444752"/>
            <a:ext cx="3922776" cy="20025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98080" y="3657600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2" name="Image 3" descr="/tmp/claude-0/-home-user-norte-sul-portfolio/b828416d-028b-56b8-943d-a9bc67fc20c3/scratchpad/pptx_out/cropped/psa_media/onu_2_4.29x2.1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3730752"/>
            <a:ext cx="3922776" cy="20025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0080" y="594360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8"/>
                </a:solidFill>
              </a:rPr>
              <a:t>UCCW PSA · Profª Roseane Souza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Água segura: direito à saúde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DEFINIÇÃO DA OMS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852160" cy="2148840"/>
          </a:xfrm>
          <a:prstGeom prst="roundRect">
            <a:avLst>
              <a:gd name="adj" fmla="val 5106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O QUE É ÁGUA SEGURA PARA A OMS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1965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“Segura”, neste contexto, é uma oferta de água que não representa risco significativo à saúde, em quantidade suficiente para todas as necessidades domésticas, disponível continuamente e com custo acessível.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3377"/>
                </a:solidFill>
              </a:rPr>
              <a:t>Qualidade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828800" y="36576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8288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3377"/>
                </a:solidFill>
              </a:rPr>
              <a:t>Quantidade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017520" y="36576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01752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3377"/>
                </a:solidFill>
              </a:rPr>
              <a:t>Continuidade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206240" y="36576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20624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3377"/>
                </a:solidFill>
              </a:rPr>
              <a:t>Cobertura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394960" y="36576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39496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3377"/>
                </a:solidFill>
              </a:rPr>
              <a:t>Custo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0080" y="4297680"/>
            <a:ext cx="5852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9808" y="4297680"/>
            <a:ext cx="563270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68680" y="4526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Caso real · Canadá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68680" y="48463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Um erro no tratamento deixou a água de uma cidade inteira cor-de-rosa. Uma falha em válvula fez entrar permanganato de potássio no reservatório.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766560" y="1371600"/>
            <a:ext cx="4800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7" name="Image 2" descr="/tmp/claude-0/-home-user-norte-sul-portfolio/b828416d-028b-56b8-943d-a9bc67fc20c3/scratchpad/pptx_out/cropped/psa_media/segura_maos_5.09x2.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444752"/>
            <a:ext cx="4654296" cy="200253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766560" y="365760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9" name="Image 3" descr="/tmp/claude-0/-home-user-norte-sul-portfolio/b828416d-028b-56b8-943d-a9bc67fc20c3/scratchpad/pptx_out/cropped/psa_media/segura_rosa_2.39x1.8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3730752"/>
            <a:ext cx="2185416" cy="170992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876288" y="54772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Água rosa no Canadá · BBC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235440" y="365760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32" name="Image 4" descr="/tmp/claude-0/-home-user-norte-sul-portfolio/b828416d-028b-56b8-943d-a9bc67fc20c3/scratchpad/pptx_out/cropped/psa_media/segura_naopotavel_2.39x2.1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3730752"/>
            <a:ext cx="2185416" cy="20025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40080" y="594360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8"/>
                </a:solidFill>
              </a:rPr>
              <a:t>UCCW PSA · Profª Roseane Souza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Níveis mínimos de acesso à água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DIREITO HUMANO À ÁGUA E AO SANEAMENTO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801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Segundo comunicado da ONU, os níveis mínimos de acesso à água devem ser compreendidos assim: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1874520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87452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1874520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377"/>
                </a:solidFill>
              </a:rPr>
              <a:t>Suficiente:</a:t>
            </a:r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 acesso à água entre 50 e 100 litros por pessoa ao dia.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2679192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2679192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2679192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377"/>
                </a:solidFill>
              </a:rPr>
              <a:t>Segura:</a:t>
            </a:r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 água livre de microrganismos, substâncias químicas e ameaças radiológicas.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483864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3483864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483864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377"/>
                </a:solidFill>
              </a:rPr>
              <a:t>Aceitável:</a:t>
            </a:r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 água sem sabor, cor e cheiro.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0080" y="4288536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4288536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417320" y="4288536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377"/>
                </a:solidFill>
              </a:rPr>
              <a:t>Acessível:</a:t>
            </a:r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 a menos de 1.000 metros do lar, com tempo de coleta de até 30 minutos por dia.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40080" y="5093208"/>
            <a:ext cx="7040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2960" y="5093208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417320" y="5093208"/>
            <a:ext cx="6080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377"/>
                </a:solidFill>
              </a:rPr>
              <a:t>Preços razoáveis:</a:t>
            </a:r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 o custo do serviço não deve passar de 5% da renda.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7955280" y="137160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6" name="Image 2" descr="/tmp/claude-0/-home-user-norte-sul-portfolio/b828416d-028b-56b8-943d-a9bc67fc20c3/scratchpad/pptx_out/cropped/psa_media/niveis_familia_3.79x4.3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444752"/>
            <a:ext cx="3465576" cy="399592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065008" y="5477256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Famílias sem acesso à água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594360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8"/>
                </a:solidFill>
              </a:rPr>
              <a:t>UCCW PSA · Profª Roseane Souza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Exigências do consumidor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2057400" cy="4434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sa_media/exig_segura_2.09x2.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1911096" cy="2651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" y="425196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 água deve ser segura: água potável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857500" y="1371600"/>
            <a:ext cx="2057400" cy="4434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cropped/psa_media/exig_sabor_2.09x2.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652" y="1444752"/>
            <a:ext cx="1911096" cy="2651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058668" y="425196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Sabor, odor e aparência agradáveis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074920" y="1371600"/>
            <a:ext cx="2057400" cy="4434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6" name="Image 4" descr="/tmp/claude-0/-home-user-norte-sul-portfolio/b828416d-028b-56b8-943d-a9bc67fc20c3/scratchpad/pptx_out/cropped/psa_media/exig_preco_2.09x2.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1444752"/>
            <a:ext cx="1911096" cy="2651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76088" y="425196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Preço socialmente aceitável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7292340" y="1371600"/>
            <a:ext cx="2057400" cy="4434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19" name="Image 5" descr="/tmp/claude-0/-home-user-norte-sul-portfolio/b828416d-028b-56b8-943d-a9bc67fc20c3/scratchpad/pptx_out/cropped/psa_media/exig_quantidade_2.09x2.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492" y="1444752"/>
            <a:ext cx="1911096" cy="26517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93508" y="425196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Quantidade, fornecimento contínuo e pressão adequada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9509760" y="1371600"/>
            <a:ext cx="2057400" cy="4434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pic>
        <p:nvPicPr>
          <p:cNvPr id="22" name="Image 6" descr="/tmp/claude-0/-home-user-norte-sul-portfolio/b828416d-028b-56b8-943d-a9bc67fc20c3/scratchpad/pptx_out/cropped/psa_media/exig_domestica_2.09x2.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1444752"/>
            <a:ext cx="1911096" cy="26517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710928" y="425196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Atender às necessidades domésticas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0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D4FF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Legislações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Leis, resoluções e normas que envolvem um PSA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6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Legislações e normas que envolvem um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LEGISLAÇÃO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O PSA deve considerar a legislação vigente nos níveis federal, estadual e municipal.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1737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173736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Resolução CONAMA nº 357/2005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331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8"/>
                </a:solidFill>
              </a:rPr>
              <a:t>Dispõe sobre a classificação dos corpos de água e diretrizes ambientais para o seu enquadramento.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43400" y="1737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53128" y="173736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Lei Federal nº 11.445/2007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331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8"/>
                </a:solidFill>
              </a:rPr>
              <a:t>Estabelece diretrizes nacionais para o saneamento básico, cria o Comitê Interministerial de Saneamento Básico, altera as leis nº 6.766/1979, nº 8.036/1990, nº 8.666/1993 e nº 8.987/1995, revoga a Lei nº 6.528/1978 e dá outras providências.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1737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56448" y="173736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7532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Resolução CONAMA nº 396/2008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275320" y="2331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8"/>
                </a:solidFill>
              </a:rPr>
              <a:t>Dispõe sobre a classificação e diretrizes ambientais para o enquadramento das águas subterrâneas e dá outras providências.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008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9808" y="38862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6868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Resolução nº 467/2015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68680" y="4480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8"/>
                </a:solidFill>
              </a:rPr>
              <a:t>Dispõe sobre critérios para autorizar o uso de produtos ou agentes de processos físicos, químicos ou biológicos para o controle de organismos ou contaminantes em corpos hídricos superficiais.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34340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453128" y="38862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Portaria GM/MS nº 888/2021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0" y="4480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8"/>
                </a:solidFill>
              </a:rPr>
              <a:t>Altera o Anexo XX da Portaria de Consolidação GM/MS nº 5/2017 sobre os procedimentos de controle e de vigilância da qualidade da água para consumo humano e seu padrão de potabilidade.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04672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156448" y="38862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7532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ABNT NBR 17080:2023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275320" y="4480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8"/>
                </a:solidFill>
              </a:rPr>
              <a:t>Requisitos para elaborar, implementar e avaliar planos de segurança da água, com enfoque de avaliação e gestão de risco do manancial ao ponto de consumo, independentemente do porte e da tecnologia de tratamento.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Portaria GM/MS nº 888/2021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LEGISLAÇÃO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10927080" cy="1280160"/>
          </a:xfrm>
          <a:prstGeom prst="roundRect">
            <a:avLst>
              <a:gd name="adj" fmla="val 8571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6002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ONDE O PSA APARECE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196596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Portaria trata do controle e da vigilância da qualidade da água para consumo humano. O Plano de Segurança da Água está no Capítulo VIII, Disposições Finais e Transitórias.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834640"/>
            <a:ext cx="53492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283464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3377"/>
                </a:solidFill>
              </a:rPr>
              <a:t>Art. 48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347472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</a:rPr>
              <a:t>Sempre que forem identificadas situações de risco à saúde, os responsáveis pelo SAA (sistema de abastecimento de água para consumo humano) ou SAC (solução alternativa coletiva) e as autoridades de saúde pública devem, em conjunto, elaborar um plano de ação e tomar as medidas cabíveis, incluindo a comunicação eficaz à população, sem prejuízo das providências imediatas para corrigir as não conformidades.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2834640"/>
            <a:ext cx="53492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283464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3377"/>
                </a:solidFill>
              </a:rPr>
              <a:t>Art. 49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47472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8"/>
                </a:solidFill>
              </a:rPr>
              <a:t>A Autoridade de Saúde Pública poderá exigir dos responsáveis por SAA e SAC a elaboração e implementação de Plano de Segurança da Água (PSA), conforme a metodologia e o conteúdo preconizados pela Organização Mundial da Saúde ou definidos em diretrizes do Ministério da Saúde, para fins de gestão preventiva de risco à saúde.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Portaria GM/MS nº 888/2021 · Art. 50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LEGISLAÇÃO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10927080" cy="1143000"/>
          </a:xfrm>
          <a:prstGeom prst="roundRect">
            <a:avLst>
              <a:gd name="adj" fmla="val 96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6002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ART. 50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19659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É facultado ao responsável por SAA ou SAC solicitar à autoridade de saúde pública a alteração dos parâmetros monitorados e da frequência mínima de amostragem, mediante apresentação de: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6974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269748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2926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3246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Histórico mínimo de dois anos de monitoramento da qualidade da água bruta, tratada e distribuída, considerando o plano de amostragem deste Anexo; 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6974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269748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2926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II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246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PSA, conforme o Art. 49.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4069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9808" y="406908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68680" y="4297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§ 1º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68680" y="4617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A autoridade de saúde pública deve emitir parecer sobre a solicitação em até 120 (cento e vinte) dias, com base em análise fundamentada nos documentos dos incisos I e II.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17920" y="4069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27648" y="406908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46520" y="4297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§ 2º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4617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As alterações autorizadas no plano de amostragem valem por no máximo dois anos e podem ser suspensas se houver mudanças na bacia hidrográfica ou nos sistemas e soluções alternativas coletivas de abastecimento que as justifiquem.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Portaria GM/MS nº 888/2021 · Art. 50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LEGISLAÇÃO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3716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D4FF"/>
                </a:solidFill>
              </a:rPr>
              <a:t>§ 3º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031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Para renovar a autorização, o responsável por SAA ou SAC deve encaminhar à autoridade de saúde pública a solicitação de renovação acompanhada da revisão do PSA.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43400" y="1371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53128" y="13716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D4FF"/>
                </a:solidFill>
              </a:rPr>
              <a:t>§ 4º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1031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A autoridade de saúde pública deve emitir parecer sobre a renovação em até 60 (sessenta) dias, com base na análise da revisão do PSA.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56448" y="13716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7532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D4FF"/>
                </a:solidFill>
              </a:rPr>
              <a:t>§ 5º</a:t>
            </a:r>
            <a:endParaRPr lang="en-US" sz="3200" dirty="0"/>
          </a:p>
        </p:txBody>
      </p:sp>
      <p:sp>
        <p:nvSpPr>
          <p:cNvPr id="20" name="Text 16"/>
          <p:cNvSpPr txBox="1"/>
          <p:nvPr/>
        </p:nvSpPr>
        <p:spPr>
          <a:xfrm>
            <a:off x="8275320" y="21031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Se o PSA não for implementado pelo responsável por SAA ou SAC, será exigido o cumprimento integral do plano de amostragem estabelecido no Anexo.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0080" y="484632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Em resumo: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PSA pode flexibilizar o monitoramento. Sem ele, vale o plano de amostragem completo.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20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D4FF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PSA: Plano de Segurança da Água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Conceito, publicações, benefícios e desafios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6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Publicações sobre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REFERÊNCIAS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600200"/>
            <a:ext cx="8138160" cy="3465576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sa_media/publicacoes_8.74x3.6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7991856" cy="33192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006840" y="1371600"/>
            <a:ext cx="2560320" cy="2999232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2" name="Image 3" descr="/tmp/claude-0/-home-user-norte-sul-portfolio/b828416d-028b-56b8-943d-a9bc67fc20c3/scratchpad/pptx_out/cropped/psa_media/nbr_2.64x3.1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1444752"/>
            <a:ext cx="2414016" cy="285292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0080" y="534924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822960" y="534924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Referências nacionais e internacionais para elaborar e avaliar o PSA.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Publicações sobre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REFERÊNCIAS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13716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371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Bonn Charter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441448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2441448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4414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PSA para Sistemas Públicos · Universidade do Minho, Portugal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3511296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51129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51129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PSA para Sistemas Públicos · IRAR, Instituto Regulador de Águas e Resíduos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" y="4581144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58114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4581144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WSP Manual 2009 (Water Safety Plan Manual)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17920" y="1371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0" y="13716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1371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User Manual 2012 (Water Safety Plan Quality Assurance Tool)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217920" y="2441448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0" y="2441448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244144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Identification and description of hazards for water supply systems (Techneau)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217920" y="3511296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00800" y="351129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07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6995160" y="351129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Plano de Segurança da Água 2012 (Ministério da Saúde)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217920" y="4581144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0800" y="458114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08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6995160" y="4581144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Guidelines for Drinking-water Quality, 4ª edição (OMS, 2011)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ABNT NBR 17080:2023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NORMA BRASILEIRA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3566160" cy="417880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cropped/psa_media/nbr_3.74x4.4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3419856" cy="40325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80560" y="1371600"/>
            <a:ext cx="7086600" cy="4178808"/>
          </a:xfrm>
          <a:prstGeom prst="roundRect">
            <a:avLst>
              <a:gd name="adj" fmla="val 2626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754880" y="160020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NORMA BRASILEIRA ABNT NBR 17080 DE 2023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1965960"/>
            <a:ext cx="653796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Apresenta os requisitos para elaborar, implementar e avaliar planos de segurança da água, com a finalidade de assegurar o fornecimento de água segura e potável.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 enfoque é de avaliação e gestão de risco, do manancial ou fonte até o ponto de consumo, independentemente do porte e das tecnologias de tratamento utilizadas.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Conceito de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DUAS DEFINIÇÕES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600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SEGUNDO A ABNT NBR 17080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1965960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Documento baseado na metodologia integrada de avaliação e gestão de riscos que engloba todas as etapas do abastecimento de água, do manancial até o ponto de consumo, visando desenvolver medidas de controle para assegurar o fornecimento de água segura.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7920" y="13716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27648" y="137160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Segundo a OMS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01168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O Plano de Segurança da Água é uma ferramenta de avaliação e gerenciamento de riscos à saúde associados aos sistemas de abastecimento de água, desde a captação até o consumidor.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(Ministério da Saúde, 2012)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Por que precisamos do PSA?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13716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371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Reduzir riscos de incidentes que possam causar algum dano ao consumidor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48716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248716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4871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Identificar perigos e pontos de controle críticos nos sistemas de abastecimento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3602736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602736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602736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Orientar o desenvolvimento e a implantação de ações de controle e monitoramento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" y="4718304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718304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4718304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Superar a baixa capacidade de alerta rápido à população em casos de contaminação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17920" y="1371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0" y="13716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1371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Risco epidemiológico: probabilidade de um evento ou agravo relacionado à saúde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217920" y="248716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0" y="2487168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24871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As empresas têm foco nos custos e também querem garantir reputação e credibilidade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217920" y="3602736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00800" y="3602736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07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6995160" y="3602736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377"/>
                </a:solidFill>
              </a:rPr>
              <a:t>Mecanismos eficientes de alerta e resposta, acesso à informação e apoio técnico e logístico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Benefícios do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137160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37160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Identificar perigos e riscos antes que virem problemas sérios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2084832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208483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08483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Compreensão mais clara dos papéis e responsabilidades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2798064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279806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279806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Orientar investimentos, priorizando recursos limitados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511296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351129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351129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Direcionar e justificar investimentos com base no risco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0080" y="4224528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960" y="42245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05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417320" y="422452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Reduzir custos de tratamento, como análises e excesso de químicos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0080" y="493776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2960" y="49377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417320" y="493776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Mais eficiência com documentos e procedimentos sistematizados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17920" y="137160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00800" y="137160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07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995160" y="137160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Atender aos padrões de qualidade da legislação vigente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217920" y="2084832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0800" y="208483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08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995160" y="208483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Manter o sistema atualizado frente aos novos desafios de qualidade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217920" y="2798064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00800" y="279806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09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6995160" y="279806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Confiança dos consumidores e boa imagem do sistema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17920" y="3511296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00800" y="351129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10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6995160" y="351129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Profissionais mais qualificados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217920" y="4224528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 w="9525">
            <a:solidFill>
              <a:srgbClr val="0E3F8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400800" y="42245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11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6995160" y="422452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Água segura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Quem pode solicitar o seu PSA?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2057400" cy="4343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371600"/>
            <a:ext cx="183794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Agência Reguladora de Saneamento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834640"/>
            <a:ext cx="1600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8"/>
                </a:solidFill>
              </a:rPr>
              <a:t>Pode exigir o PSA para garantir a conformidade dos serviços de abastecimento.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572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9525">
            <a:solidFill>
              <a:srgbClr val="CFE6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4572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88"/>
                </a:solidFill>
              </a:rPr>
              <a:t>Exemplo</a:t>
            </a:r>
            <a:endParaRPr lang="en-US" sz="80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3377"/>
                </a:solidFill>
              </a:rPr>
              <a:t>ARSESP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857500" y="1371600"/>
            <a:ext cx="2057400" cy="4343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67228" y="1371600"/>
            <a:ext cx="183794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08610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3086100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Órgãos Ambientais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086100" y="2834640"/>
            <a:ext cx="1600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8"/>
                </a:solidFill>
              </a:rPr>
              <a:t>Podem requerer o PSA para prevenir impactos ambientais no abastecimento.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040380" y="4572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9525">
            <a:solidFill>
              <a:srgbClr val="CFE6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131820" y="4572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88"/>
                </a:solidFill>
              </a:rPr>
              <a:t>Exemplo</a:t>
            </a:r>
            <a:endParaRPr lang="en-US" sz="80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3377"/>
                </a:solidFill>
              </a:rPr>
              <a:t>CETESB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074920" y="1371600"/>
            <a:ext cx="2057400" cy="4343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84648" y="1371600"/>
            <a:ext cx="183794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30352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03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5303520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Comitês de Bacia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303520" y="2834640"/>
            <a:ext cx="1600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8"/>
                </a:solidFill>
              </a:rPr>
              <a:t>Autorizados a solicitar o PSA para manter a integridade hídrica.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257800" y="4572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9525">
            <a:solidFill>
              <a:srgbClr val="CFE6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349240" y="4572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88"/>
                </a:solidFill>
              </a:rPr>
              <a:t>Exemplo</a:t>
            </a:r>
            <a:endParaRPr lang="en-US" sz="80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3377"/>
                </a:solidFill>
              </a:rPr>
              <a:t>Comitê PCJ (rios Piracicaba, Capivari e Jundiaí)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7292340" y="1371600"/>
            <a:ext cx="2057400" cy="4343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402068" y="1371600"/>
            <a:ext cx="183794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52094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04</a:t>
            </a:r>
            <a:endParaRPr lang="en-US" sz="2600" dirty="0"/>
          </a:p>
        </p:txBody>
      </p:sp>
      <p:sp>
        <p:nvSpPr>
          <p:cNvPr id="33" name="Text 29"/>
          <p:cNvSpPr txBox="1"/>
          <p:nvPr/>
        </p:nvSpPr>
        <p:spPr>
          <a:xfrm>
            <a:off x="7520940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Ministério Público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7520940" y="2834640"/>
            <a:ext cx="1600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8"/>
                </a:solidFill>
              </a:rPr>
              <a:t>Pode solicitar o PSA para assegurar a saúde pública e ambiental.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7475220" y="4572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9525">
            <a:solidFill>
              <a:srgbClr val="CFE6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566660" y="4572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88"/>
                </a:solidFill>
              </a:rPr>
              <a:t>Exemplo</a:t>
            </a:r>
            <a:endParaRPr lang="en-US" sz="80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3377"/>
                </a:solidFill>
              </a:rPr>
              <a:t>MPSP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9509760" y="1371600"/>
            <a:ext cx="2057400" cy="4343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9619488" y="1371600"/>
            <a:ext cx="183794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738360" y="1600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05</a:t>
            </a:r>
            <a:endParaRPr lang="en-US" sz="2600" dirty="0"/>
          </a:p>
        </p:txBody>
      </p:sp>
      <p:sp>
        <p:nvSpPr>
          <p:cNvPr id="40" name="Text 36"/>
          <p:cNvSpPr txBox="1"/>
          <p:nvPr/>
        </p:nvSpPr>
        <p:spPr>
          <a:xfrm>
            <a:off x="9738360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Vigilância em Saúde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9738360" y="2834640"/>
            <a:ext cx="1600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8"/>
                </a:solidFill>
              </a:rPr>
              <a:t>Sanitária ou ambiental, pode pedir o PSA para supervisionar e proteger a qualidade da água e a saúde pública.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9692640" y="4572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9525">
            <a:solidFill>
              <a:srgbClr val="CFE6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784080" y="4572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88"/>
                </a:solidFill>
              </a:rPr>
              <a:t>Exemplo</a:t>
            </a:r>
            <a:endParaRPr lang="en-US" sz="80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3377"/>
                </a:solidFill>
              </a:rPr>
              <a:t>Vigilância Sanitária do Estado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640080" y="585216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8"/>
                </a:solidFill>
              </a:rPr>
              <a:t>Comentário da Profª Roseane Maria Garcia Lopes de Souza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Recomendações da OMS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325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5 ETAPAS FUNDAMENTAIS PARA A SEGURANÇA DA ÁGUA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ENTIDADES RESPONSÁVEIS EM CADA ETAPA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" y="1737360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17373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1737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Objetivos baseados na proteção da saúde pública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98080" y="173736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26680" y="17373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Autoridades de Saúde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D4FF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0080" y="2651760"/>
            <a:ext cx="6035040" cy="2240280"/>
          </a:xfrm>
          <a:prstGeom prst="roundRect">
            <a:avLst>
              <a:gd name="adj" fmla="val 4082"/>
            </a:avLst>
          </a:prstGeom>
          <a:ln w="15875">
            <a:solidFill>
              <a:srgbClr val="38D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68680" y="27249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D4FF"/>
                </a:solidFill>
              </a:rPr>
              <a:t>PLANO DE SEGURANÇA DA ÁGUA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22960" y="3090672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05840" y="309067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508760" y="30906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Avaliação do sistema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22960" y="3675888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05840" y="367588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03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367588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Monitoramento operacional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22960" y="4261104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5840" y="426110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04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508760" y="426110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Planos de gestão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498080" y="2651760"/>
            <a:ext cx="4069080" cy="2240280"/>
          </a:xfrm>
          <a:prstGeom prst="roundRect">
            <a:avLst>
              <a:gd name="adj" fmla="val 3265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26680" y="265176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Entidades Gestoras de Sistemas de Abastecimento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720840" y="2651760"/>
            <a:ext cx="731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D4FF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640080" y="5074920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2960" y="50749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D4FF"/>
                </a:solidFill>
              </a:rPr>
              <a:t>05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325880" y="5074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 de vigilância independente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498080" y="507492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726680" y="50749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Entidades Reguladoras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720840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D4FF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Metodologia para o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37160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3377"/>
                </a:solidFill>
              </a:rPr>
              <a:t>Abrangência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8803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Deve abordar todos os componentes do abastecimento de água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A complexidade varia de acordo com a situação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2900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38728" y="137160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5760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3377"/>
                </a:solidFill>
              </a:rPr>
              <a:t>Objetivos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28803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Minimizar a contaminação da fonte de água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Reduzir ou eliminar a contaminação por tratamento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Evitar a contaminação no armazenamento, distribuição e manuseio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1792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27648" y="137160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4652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03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3377"/>
                </a:solidFill>
              </a:rPr>
              <a:t>Controle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8803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Pontos-chave de controle conhecidos e monitorados efetivamente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9006840" y="137160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116568" y="137160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23544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04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9235440" y="2103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3377"/>
                </a:solidFill>
              </a:rPr>
              <a:t>Não é preciso recomeçar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9235440" y="28803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Aproveitar os procedimentos existentes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88"/>
                </a:solidFill>
              </a:rPr>
              <a:t>Melhoria contínua, com experiência transparente e compartilhada com todas as partes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Requisitos para fazer o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146304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8D4FF"/>
                </a:solidFill>
              </a:rPr>
              <a:t>01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Compromisso da gestão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342900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38728" y="146304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0332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8D4FF"/>
                </a:solidFill>
              </a:rPr>
              <a:t>02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Equipe de PSA adequada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27648" y="146304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9224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8D4FF"/>
                </a:solidFill>
              </a:rPr>
              <a:t>03</a:t>
            </a:r>
            <a:endParaRPr lang="en-US" sz="48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Pessoal competente e treinado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9006840" y="14630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116568" y="1463040"/>
            <a:ext cx="2386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28116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8D4FF"/>
                </a:solidFill>
              </a:rPr>
              <a:t>04</a:t>
            </a:r>
            <a:endParaRPr lang="en-US" sz="4800" dirty="0"/>
          </a:p>
        </p:txBody>
      </p:sp>
      <p:sp>
        <p:nvSpPr>
          <p:cNvPr id="24" name="Text 20"/>
          <p:cNvSpPr txBox="1"/>
          <p:nvPr/>
        </p:nvSpPr>
        <p:spPr>
          <a:xfrm>
            <a:off x="928116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Cultura organizacional “assertiva”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Conclusões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VISÃO GERAL DO PSA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13716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3716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3377"/>
                </a:solidFill>
              </a:rPr>
              <a:t>O PSA pode ser usado como melhoria no processo de gestão.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85292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2852928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85292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3377"/>
                </a:solidFill>
              </a:rPr>
              <a:t>O fornecimento de água potável não depende da existência de um PSA. A Portaria GM/MS 888/21 já define a qualidade da água a ser distribuída.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433425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4334256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433425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3377"/>
                </a:solidFill>
              </a:rPr>
              <a:t>A complexidade de um PSA pode variar muito, e o tempo de implantação inicial depende dessa decisão.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0" y="13716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995160" y="13716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3377"/>
                </a:solidFill>
              </a:rPr>
              <a:t>O PSA se aplica de sistemas simplificados aos mais complexos: de caminhão-pipa e sistemas rurais a sistemas altamente tecnológicos.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217920" y="285292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0" y="2852928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285292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3377"/>
                </a:solidFill>
              </a:rPr>
              <a:t>O modelo se aplica a todos os sistemas, mas nem todos seriam muito impactados. Depende da fonte de água bruta e da complexidade do tratamento.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217920" y="433425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0" y="4334256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433425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3377"/>
                </a:solidFill>
              </a:rPr>
              <a:t>Autorizar o monitoramento baseado no PSA, em substituição ao padrão da Portaria GM/MS 888/21, pode induzir o desenvolvimento deste processo.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Problemas enfrentados hoje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ESCASSEZ DE ÁGUA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13716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371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3377"/>
                </a:solidFill>
              </a:rPr>
              <a:t>Necessidade de buscar água em mananciais cada vez mais distantes.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258568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225856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2585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3377"/>
                </a:solidFill>
              </a:rPr>
              <a:t>Exploração de poços.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3145536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14553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14553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3377"/>
                </a:solidFill>
              </a:rPr>
              <a:t>Mananciais degradados apresentam riscos potenciais à população que usa essa água.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080" y="4032504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03250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403250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3377"/>
                </a:solidFill>
              </a:rPr>
              <a:t>Na escassez, ou quando a água tem sabor, cor ou cheiro desagradáveis mesmo sendo potável, a população tende a buscar fontes não seguras.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40080" y="4919472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960" y="491947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D4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417320" y="49194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3377"/>
                </a:solidFill>
              </a:rPr>
              <a:t>O lançamento de efluentes domésticos e industriais compromete os recursos de água disponíveis.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Desafios e suas consequências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CENÁRIO ATUAL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6304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" y="14630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204 milhões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21945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de substâncias orgânicas e inorgânicas catalogadas (*)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2743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Os processos naturais não dão conta de atenuar tanto impacto, e muitas dessas substâncias estão à venda em mercados e farmácias.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97680" y="1371600"/>
            <a:ext cx="7269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07408" y="1371600"/>
            <a:ext cx="70500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26280" y="160020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Tratamentos mais caros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1965960"/>
            <a:ext cx="6812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Com o tempo, os tratamentos de efluentes domésticos e industriais ficam cada vez mais complexos e caros para driblar os compostos químicos gerados todos os dias.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297680" y="2852928"/>
            <a:ext cx="7269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07408" y="2852928"/>
            <a:ext cx="70500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26280" y="3081528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Novas exigências legais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526280" y="3447288"/>
            <a:ext cx="6812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Fica difícil atender às novas exigências no tratamento de água, da execução dos monitoramentos exigidos à qualidade dos mananciais.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297680" y="4334256"/>
            <a:ext cx="7269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07408" y="4334256"/>
            <a:ext cx="70500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26280" y="4562856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Mananciais contaminados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4526280" y="4928616"/>
            <a:ext cx="6812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Agrotóxicos e substâncias industriais chegam aos mananciais, e a fiscalização esbarra nas dificuldades dos órgãos competentes.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594360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FE6FF"/>
                </a:solidFill>
              </a:rPr>
              <a:t>(*) Fonte: CAS Registry · www.cas.org/cas-data/cas-registry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Desafios do PSA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PRINCIPAIS DESAFIOS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3716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Apoio da liderança, que é fundamental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34340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53128" y="13716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Equipe treinada, qualificada e com tempo disponível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56448" y="13716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7532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27532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Comunicação eficaz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40080" y="28803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49808" y="288036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6868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86868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Metas e prazos que a equipe realmente consiga cumprir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4343400" y="28803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453128" y="288036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57200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Identificar todos os principais perigos e riscos, com justificativas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8046720" y="28803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156448" y="288036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27532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827532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Incerteza ou inconsistência na avaliação de risco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40080" y="4389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49808" y="43891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68680" y="4617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07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86868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Limites críticos que protejam a operação e mantenham a potabilidade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4343400" y="4389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453128" y="43891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72000" y="4617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08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Montar e concluir os planos de ação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8046720" y="4389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8156448" y="43891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275320" y="4617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4FF"/>
                </a:solidFill>
              </a:rPr>
              <a:t>09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827532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8"/>
                </a:solidFill>
              </a:rPr>
              <a:t>Assegurar recursos financeiros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8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0A3377"/>
                </a:solidFill>
              </a:rPr>
              <a:t>Obrigada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Engª Rosângela Cássia Martins de Carvalho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A3377"/>
                </a:solidFill>
              </a:rPr>
              <a:t>E-mail: rosangela.sabesp@hotmail.com · WhatsApp: (11) 99935-7764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Plano de Segurança da Água · Curso PSA · CRQ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9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6382512"/>
            <a:ext cx="610819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Curso PSA · CRQ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ão Performance">
  <a:themeElements>
    <a:clrScheme name="Gestão Performance">
      <a:dk1>
        <a:srgbClr val="05204E"/>
      </a:dk1>
      <a:lt1>
        <a:srgbClr val="FFFFFF"/>
      </a:lt1>
      <a:dk2>
        <a:srgbClr val="0A3377"/>
      </a:dk2>
      <a:lt2>
        <a:srgbClr val="F3F6FB"/>
      </a:lt2>
      <a:accent1>
        <a:srgbClr val="38D4FF"/>
      </a:accent1>
      <a:accent2>
        <a:srgbClr val="0A3377"/>
      </a:accent2>
      <a:accent3>
        <a:srgbClr val="0E3F8C"/>
      </a:accent3>
      <a:accent4>
        <a:srgbClr val="5B6B88"/>
      </a:accent4>
      <a:accent5>
        <a:srgbClr val="CFE6FF"/>
      </a:accent5>
      <a:accent6>
        <a:srgbClr val="C9D6EA"/>
      </a:accent6>
      <a:hlink>
        <a:srgbClr val="0563C1"/>
      </a:hlink>
      <a:folHlink>
        <a:srgbClr val="954F72"/>
      </a:folHlink>
    </a:clrScheme>
    <a:fontScheme name="Gestão Performa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Norte Sul Hidrotecnologia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2026-10-17T12:47:09Z</dcterms:created>
  <dcterms:modified xsi:type="dcterms:W3CDTF">2026-10-17T12:47:09Z</dcterms:modified>
</cp:coreProperties>
</file>